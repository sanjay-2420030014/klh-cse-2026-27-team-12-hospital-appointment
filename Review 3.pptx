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702" r:id="rId2"/>
  </p:sldMasterIdLst>
  <p:notesMasterIdLst>
    <p:notesMasterId r:id="rId22"/>
  </p:notesMasterIdLst>
  <p:sldIdLst>
    <p:sldId id="256" r:id="rId3"/>
    <p:sldId id="259" r:id="rId4"/>
    <p:sldId id="257" r:id="rId5"/>
    <p:sldId id="266" r:id="rId6"/>
    <p:sldId id="261" r:id="rId7"/>
    <p:sldId id="262" r:id="rId8"/>
    <p:sldId id="263" r:id="rId9"/>
    <p:sldId id="272" r:id="rId10"/>
    <p:sldId id="273" r:id="rId11"/>
    <p:sldId id="274" r:id="rId12"/>
    <p:sldId id="275" r:id="rId13"/>
    <p:sldId id="276" r:id="rId14"/>
    <p:sldId id="264" r:id="rId15"/>
    <p:sldId id="265" r:id="rId16"/>
    <p:sldId id="267" r:id="rId17"/>
    <p:sldId id="268" r:id="rId18"/>
    <p:sldId id="277" r:id="rId19"/>
    <p:sldId id="278" r:id="rId20"/>
    <p:sldId id="26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94660"/>
  </p:normalViewPr>
  <p:slideViewPr>
    <p:cSldViewPr snapToGrid="0">
      <p:cViewPr varScale="1">
        <p:scale>
          <a:sx n="81" d="100"/>
          <a:sy n="81" d="100"/>
        </p:scale>
        <p:origin x="47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y bhaargav" userId="e8e84840154ce765" providerId="LiveId" clId="{FA00A53D-0D7A-40C6-A7E6-9596BBF7529A}"/>
    <pc:docChg chg="delSld modSld">
      <pc:chgData name="sanjay bhaargav" userId="e8e84840154ce765" providerId="LiveId" clId="{FA00A53D-0D7A-40C6-A7E6-9596BBF7529A}" dt="2026-09-17T07:47:07.967" v="15" actId="2696"/>
      <pc:docMkLst>
        <pc:docMk/>
      </pc:docMkLst>
      <pc:sldChg chg="modSp mod">
        <pc:chgData name="sanjay bhaargav" userId="e8e84840154ce765" providerId="LiveId" clId="{FA00A53D-0D7A-40C6-A7E6-9596BBF7529A}" dt="2026-09-17T07:45:37.888" v="4" actId="404"/>
        <pc:sldMkLst>
          <pc:docMk/>
          <pc:sldMk cId="989871012" sldId="261"/>
        </pc:sldMkLst>
        <pc:spChg chg="mod">
          <ac:chgData name="sanjay bhaargav" userId="e8e84840154ce765" providerId="LiveId" clId="{FA00A53D-0D7A-40C6-A7E6-9596BBF7529A}" dt="2026-09-17T07:45:37.888" v="4" actId="404"/>
          <ac:spMkLst>
            <pc:docMk/>
            <pc:sldMk cId="989871012" sldId="261"/>
            <ac:spMk id="2" creationId="{B4492E42-7EA8-E8D1-D175-ABDC9201B079}"/>
          </ac:spMkLst>
        </pc:spChg>
      </pc:sldChg>
      <pc:sldChg chg="modSp mod">
        <pc:chgData name="sanjay bhaargav" userId="e8e84840154ce765" providerId="LiveId" clId="{FA00A53D-0D7A-40C6-A7E6-9596BBF7529A}" dt="2026-09-17T07:45:30.624" v="3" actId="255"/>
        <pc:sldMkLst>
          <pc:docMk/>
          <pc:sldMk cId="1245516540" sldId="266"/>
        </pc:sldMkLst>
        <pc:spChg chg="mod">
          <ac:chgData name="sanjay bhaargav" userId="e8e84840154ce765" providerId="LiveId" clId="{FA00A53D-0D7A-40C6-A7E6-9596BBF7529A}" dt="2026-09-17T07:45:30.624" v="3" actId="255"/>
          <ac:spMkLst>
            <pc:docMk/>
            <pc:sldMk cId="1245516540" sldId="266"/>
            <ac:spMk id="2" creationId="{D94F9F2D-BDA4-8D8E-226C-627944DDFA1C}"/>
          </ac:spMkLst>
        </pc:spChg>
      </pc:sldChg>
      <pc:sldChg chg="del">
        <pc:chgData name="sanjay bhaargav" userId="e8e84840154ce765" providerId="LiveId" clId="{FA00A53D-0D7A-40C6-A7E6-9596BBF7529A}" dt="2026-09-17T07:47:07.967" v="15" actId="2696"/>
        <pc:sldMkLst>
          <pc:docMk/>
          <pc:sldMk cId="989871012" sldId="269"/>
        </pc:sldMkLst>
      </pc:sldChg>
      <pc:sldChg chg="del">
        <pc:chgData name="sanjay bhaargav" userId="e8e84840154ce765" providerId="LiveId" clId="{FA00A53D-0D7A-40C6-A7E6-9596BBF7529A}" dt="2026-09-17T07:46:55.002" v="14" actId="2696"/>
        <pc:sldMkLst>
          <pc:docMk/>
          <pc:sldMk cId="989871012" sldId="270"/>
        </pc:sldMkLst>
      </pc:sldChg>
      <pc:sldChg chg="del">
        <pc:chgData name="sanjay bhaargav" userId="e8e84840154ce765" providerId="LiveId" clId="{FA00A53D-0D7A-40C6-A7E6-9596BBF7529A}" dt="2026-09-17T07:46:49.944" v="13" actId="2696"/>
        <pc:sldMkLst>
          <pc:docMk/>
          <pc:sldMk cId="989871012" sldId="271"/>
        </pc:sldMkLst>
      </pc:sldChg>
      <pc:sldChg chg="modSp mod">
        <pc:chgData name="sanjay bhaargav" userId="e8e84840154ce765" providerId="LiveId" clId="{FA00A53D-0D7A-40C6-A7E6-9596BBF7529A}" dt="2026-09-17T07:46:04.775" v="6" actId="255"/>
        <pc:sldMkLst>
          <pc:docMk/>
          <pc:sldMk cId="1245516540" sldId="272"/>
        </pc:sldMkLst>
        <pc:spChg chg="mod">
          <ac:chgData name="sanjay bhaargav" userId="e8e84840154ce765" providerId="LiveId" clId="{FA00A53D-0D7A-40C6-A7E6-9596BBF7529A}" dt="2026-09-17T07:46:04.775" v="6" actId="255"/>
          <ac:spMkLst>
            <pc:docMk/>
            <pc:sldMk cId="1245516540" sldId="272"/>
            <ac:spMk id="2" creationId="{D94F9F2D-BDA4-8D8E-226C-627944DDFA1C}"/>
          </ac:spMkLst>
        </pc:spChg>
      </pc:sldChg>
      <pc:sldChg chg="modSp mod">
        <pc:chgData name="sanjay bhaargav" userId="e8e84840154ce765" providerId="LiveId" clId="{FA00A53D-0D7A-40C6-A7E6-9596BBF7529A}" dt="2026-09-17T07:46:18.627" v="8" actId="255"/>
        <pc:sldMkLst>
          <pc:docMk/>
          <pc:sldMk cId="1245516540" sldId="273"/>
        </pc:sldMkLst>
        <pc:spChg chg="mod">
          <ac:chgData name="sanjay bhaargav" userId="e8e84840154ce765" providerId="LiveId" clId="{FA00A53D-0D7A-40C6-A7E6-9596BBF7529A}" dt="2026-09-17T07:46:18.627" v="8" actId="255"/>
          <ac:spMkLst>
            <pc:docMk/>
            <pc:sldMk cId="1245516540" sldId="273"/>
            <ac:spMk id="2" creationId="{D94F9F2D-BDA4-8D8E-226C-627944DDFA1C}"/>
          </ac:spMkLst>
        </pc:spChg>
      </pc:sldChg>
      <pc:sldChg chg="modSp mod">
        <pc:chgData name="sanjay bhaargav" userId="e8e84840154ce765" providerId="LiveId" clId="{FA00A53D-0D7A-40C6-A7E6-9596BBF7529A}" dt="2026-09-17T07:46:29.768" v="10" actId="255"/>
        <pc:sldMkLst>
          <pc:docMk/>
          <pc:sldMk cId="1245516540" sldId="274"/>
        </pc:sldMkLst>
        <pc:spChg chg="mod">
          <ac:chgData name="sanjay bhaargav" userId="e8e84840154ce765" providerId="LiveId" clId="{FA00A53D-0D7A-40C6-A7E6-9596BBF7529A}" dt="2026-09-17T07:46:29.768" v="10" actId="255"/>
          <ac:spMkLst>
            <pc:docMk/>
            <pc:sldMk cId="1245516540" sldId="274"/>
            <ac:spMk id="2" creationId="{D94F9F2D-BDA4-8D8E-226C-627944DDFA1C}"/>
          </ac:spMkLst>
        </pc:spChg>
      </pc:sldChg>
      <pc:sldChg chg="modSp mod">
        <pc:chgData name="sanjay bhaargav" userId="e8e84840154ce765" providerId="LiveId" clId="{FA00A53D-0D7A-40C6-A7E6-9596BBF7529A}" dt="2026-09-17T07:46:40.741" v="12" actId="255"/>
        <pc:sldMkLst>
          <pc:docMk/>
          <pc:sldMk cId="1245516540" sldId="275"/>
        </pc:sldMkLst>
        <pc:spChg chg="mod">
          <ac:chgData name="sanjay bhaargav" userId="e8e84840154ce765" providerId="LiveId" clId="{FA00A53D-0D7A-40C6-A7E6-9596BBF7529A}" dt="2026-09-17T07:46:40.741" v="12" actId="255"/>
          <ac:spMkLst>
            <pc:docMk/>
            <pc:sldMk cId="1245516540" sldId="275"/>
            <ac:spMk id="2" creationId="{D94F9F2D-BDA4-8D8E-226C-627944DDFA1C}"/>
          </ac:spMkLst>
        </pc:spChg>
      </pc:sldChg>
    </pc:docChg>
  </pc:docChgLst>
  <pc:docChgLst>
    <pc:chgData name="2110030242 Ananya" userId="50fcf2389d656781" providerId="LiveId" clId="{CBF0972F-2ACF-47F5-B678-92543E83982F}"/>
    <pc:docChg chg="undo custSel addSld delSld modSld">
      <pc:chgData name="2110030242 Ananya" userId="50fcf2389d656781" providerId="LiveId" clId="{CBF0972F-2ACF-47F5-B678-92543E83982F}" dt="2026-08-24T09:05:06.757" v="498" actId="1076"/>
      <pc:docMkLst>
        <pc:docMk/>
      </pc:docMkLst>
      <pc:sldChg chg="addSp modSp new mod">
        <pc:chgData name="2110030242 Ananya" userId="50fcf2389d656781" providerId="LiveId" clId="{CBF0972F-2ACF-47F5-B678-92543E83982F}" dt="2026-08-24T08:45:31.429" v="424" actId="123"/>
        <pc:sldMkLst>
          <pc:docMk/>
          <pc:sldMk cId="1556977460" sldId="262"/>
        </pc:sldMkLst>
      </pc:sldChg>
      <pc:sldChg chg="addSp modSp new mod">
        <pc:chgData name="2110030242 Ananya" userId="50fcf2389d656781" providerId="LiveId" clId="{CBF0972F-2ACF-47F5-B678-92543E83982F}" dt="2026-08-24T08:45:48.326" v="427" actId="123"/>
        <pc:sldMkLst>
          <pc:docMk/>
          <pc:sldMk cId="1931128913" sldId="263"/>
        </pc:sldMkLst>
      </pc:sldChg>
      <pc:sldChg chg="addSp modSp new mod">
        <pc:chgData name="2110030242 Ananya" userId="50fcf2389d656781" providerId="LiveId" clId="{CBF0972F-2ACF-47F5-B678-92543E83982F}" dt="2026-08-24T09:05:06.757" v="498" actId="1076"/>
        <pc:sldMkLst>
          <pc:docMk/>
          <pc:sldMk cId="1245516540" sldId="264"/>
        </pc:sldMkLst>
        <pc:spChg chg="add mod">
          <ac:chgData name="2110030242 Ananya" userId="50fcf2389d656781" providerId="LiveId" clId="{CBF0972F-2ACF-47F5-B678-92543E83982F}" dt="2026-08-24T09:04:30.289" v="492" actId="1076"/>
          <ac:spMkLst>
            <pc:docMk/>
            <pc:sldMk cId="1245516540" sldId="264"/>
            <ac:spMk id="2" creationId="{D94F9F2D-BDA4-8D8E-226C-627944DDFA1C}"/>
          </ac:spMkLst>
        </pc:spChg>
        <pc:spChg chg="add mod">
          <ac:chgData name="2110030242 Ananya" userId="50fcf2389d656781" providerId="LiveId" clId="{CBF0972F-2ACF-47F5-B678-92543E83982F}" dt="2026-08-24T09:05:06.757" v="498" actId="1076"/>
          <ac:spMkLst>
            <pc:docMk/>
            <pc:sldMk cId="1245516540" sldId="264"/>
            <ac:spMk id="3" creationId="{57318D77-E13B-9C50-C10D-B5831FF5D4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9AAAE-C9C6-43A8-992C-C94AED90C3A7}" type="datetimeFigureOut">
              <a:rPr lang="en-IN" smtClean="0"/>
              <a:t>18-09-2026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26D45-EE60-476C-B65B-4CC468AC9F5E}" type="slidenum">
              <a:rPr lang="en-IN" smtClean="0"/>
              <a:t>‹#›</a:t>
            </a:fld>
            <a:endParaRPr lang="en-IN"/>
          </a:p>
        </p:txBody>
      </p:sp>
    </p:spTree>
    <p:extLst>
      <p:ext uri="{BB962C8B-B14F-4D97-AF65-F5344CB8AC3E}">
        <p14:creationId xmlns:p14="http://schemas.microsoft.com/office/powerpoint/2010/main" val="293394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26D45-EE60-476C-B65B-4CC468AC9F5E}" type="slidenum">
              <a:rPr lang="en-IN" smtClean="0"/>
              <a:t>3</a:t>
            </a:fld>
            <a:endParaRPr lang="en-IN"/>
          </a:p>
        </p:txBody>
      </p:sp>
    </p:spTree>
    <p:extLst>
      <p:ext uri="{BB962C8B-B14F-4D97-AF65-F5344CB8AC3E}">
        <p14:creationId xmlns:p14="http://schemas.microsoft.com/office/powerpoint/2010/main" val="2475487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D3DEE-0E83-BCE7-AE4F-AF35DC863A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4CFE2F-0D83-7EE9-763B-5761BEB35C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F4D228-4113-D561-2307-5557FE95500A}"/>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B790C51E-BE07-F618-585A-EECD8A2960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C655EA-7B94-66E5-D599-6916EE6AF4E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59822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AADA-9C14-C7C4-B801-33305EF180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5DAFD8-4777-4190-5E7B-41633725B5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226A00-20B6-A29A-2DB7-170C865924F9}"/>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839175BD-4837-FE36-717D-D568384E9C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22D12-963D-2917-7B22-2D1DA80C3A85}"/>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195305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4158-8985-ECD8-83D4-A858375D01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CC3CC6-7A26-F323-2195-4B4CA1915B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C1C696-B35B-C1BC-71A1-34964560D8CC}"/>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4D4324E2-1A70-84AB-6F4C-C62DBA768E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EBA36-1C2A-C67C-6012-FFDF3C6DCD9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78099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C506-4477-DED5-986E-F2BA5226B7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8ABB09-05E3-46BB-26A3-ED46677C0F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E8F490-3593-59C5-71D0-959A4DE883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4DF412-7CEE-F590-A1BA-3F2893F78062}"/>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20CD5077-D4FD-9420-FF6F-E4A0618D5D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AF282-27A9-02F0-87F9-368284792CD2}"/>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52297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F54C-D5B5-7530-3690-F9EE4A9B3D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E42DF2-21DE-FB18-7DDB-C1857DEBED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1F8F8-978D-F2C2-19CC-F1EB8B128A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D6082C-8143-11A9-6A6A-8D3B53687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9EE8FF-510D-DADA-738D-BD7669FFED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197BA2-0D7F-7B1E-A375-339D409724B7}"/>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272D005A-3103-68B9-B10F-A30DF35E66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041531-E1BD-D64B-A37C-0F181DD8FFB1}"/>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389676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5690-AA0F-4909-069C-F1D08778F6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3FD268-FAED-D321-C81C-EFB02DEC71EA}"/>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BFCECCE5-34F5-34FA-B1AF-9F11165F7E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16559B-31D9-1D1C-EA52-DD1B5F55CCA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277322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2CCE5-30EF-2585-F31A-24A56E3C0C42}"/>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3" name="Footer Placeholder 2">
            <a:extLst>
              <a:ext uri="{FF2B5EF4-FFF2-40B4-BE49-F238E27FC236}">
                <a16:creationId xmlns:a16="http://schemas.microsoft.com/office/drawing/2014/main" id="{0DDC8AAD-D9CC-C562-88EE-6CFA34B4E5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4E97D0-95E7-D2CD-E5FD-0AF13C980149}"/>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84667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E8E8-F5B1-4812-6477-5EC95B971D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9DE7F2-86E6-13E8-C87D-CADAB395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844E69-7795-8DC2-EE6F-020553079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EFB27-5E81-0328-3C05-9E00CC48EAD3}"/>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ADBBA751-B28E-5C33-9CF7-9FA972A94E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67CE7B-A108-53D7-7762-C5E387B59F3F}"/>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327244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2C8C-F106-CD23-AC93-9FD87A11B3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8BEFF9-31AF-FAF9-159E-FA9A3A586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998EA3-448E-9D6A-2C69-80ACF8B90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D9D0A-35B4-9CC6-484D-C4201CC3FA60}"/>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A640E2C9-87A1-3352-A9EA-4C72A2A2D3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BC8EB1-F656-BF46-5D18-0AA3DFE9B91A}"/>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04622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945D-1E42-9BAE-4180-DB8F7E48F7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F4AB17-5539-DBD1-5396-19B49C7C4D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C553A5-C76C-995B-DEAD-8B36E35D1CE2}"/>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F565BB52-6D7F-32E3-4403-30EEDAA87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D16AD3-1F8C-5357-137F-CAAB2FDCC30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900212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6E1C27-9924-06F4-1485-A34556B851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F9BAF9-81AD-C78A-A874-B9EF727970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68C9D-9218-5630-A22B-395490947D8D}"/>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5EC7772B-3792-4DE7-E15C-BEC8A3238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996D09-2C7E-FD29-2BD2-AA74D1E7C2E4}"/>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850159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IN"/>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98651317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568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18816168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IN"/>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C350999E-6DD2-4581-9D5E-2340E3133505}" type="slidenum">
              <a:rPr lang="en-IN" smtClean="0"/>
              <a:t>‹#›</a:t>
            </a:fld>
            <a:endParaRPr lang="en-IN"/>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87606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IN"/>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875832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IN"/>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04452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IN"/>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461034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7161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IN"/>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2299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IN"/>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2644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C350999E-6DD2-4581-9D5E-2340E3133505}" type="slidenum">
              <a:rPr lang="en-IN" smtClean="0"/>
              <a:t>‹#›</a:t>
            </a:fld>
            <a:endParaRPr lang="en-IN"/>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8954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0ACF763B-263D-409D-A453-2B5282B351C8}" type="datetimeFigureOut">
              <a:rPr lang="en-IN" smtClean="0"/>
              <a:t>18-09-2026</a:t>
            </a:fld>
            <a:endParaRPr lang="en-IN"/>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IN"/>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4335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12940486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0ACF763B-263D-409D-A453-2B5282B351C8}" type="datetimeFigureOut">
              <a:rPr lang="en-IN" smtClean="0"/>
              <a:t>18-09-2026</a:t>
            </a:fld>
            <a:endParaRPr lang="en-IN"/>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IN"/>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1707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IN"/>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70262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0ACF763B-263D-409D-A453-2B5282B351C8}" type="datetimeFigureOut">
              <a:rPr lang="en-IN" smtClean="0"/>
              <a:t>18-09-2026</a:t>
            </a:fld>
            <a:endParaRPr lang="en-IN"/>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IN"/>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C350999E-6DD2-4581-9D5E-2340E3133505}" type="slidenum">
              <a:rPr lang="en-IN" smtClean="0"/>
              <a:t>‹#›</a:t>
            </a:fld>
            <a:endParaRPr lang="en-IN"/>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460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16805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7281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IN"/>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2198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06826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64907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350999E-6DD2-4581-9D5E-2340E3133505}" type="slidenum">
              <a:rPr lang="en-IN" smtClean="0"/>
              <a:t>‹#›</a:t>
            </a:fld>
            <a:endParaRPr lang="en-IN"/>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90265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IN"/>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26493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IN"/>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0199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0ACF763B-263D-409D-A453-2B5282B351C8}" type="datetimeFigureOut">
              <a:rPr lang="en-IN" smtClean="0"/>
              <a:t>18-09-2026</a:t>
            </a:fld>
            <a:endParaRPr lang="en-IN"/>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IN"/>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C350999E-6DD2-4581-9D5E-2340E3133505}"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54683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31820691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861878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DA5D93-A4EB-6CDD-6D8B-EE8351753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B0AB6-215E-353E-C1E7-7ED82277A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9099B6-DC47-BB65-8FD7-BF0FB8A4A7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07EDC906-742E-E0BB-47CF-BEED6D2242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B4817D-9704-957A-C3F8-F82FFFB081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0999E-6DD2-4581-9D5E-2340E3133505}" type="slidenum">
              <a:rPr lang="en-IN" smtClean="0"/>
              <a:t>‹#›</a:t>
            </a:fld>
            <a:endParaRPr lang="en-IN"/>
          </a:p>
        </p:txBody>
      </p:sp>
    </p:spTree>
    <p:extLst>
      <p:ext uri="{BB962C8B-B14F-4D97-AF65-F5344CB8AC3E}">
        <p14:creationId xmlns:p14="http://schemas.microsoft.com/office/powerpoint/2010/main" val="53540036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350999E-6DD2-4581-9D5E-2340E3133505}" type="slidenum">
              <a:rPr lang="en-IN" smtClean="0"/>
              <a:t>‹#›</a:t>
            </a:fld>
            <a:endParaRPr lang="en-IN"/>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376378"/>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16/j.amjmed.2009.11.022" TargetMode="External"/><Relationship Id="rId2" Type="http://schemas.openxmlformats.org/officeDocument/2006/relationships/hyperlink" Target="https://doi.org/10.1111/j.1937-5956.2003.tb00218.x" TargetMode="External"/><Relationship Id="rId1" Type="http://schemas.openxmlformats.org/officeDocument/2006/relationships/slideLayout" Target="../slideLayouts/slideLayout7.xml"/><Relationship Id="rId6" Type="http://schemas.openxmlformats.org/officeDocument/2006/relationships/hyperlink" Target="https://doi.org/10.1016/j.healthpol.2018.02.002" TargetMode="External"/><Relationship Id="rId5" Type="http://schemas.openxmlformats.org/officeDocument/2006/relationships/hyperlink" Target="https://doi.org/10.1016/j.ejor.2016.06.064" TargetMode="External"/><Relationship Id="rId4" Type="http://schemas.openxmlformats.org/officeDocument/2006/relationships/hyperlink" Target="https://doi.org/10.1136/amiajnl-2011-000681"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3063/2327-9214.1244" TargetMode="External"/><Relationship Id="rId2" Type="http://schemas.openxmlformats.org/officeDocument/2006/relationships/hyperlink" Target="https://doi.org/10.3390/e22060675" TargetMode="External"/><Relationship Id="rId1" Type="http://schemas.openxmlformats.org/officeDocument/2006/relationships/slideLayout" Target="../slideLayouts/slideLayout7.xml"/><Relationship Id="rId6" Type="http://schemas.openxmlformats.org/officeDocument/2006/relationships/hyperlink" Target="https://doi.org/10.1016/j.ibmed.2025.100229" TargetMode="External"/><Relationship Id="rId5" Type="http://schemas.openxmlformats.org/officeDocument/2006/relationships/hyperlink" Target="https://doi.org/10.3390/info13110507" TargetMode="External"/><Relationship Id="rId4" Type="http://schemas.openxmlformats.org/officeDocument/2006/relationships/hyperlink" Target="https://doi.org/10.3233/SHTI22097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C44D-07F6-2139-4825-B0704A79E5BC}"/>
              </a:ext>
            </a:extLst>
          </p:cNvPr>
          <p:cNvSpPr>
            <a:spLocks noGrp="1"/>
          </p:cNvSpPr>
          <p:nvPr>
            <p:ph type="ctrTitle"/>
          </p:nvPr>
        </p:nvSpPr>
        <p:spPr>
          <a:xfrm>
            <a:off x="2487561" y="847980"/>
            <a:ext cx="7957457" cy="772885"/>
          </a:xfrm>
        </p:spPr>
        <p:txBody>
          <a:bodyPr>
            <a:normAutofit fontScale="90000"/>
          </a:bodyPr>
          <a:lstStyle/>
          <a:p>
            <a:r>
              <a:rPr b="1" dirty="0">
                <a:solidFill>
                  <a:schemeClr val="accent1">
                    <a:lumMod val="50000"/>
                  </a:schemeClr>
                </a:solidFill>
                <a:latin typeface="Times New Roman" panose="02020603050405020304" pitchFamily="18" charset="0"/>
                <a:cs typeface="Times New Roman" panose="02020603050405020304" pitchFamily="18" charset="0"/>
              </a:rPr>
              <a:t>Hospital Appointment Data Pipeline</a:t>
            </a:r>
          </a:p>
        </p:txBody>
      </p:sp>
      <p:sp>
        <p:nvSpPr>
          <p:cNvPr id="3" name="Subtitle 2">
            <a:extLst>
              <a:ext uri="{FF2B5EF4-FFF2-40B4-BE49-F238E27FC236}">
                <a16:creationId xmlns:a16="http://schemas.microsoft.com/office/drawing/2014/main" id="{7F2CB2C9-E71C-2C95-7A04-0F332A646EF7}"/>
              </a:ext>
            </a:extLst>
          </p:cNvPr>
          <p:cNvSpPr>
            <a:spLocks noGrp="1"/>
          </p:cNvSpPr>
          <p:nvPr>
            <p:ph type="subTitle" idx="1"/>
          </p:nvPr>
        </p:nvSpPr>
        <p:spPr>
          <a:xfrm>
            <a:off x="1900873" y="1734841"/>
            <a:ext cx="8390253" cy="437010"/>
          </a:xfrm>
        </p:spPr>
        <p:txBody>
          <a:bodyPr>
            <a:normAutofit/>
          </a:bodyPr>
          <a:lstStyle/>
          <a:p>
            <a:r>
              <a:rPr b="1" dirty="0"/>
              <a:t>Team No. :- 12</a:t>
            </a:r>
          </a:p>
        </p:txBody>
      </p:sp>
      <p:sp>
        <p:nvSpPr>
          <p:cNvPr id="4" name="Subtitle 2">
            <a:extLst>
              <a:ext uri="{FF2B5EF4-FFF2-40B4-BE49-F238E27FC236}">
                <a16:creationId xmlns:a16="http://schemas.microsoft.com/office/drawing/2014/main" id="{77EFDB6A-63BF-5E0F-38DD-188908F2256C}"/>
              </a:ext>
            </a:extLst>
          </p:cNvPr>
          <p:cNvSpPr txBox="1">
            <a:spLocks/>
          </p:cNvSpPr>
          <p:nvPr/>
        </p:nvSpPr>
        <p:spPr>
          <a:xfrm>
            <a:off x="2045109" y="2357444"/>
            <a:ext cx="7620001" cy="30416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800" dirty="0">
                <a:latin typeface="Times New Roman" panose="02020603050405020304" pitchFamily="18" charset="0"/>
                <a:cs typeface="Times New Roman" panose="02020603050405020304" pitchFamily="18" charset="0"/>
              </a:rPr>
              <a:t>  2420030014   :-    V.Sanjay Bhaargav</a:t>
            </a:r>
          </a:p>
          <a:p>
            <a:r>
              <a:rPr lang="en-IN" sz="2800" dirty="0">
                <a:latin typeface="Times New Roman" panose="02020603050405020304" pitchFamily="18" charset="0"/>
                <a:cs typeface="Times New Roman" panose="02020603050405020304" pitchFamily="18" charset="0"/>
              </a:rPr>
              <a:t>2420030368     :- P.Rahul  </a:t>
            </a:r>
          </a:p>
          <a:p>
            <a:r>
              <a:rPr lang="en-IN"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2420030573  </a:t>
            </a:r>
            <a:r>
              <a:rPr lang="en-IN" sz="2800" dirty="0">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t>
            </a:r>
            <a:r>
              <a:rPr sz="2800" dirty="0">
                <a:latin typeface="Times New Roman" panose="02020603050405020304" pitchFamily="18" charset="0"/>
                <a:cs typeface="Times New Roman" panose="02020603050405020304" pitchFamily="18" charset="0"/>
              </a:rPr>
              <a:t>Aasrith</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Under the Guidance of :-</a:t>
            </a:r>
          </a:p>
          <a:p>
            <a:r>
              <a:rPr lang="en-IN" sz="2800" b="1" dirty="0">
                <a:solidFill>
                  <a:srgbClr val="FF0000"/>
                </a:solidFill>
                <a:latin typeface="Times New Roman" panose="02020603050405020304" pitchFamily="18" charset="0"/>
                <a:cs typeface="Times New Roman" panose="02020603050405020304" pitchFamily="18" charset="0"/>
              </a:rPr>
              <a:t>Dr.N.Shirisha,</a:t>
            </a:r>
            <a:r>
              <a:rPr lang="en-IN" b="1" dirty="0">
                <a:solidFill>
                  <a:srgbClr val="FF0000"/>
                </a:solidFill>
                <a:latin typeface="Times New Roman" panose="02020603050405020304" pitchFamily="18" charset="0"/>
                <a:cs typeface="Times New Roman" panose="02020603050405020304" pitchFamily="18" charset="0"/>
              </a:rPr>
              <a:t>Associate Professor</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129AF124-1DAD-7C95-8D54-3CA1A9A36AF2}"/>
              </a:ext>
            </a:extLst>
          </p:cNvPr>
          <p:cNvSpPr txBox="1">
            <a:spLocks/>
          </p:cNvSpPr>
          <p:nvPr/>
        </p:nvSpPr>
        <p:spPr>
          <a:xfrm>
            <a:off x="1235831" y="5399122"/>
            <a:ext cx="9671782" cy="5945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3200" dirty="0">
                <a:solidFill>
                  <a:schemeClr val="accent6"/>
                </a:solidFill>
                <a:latin typeface="Times New Roman" panose="02020603050405020304" pitchFamily="18" charset="0"/>
                <a:cs typeface="Times New Roman" panose="02020603050405020304" pitchFamily="18" charset="0"/>
              </a:rPr>
              <a:t>Department of Computer Science</a:t>
            </a:r>
          </a:p>
        </p:txBody>
      </p:sp>
      <p:pic>
        <p:nvPicPr>
          <p:cNvPr id="9" name="Picture 8">
            <a:extLst>
              <a:ext uri="{FF2B5EF4-FFF2-40B4-BE49-F238E27FC236}">
                <a16:creationId xmlns:a16="http://schemas.microsoft.com/office/drawing/2014/main" id="{4A7AED1E-C953-B10C-3AD9-5B430858FFCE}"/>
              </a:ext>
            </a:extLst>
          </p:cNvPr>
          <p:cNvPicPr>
            <a:picLocks noChangeAspect="1"/>
          </p:cNvPicPr>
          <p:nvPr/>
        </p:nvPicPr>
        <p:blipFill>
          <a:blip r:embed="rId2"/>
          <a:stretch>
            <a:fillRect/>
          </a:stretch>
        </p:blipFill>
        <p:spPr>
          <a:xfrm>
            <a:off x="4935794" y="5806626"/>
            <a:ext cx="2570023" cy="1051373"/>
          </a:xfrm>
          <a:prstGeom prst="rect">
            <a:avLst/>
          </a:prstGeom>
        </p:spPr>
      </p:pic>
      <p:pic>
        <p:nvPicPr>
          <p:cNvPr id="11" name="Picture 10">
            <a:extLst>
              <a:ext uri="{FF2B5EF4-FFF2-40B4-BE49-F238E27FC236}">
                <a16:creationId xmlns:a16="http://schemas.microsoft.com/office/drawing/2014/main" id="{215E5FD0-FF73-A7C7-3A35-57160C650B3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238361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60BCF-E5E6-1DA2-F4EC-59CC25006718}"/>
              </a:ext>
            </a:extLst>
          </p:cNvPr>
          <p:cNvSpPr>
            <a:spLocks noGrp="1"/>
          </p:cNvSpPr>
          <p:nvPr>
            <p:ph type="title"/>
          </p:nvPr>
        </p:nvSpPr>
        <p:spPr>
          <a:xfrm>
            <a:off x="4422058" y="155839"/>
            <a:ext cx="3347884" cy="963138"/>
          </a:xfrm>
        </p:spPr>
        <p:txBody>
          <a:bodyPr>
            <a:normAutofit fontScale="90000"/>
          </a:bodyPr>
          <a:lstStyle/>
          <a:p>
            <a:r>
              <a:rPr lang="en-IN" sz="8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AAE00DE-3424-5000-0596-04CB75C97CD1}"/>
              </a:ext>
            </a:extLst>
          </p:cNvPr>
          <p:cNvSpPr>
            <a:spLocks noGrp="1"/>
          </p:cNvSpPr>
          <p:nvPr>
            <p:ph idx="1"/>
          </p:nvPr>
        </p:nvSpPr>
        <p:spPr>
          <a:xfrm>
            <a:off x="486659" y="1565085"/>
            <a:ext cx="11218682" cy="4471922"/>
          </a:xfrm>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Hospital Appointment Data Pipeline</a:t>
            </a:r>
            <a:r>
              <a:rPr lang="en-IN" sz="2400" dirty="0">
                <a:latin typeface="Times New Roman" panose="02020603050405020304" pitchFamily="18" charset="0"/>
                <a:cs typeface="Times New Roman" panose="02020603050405020304" pitchFamily="18" charset="0"/>
              </a:rPr>
              <a:t> is a data-driven solution designed to organize, process, and analyse hospital appointment records. The system collects appointment data from structured sources such as </a:t>
            </a:r>
            <a:r>
              <a:rPr lang="en-IN" sz="2400" b="1" dirty="0">
                <a:latin typeface="Times New Roman" panose="02020603050405020304" pitchFamily="18" charset="0"/>
                <a:cs typeface="Times New Roman" panose="02020603050405020304" pitchFamily="18" charset="0"/>
              </a:rPr>
              <a:t>CSV and JSON files</a:t>
            </a:r>
            <a:r>
              <a:rPr lang="en-IN" sz="2400" dirty="0">
                <a:latin typeface="Times New Roman" panose="02020603050405020304" pitchFamily="18" charset="0"/>
                <a:cs typeface="Times New Roman" panose="02020603050405020304" pitchFamily="18" charset="0"/>
              </a:rPr>
              <a:t> and processes it through an ETL pipeline using </a:t>
            </a:r>
            <a:r>
              <a:rPr lang="en-IN" sz="2400" b="1" dirty="0">
                <a:latin typeface="Times New Roman" panose="02020603050405020304" pitchFamily="18" charset="0"/>
                <a:cs typeface="Times New Roman" panose="02020603050405020304" pitchFamily="18" charset="0"/>
              </a:rPr>
              <a:t>Python and Pandas</a:t>
            </a:r>
            <a:r>
              <a:rPr lang="en-IN" sz="2400" dirty="0">
                <a:latin typeface="Times New Roman" panose="02020603050405020304" pitchFamily="18" charset="0"/>
                <a:cs typeface="Times New Roman" panose="02020603050405020304" pitchFamily="18" charset="0"/>
              </a:rPr>
              <a:t>. The data is cleaned, transformed, and standardized to handle duplicate, missing, and inconsistent values. The processed data is stored in a </a:t>
            </a:r>
            <a:r>
              <a:rPr lang="en-IN" sz="2400" b="1" dirty="0">
                <a:latin typeface="Times New Roman" panose="02020603050405020304" pitchFamily="18" charset="0"/>
                <a:cs typeface="Times New Roman" panose="02020603050405020304" pitchFamily="18" charset="0"/>
              </a:rPr>
              <a:t>NoSQL MongoDB database</a:t>
            </a:r>
            <a:r>
              <a:rPr lang="en-IN" sz="2400" dirty="0">
                <a:latin typeface="Times New Roman" panose="02020603050405020304" pitchFamily="18" charset="0"/>
                <a:cs typeface="Times New Roman" panose="02020603050405020304" pitchFamily="18" charset="0"/>
              </a:rPr>
              <a:t> for efficient storage and retrieval. MongoDB queries are used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appointment statistics and identify </a:t>
            </a:r>
            <a:r>
              <a:rPr lang="en-IN" sz="2400" b="1" dirty="0">
                <a:latin typeface="Times New Roman" panose="02020603050405020304" pitchFamily="18" charset="0"/>
                <a:cs typeface="Times New Roman" panose="02020603050405020304" pitchFamily="18" charset="0"/>
              </a:rPr>
              <a:t>patient, department-wise, doctor-wise, and monthly appointment patterns</a:t>
            </a:r>
            <a:r>
              <a:rPr lang="en-IN" sz="2400" dirty="0">
                <a:latin typeface="Times New Roman" panose="02020603050405020304" pitchFamily="18" charset="0"/>
                <a:cs typeface="Times New Roman" panose="02020603050405020304" pitchFamily="18" charset="0"/>
              </a:rPr>
              <a:t>. A </a:t>
            </a:r>
            <a:r>
              <a:rPr lang="en-IN" sz="2400" b="1" dirty="0">
                <a:latin typeface="Times New Roman" panose="02020603050405020304" pitchFamily="18" charset="0"/>
                <a:cs typeface="Times New Roman" panose="02020603050405020304" pitchFamily="18" charset="0"/>
              </a:rPr>
              <a:t>Streamlit dashboard</a:t>
            </a:r>
            <a:r>
              <a:rPr lang="en-IN" sz="2400" dirty="0">
                <a:latin typeface="Times New Roman" panose="02020603050405020304" pitchFamily="18" charset="0"/>
                <a:cs typeface="Times New Roman" panose="02020603050405020304" pitchFamily="18" charset="0"/>
              </a:rPr>
              <a:t> provides interactive reports and visualizations of appointment metrics and trends. The proposed system demonstrates the fundamental stages of data engineering, from </a:t>
            </a:r>
            <a:r>
              <a:rPr lang="en-IN" sz="2400" b="1" dirty="0">
                <a:latin typeface="Times New Roman" panose="02020603050405020304" pitchFamily="18" charset="0"/>
                <a:cs typeface="Times New Roman" panose="02020603050405020304" pitchFamily="18" charset="0"/>
              </a:rPr>
              <a:t>data ingestion and cleaning to transformation, storage, and analysis</a:t>
            </a:r>
            <a:r>
              <a:rPr lang="en-IN" sz="240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CD7DCAB-D799-64C3-D7A8-B53B0B42A56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406600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A99C-BB1F-C9C3-7151-AC6BF6273B48}"/>
              </a:ext>
            </a:extLst>
          </p:cNvPr>
          <p:cNvSpPr>
            <a:spLocks noGrp="1"/>
          </p:cNvSpPr>
          <p:nvPr>
            <p:ph type="title"/>
          </p:nvPr>
        </p:nvSpPr>
        <p:spPr>
          <a:xfrm>
            <a:off x="3679370" y="365125"/>
            <a:ext cx="7674429" cy="1322161"/>
          </a:xfrm>
        </p:spPr>
        <p:txBody>
          <a:bodyPr>
            <a:noAutofit/>
          </a:bodyPr>
          <a:lstStyle/>
          <a:p>
            <a:r>
              <a:rPr lang="en-IN" sz="8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4864691-DFD5-4BFF-65DF-5CFD5C1742F7}"/>
              </a:ext>
            </a:extLst>
          </p:cNvPr>
          <p:cNvSpPr>
            <a:spLocks noGrp="1"/>
          </p:cNvSpPr>
          <p:nvPr>
            <p:ph idx="1"/>
          </p:nvPr>
        </p:nvSpPr>
        <p:spPr>
          <a:xfrm>
            <a:off x="838200" y="1893765"/>
            <a:ext cx="10515599" cy="4025256"/>
          </a:xfrm>
        </p:spPr>
        <p:txBody>
          <a:bodyPr>
            <a:normAutofit/>
          </a:bodyPr>
          <a:lstStyle/>
          <a:p>
            <a:pPr marL="0" indent="0" algn="just">
              <a:buNone/>
            </a:pPr>
            <a:r>
              <a:rPr dirty="0">
                <a:latin typeface="Times New Roman" panose="02020603050405020304" pitchFamily="18" charset="0"/>
                <a:cs typeface="Times New Roman" panose="02020603050405020304" pitchFamily="18" charset="0"/>
              </a:rPr>
              <a:t>Hospital appointments are an important part of healthcare service management. Appointment records are often maintained across different systems or files, making data cleaning, storage, and analysis difficult. Raw appointment records may contain missing or duplicate entries and can be time-consuming to process. There is a need for a simple data-driven system that can collect, process, and analyze appointment data. Our project uses Data Engineering techniques to transform raw appointment data into meaningful insights. The system helps monitor appointment patterns, identify cancellations and no-shows, and support efficient hospital record management.</a:t>
            </a:r>
          </a:p>
        </p:txBody>
      </p:sp>
      <p:pic>
        <p:nvPicPr>
          <p:cNvPr id="5" name="Picture 4">
            <a:extLst>
              <a:ext uri="{FF2B5EF4-FFF2-40B4-BE49-F238E27FC236}">
                <a16:creationId xmlns:a16="http://schemas.microsoft.com/office/drawing/2014/main" id="{F6E1522A-CD7D-C307-6926-538EA295E42F}"/>
              </a:ext>
            </a:extLst>
          </p:cNvPr>
          <p:cNvPicPr>
            <a:picLocks noChangeAspect="1"/>
          </p:cNvPicPr>
          <p:nvPr/>
        </p:nvPicPr>
        <p:blipFill>
          <a:blip r:embed="rId3"/>
          <a:stretch>
            <a:fillRect/>
          </a:stretch>
        </p:blipFill>
        <p:spPr>
          <a:xfrm>
            <a:off x="58662" y="30536"/>
            <a:ext cx="2354338" cy="963138"/>
          </a:xfrm>
          <a:prstGeom prst="rect">
            <a:avLst/>
          </a:prstGeom>
        </p:spPr>
      </p:pic>
    </p:spTree>
    <p:extLst>
      <p:ext uri="{BB962C8B-B14F-4D97-AF65-F5344CB8AC3E}">
        <p14:creationId xmlns:p14="http://schemas.microsoft.com/office/powerpoint/2010/main" val="3145166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470898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Existing System</a:t>
            </a:r>
          </a:p>
          <a:p>
            <a:pPr lvl="0"/>
            <a:r>
              <a:rPr lang="en-IN" sz="2000" b="1" dirty="0">
                <a:latin typeface="Times New Roman" panose="02020603050405020304" pitchFamily="18" charset="0"/>
                <a:cs typeface="Times New Roman" panose="02020603050405020304" pitchFamily="18" charset="0"/>
              </a:rPr>
              <a:t>Manual Tracking:</a:t>
            </a:r>
            <a:r>
              <a:rPr lang="en-IN" sz="2000" dirty="0">
                <a:latin typeface="Times New Roman" panose="02020603050405020304" pitchFamily="18" charset="0"/>
                <a:cs typeface="Times New Roman" panose="02020603050405020304" pitchFamily="18" charset="0"/>
              </a:rPr>
              <a:t> Many hospitals still record appointments in registers or spreadsheets.</a:t>
            </a:r>
          </a:p>
          <a:p>
            <a:pPr lvl="0"/>
            <a:r>
              <a:rPr lang="en-IN" sz="2000" b="1" dirty="0">
                <a:latin typeface="Times New Roman" panose="02020603050405020304" pitchFamily="18" charset="0"/>
                <a:cs typeface="Times New Roman" panose="02020603050405020304" pitchFamily="18" charset="0"/>
              </a:rPr>
              <a:t>Fragmented Tools:</a:t>
            </a:r>
            <a:r>
              <a:rPr lang="en-IN" sz="2000" dirty="0">
                <a:latin typeface="Times New Roman" panose="02020603050405020304" pitchFamily="18" charset="0"/>
                <a:cs typeface="Times New Roman" panose="02020603050405020304" pitchFamily="18" charset="0"/>
              </a:rPr>
              <a:t> Basic systems support booking/cancelling only, with little analytical reporting.</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Limitations of Existing System</a:t>
            </a:r>
          </a:p>
          <a:p>
            <a:pPr lvl="0"/>
            <a:r>
              <a:rPr lang="en-IN" sz="2000" b="1" dirty="0">
                <a:latin typeface="Times New Roman" panose="02020603050405020304" pitchFamily="18" charset="0"/>
                <a:cs typeface="Times New Roman" panose="02020603050405020304" pitchFamily="18" charset="0"/>
              </a:rPr>
              <a:t>No Automated Cleaning:</a:t>
            </a:r>
            <a:r>
              <a:rPr lang="en-IN" sz="2000" dirty="0">
                <a:latin typeface="Times New Roman" panose="02020603050405020304" pitchFamily="18" charset="0"/>
                <a:cs typeface="Times New Roman" panose="02020603050405020304" pitchFamily="18" charset="0"/>
              </a:rPr>
              <a:t> Duplicate and missing records are corrected manually — slow and error-prone.</a:t>
            </a:r>
          </a:p>
          <a:p>
            <a:pPr lvl="0"/>
            <a:r>
              <a:rPr lang="en-IN" sz="2000" b="1" dirty="0">
                <a:latin typeface="Times New Roman" panose="02020603050405020304" pitchFamily="18" charset="0"/>
                <a:cs typeface="Times New Roman" panose="02020603050405020304" pitchFamily="18" charset="0"/>
              </a:rPr>
              <a:t>No Pattern Analysis:</a:t>
            </a:r>
            <a:r>
              <a:rPr lang="en-IN" sz="2000" dirty="0">
                <a:latin typeface="Times New Roman" panose="02020603050405020304" pitchFamily="18" charset="0"/>
                <a:cs typeface="Times New Roman" panose="02020603050405020304" pitchFamily="18" charset="0"/>
              </a:rPr>
              <a:t> Department-wise, doctor-wise, and no-show trends are rarely exposed.</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Proposed System</a:t>
            </a:r>
          </a:p>
          <a:p>
            <a:pPr lvl="0"/>
            <a:r>
              <a:rPr lang="en-IN" sz="2000" b="1" dirty="0">
                <a:latin typeface="Times New Roman" panose="02020603050405020304" pitchFamily="18" charset="0"/>
                <a:cs typeface="Times New Roman" panose="02020603050405020304" pitchFamily="18" charset="0"/>
              </a:rPr>
              <a:t>Automated ETL Pipeline:</a:t>
            </a:r>
            <a:r>
              <a:rPr lang="en-IN" sz="2000" dirty="0">
                <a:latin typeface="Times New Roman" panose="02020603050405020304" pitchFamily="18" charset="0"/>
                <a:cs typeface="Times New Roman" panose="02020603050405020304" pitchFamily="18" charset="0"/>
              </a:rPr>
              <a:t> Python and Pandas clean and transform raw CSV/JSON appointment records.</a:t>
            </a:r>
          </a:p>
          <a:p>
            <a:pPr lvl="0"/>
            <a:r>
              <a:rPr lang="en-IN" sz="2000" b="1" dirty="0">
                <a:latin typeface="Times New Roman" panose="02020603050405020304" pitchFamily="18" charset="0"/>
                <a:cs typeface="Times New Roman" panose="02020603050405020304" pitchFamily="18" charset="0"/>
              </a:rPr>
              <a:t>NoSQL Storage &amp; Analytics:</a:t>
            </a:r>
            <a:r>
              <a:rPr lang="en-IN" sz="2000" dirty="0">
                <a:latin typeface="Times New Roman" panose="02020603050405020304" pitchFamily="18" charset="0"/>
                <a:cs typeface="Times New Roman" panose="02020603050405020304" pitchFamily="18" charset="0"/>
              </a:rPr>
              <a:t> MongoDB stores the data; a Streamlit dashboard surfaces status and trends.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Advantages of Proposed System</a:t>
            </a:r>
          </a:p>
          <a:p>
            <a:pPr lvl="0"/>
            <a:r>
              <a:rPr lang="en-IN" sz="2000" b="1" dirty="0">
                <a:latin typeface="Times New Roman" panose="02020603050405020304" pitchFamily="18" charset="0"/>
                <a:cs typeface="Times New Roman" panose="02020603050405020304" pitchFamily="18" charset="0"/>
              </a:rPr>
              <a:t>Reduced Manual Effort:</a:t>
            </a:r>
            <a:r>
              <a:rPr lang="en-IN" sz="2000" dirty="0">
                <a:latin typeface="Times New Roman" panose="02020603050405020304" pitchFamily="18" charset="0"/>
                <a:cs typeface="Times New Roman" panose="02020603050405020304" pitchFamily="18" charset="0"/>
              </a:rPr>
              <a:t> Automated cleaning removes repetitive, manual corrections.</a:t>
            </a:r>
          </a:p>
          <a:p>
            <a:pPr lvl="0"/>
            <a:r>
              <a:rPr lang="en-IN" sz="2000" b="1" dirty="0">
                <a:latin typeface="Times New Roman" panose="02020603050405020304" pitchFamily="18" charset="0"/>
                <a:cs typeface="Times New Roman" panose="02020603050405020304" pitchFamily="18" charset="0"/>
              </a:rPr>
              <a:t>Actionable &amp; Extensible:</a:t>
            </a:r>
            <a:r>
              <a:rPr lang="en-IN" sz="2000" dirty="0">
                <a:latin typeface="Times New Roman" panose="02020603050405020304" pitchFamily="18" charset="0"/>
                <a:cs typeface="Times New Roman" panose="02020603050405020304" pitchFamily="18" charset="0"/>
              </a:rPr>
              <a:t> Staff get visual reports, and new data sources can be added easily.</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Existing &amp; Proposed System</a:t>
            </a:r>
          </a:p>
        </p:txBody>
      </p:sp>
    </p:spTree>
    <p:extLst>
      <p:ext uri="{BB962C8B-B14F-4D97-AF65-F5344CB8AC3E}">
        <p14:creationId xmlns:p14="http://schemas.microsoft.com/office/powerpoint/2010/main" val="1245516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92E42-7EA8-E8D1-D175-ABDC9201B079}"/>
              </a:ext>
            </a:extLst>
          </p:cNvPr>
          <p:cNvSpPr txBox="1"/>
          <p:nvPr/>
        </p:nvSpPr>
        <p:spPr>
          <a:xfrm>
            <a:off x="614515" y="1431484"/>
            <a:ext cx="10962969" cy="4401205"/>
          </a:xfrm>
          <a:prstGeom prst="rect">
            <a:avLst/>
          </a:prstGeom>
          <a:noFill/>
        </p:spPr>
        <p:txBody>
          <a:bodyPr wrap="square" rtlCol="0">
            <a:spAutoFit/>
          </a:bodyPr>
          <a:lstStyle/>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collect hospital appointment data from structured sources such as CSV or Excel files.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clean and transform raw appointment data using Python.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remove duplicate records and handle missing or inconsistent values.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store the processed data in a structured NoSQL database.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appointment patterns using SQL queries.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identify completed, cancelled, and no-show appointments.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generate useful reports and visualizations for hospital staff and administrators.</a:t>
            </a:r>
          </a:p>
          <a:p>
            <a:pPr algn="just"/>
            <a:endParaRPr lang="en-IN"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6ED87A-43B3-DCC0-82A6-4DA6114313FB}"/>
              </a:ext>
            </a:extLst>
          </p:cNvPr>
          <p:cNvSpPr txBox="1"/>
          <p:nvPr/>
        </p:nvSpPr>
        <p:spPr>
          <a:xfrm>
            <a:off x="4273224" y="186814"/>
            <a:ext cx="3300904" cy="923330"/>
          </a:xfrm>
          <a:prstGeom prst="rect">
            <a:avLst/>
          </a:prstGeom>
          <a:noFill/>
        </p:spPr>
        <p:txBody>
          <a:bodyPr wrap="none" rtlCol="0">
            <a:spAutoFit/>
          </a:bodyPr>
          <a:lstStyle/>
          <a:p>
            <a:r>
              <a:rPr lang="en-US" sz="5400" b="1" dirty="0">
                <a:latin typeface="Times New Roman" panose="02020603050405020304" pitchFamily="18" charset="0"/>
                <a:cs typeface="Times New Roman" panose="02020603050405020304" pitchFamily="18" charset="0"/>
              </a:rPr>
              <a:t>Objectives</a:t>
            </a:r>
            <a:endParaRPr lang="en-I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871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73152"/>
            <a:ext cx="4343400" cy="411480"/>
          </a:xfrm>
          <a:prstGeom prst="rect">
            <a:avLst/>
          </a:prstGeom>
          <a:noFill/>
        </p:spPr>
        <p:txBody>
          <a:bodyPr wrap="none">
            <a:spAutoFit/>
          </a:bodyPr>
          <a:lstStyle/>
          <a:p>
            <a:pPr algn="ctr"/>
            <a:r>
              <a:rPr sz="3600" b="1">
                <a:solidFill>
                  <a:srgbClr val="000000"/>
                </a:solidFill>
                <a:latin typeface="Times New Roman"/>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212942305"/>
              </p:ext>
            </p:extLst>
          </p:nvPr>
        </p:nvGraphicFramePr>
        <p:xfrm>
          <a:off x="311086" y="791852"/>
          <a:ext cx="11642102" cy="5882325"/>
        </p:xfrm>
        <a:graphic>
          <a:graphicData uri="http://schemas.openxmlformats.org/drawingml/2006/table">
            <a:tbl>
              <a:tblPr firstRow="1" bandRow="1">
                <a:tableStyleId>{5C22544A-7EE6-4342-B048-85BDC9FD1C3A}</a:tableStyleId>
              </a:tblPr>
              <a:tblGrid>
                <a:gridCol w="392746">
                  <a:extLst>
                    <a:ext uri="{9D8B030D-6E8A-4147-A177-3AD203B41FA5}">
                      <a16:colId xmlns:a16="http://schemas.microsoft.com/office/drawing/2014/main" val="20000"/>
                    </a:ext>
                  </a:extLst>
                </a:gridCol>
                <a:gridCol w="2478038">
                  <a:extLst>
                    <a:ext uri="{9D8B030D-6E8A-4147-A177-3AD203B41FA5}">
                      <a16:colId xmlns:a16="http://schemas.microsoft.com/office/drawing/2014/main" val="20001"/>
                    </a:ext>
                  </a:extLst>
                </a:gridCol>
                <a:gridCol w="1449418">
                  <a:extLst>
                    <a:ext uri="{9D8B030D-6E8A-4147-A177-3AD203B41FA5}">
                      <a16:colId xmlns:a16="http://schemas.microsoft.com/office/drawing/2014/main" val="20002"/>
                    </a:ext>
                  </a:extLst>
                </a:gridCol>
                <a:gridCol w="2384527">
                  <a:extLst>
                    <a:ext uri="{9D8B030D-6E8A-4147-A177-3AD203B41FA5}">
                      <a16:colId xmlns:a16="http://schemas.microsoft.com/office/drawing/2014/main" val="20003"/>
                    </a:ext>
                  </a:extLst>
                </a:gridCol>
                <a:gridCol w="2945592">
                  <a:extLst>
                    <a:ext uri="{9D8B030D-6E8A-4147-A177-3AD203B41FA5}">
                      <a16:colId xmlns:a16="http://schemas.microsoft.com/office/drawing/2014/main" val="20004"/>
                    </a:ext>
                  </a:extLst>
                </a:gridCol>
                <a:gridCol w="1991781">
                  <a:extLst>
                    <a:ext uri="{9D8B030D-6E8A-4147-A177-3AD203B41FA5}">
                      <a16:colId xmlns:a16="http://schemas.microsoft.com/office/drawing/2014/main" val="20005"/>
                    </a:ext>
                  </a:extLst>
                </a:gridCol>
              </a:tblGrid>
              <a:tr h="593015">
                <a:tc>
                  <a:txBody>
                    <a:bodyPr/>
                    <a:lstStyle/>
                    <a:p>
                      <a:pPr>
                        <a:buNone/>
                      </a:pPr>
                      <a:r>
                        <a:rPr lang="en-IN" sz="1200"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Paper Title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Authors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Drawbacks /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What It Contributes to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57862">
                <a:tc>
                  <a:txBody>
                    <a:bodyPr/>
                    <a:lstStyle/>
                    <a:p>
                      <a:pPr>
                        <a:buNone/>
                      </a:pPr>
                      <a:r>
                        <a:rPr lang="en-IN" sz="1200" b="1">
                          <a:solidFill>
                            <a:schemeClr val="tx1"/>
                          </a:solidFill>
                        </a:rPr>
                        <a:t>1</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Outpatient Scheduling in Health Care: A Review of Literature – 2003</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Cayirli &amp; Veral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many scheduling models, but most solutions are situation-specific and do not provide a practical data-processing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Helps identify important appointment factors such as </a:t>
                      </a:r>
                      <a:r>
                        <a:rPr lang="en-IN" sz="1200" b="1">
                          <a:solidFill>
                            <a:schemeClr val="tx1"/>
                          </a:solidFill>
                        </a:rPr>
                        <a:t>waiting time, demand, capacity and scheduling patterns</a:t>
                      </a:r>
                      <a:r>
                        <a:rPr lang="en-IN" sz="1200">
                          <a:solidFill>
                            <a:schemeClr val="tx1"/>
                          </a:solidFill>
                        </a:rPr>
                        <a:t> that our cleaned appointment data can be used to analyze.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2"/>
                        </a:rPr>
                        <a:t>https://doi.org/10.1111/j.1937-5956.2003.tb00218.x</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7862">
                <a:tc>
                  <a:txBody>
                    <a:bodyPr/>
                    <a:lstStyle/>
                    <a:p>
                      <a:pPr>
                        <a:buNone/>
                      </a:pPr>
                      <a:r>
                        <a:rPr lang="en-IN" sz="1200" b="1">
                          <a:solidFill>
                            <a:schemeClr val="tx1"/>
                          </a:solidFill>
                        </a:rPr>
                        <a:t>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The Effectiveness of Outpatient Appointment Reminder Systems in Reducing No-Show Rates – 2010</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Parikh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mainly on reminder interventions and does not implement an automated data engineering 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Shows the importance of tracking </a:t>
                      </a:r>
                      <a:r>
                        <a:rPr lang="en-IN" sz="1200" b="1">
                          <a:solidFill>
                            <a:schemeClr val="tx1"/>
                          </a:solidFill>
                        </a:rPr>
                        <a:t>appointment status, waiting time and patient attendance</a:t>
                      </a:r>
                      <a:r>
                        <a:rPr lang="en-IN" sz="1200">
                          <a:solidFill>
                            <a:schemeClr val="tx1"/>
                          </a:solidFill>
                        </a:rPr>
                        <a:t>, which our pipeline organizes for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3"/>
                        </a:rPr>
                        <a:t>https://doi.org/10.1016/j.amjmed.2009.11.022</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7862">
                <a:tc>
                  <a:txBody>
                    <a:bodyPr/>
                    <a:lstStyle/>
                    <a:p>
                      <a:pPr>
                        <a:buNone/>
                      </a:pPr>
                      <a:r>
                        <a:rPr lang="en-IN" sz="1200" b="1">
                          <a:solidFill>
                            <a:schemeClr val="tx1"/>
                          </a:solidFill>
                        </a:rPr>
                        <a:t>3</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Methods and Dimensions of Electronic Health Record Data Quality Assessment – 2013</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Weiskopf &amp; Weng</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on EHR data-quality assessment rather than appointment-specific ETL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data-quality concepts such as </a:t>
                      </a:r>
                      <a:r>
                        <a:rPr lang="en-IN" sz="1200" b="1">
                          <a:solidFill>
                            <a:schemeClr val="tx1"/>
                          </a:solidFill>
                        </a:rPr>
                        <a:t>completeness, correctness, concordance, plausibility and currency</a:t>
                      </a:r>
                      <a:r>
                        <a:rPr lang="en-IN" sz="1200">
                          <a:solidFill>
                            <a:schemeClr val="tx1"/>
                          </a:solidFill>
                        </a:rPr>
                        <a:t>, supporting our cleaning and validation 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4"/>
                        </a:rPr>
                        <a:t>https://doi.org/10.1136/amiajnl-2011-000681</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57862">
                <a:tc>
                  <a:txBody>
                    <a:bodyPr/>
                    <a:lstStyle/>
                    <a:p>
                      <a:pPr>
                        <a:buNone/>
                      </a:pPr>
                      <a:r>
                        <a:rPr lang="en-IN" sz="1200" b="1">
                          <a:solidFill>
                            <a:schemeClr val="tx1"/>
                          </a:solidFill>
                        </a:rPr>
                        <a:t>4</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Outpatient Appointment Systems in Healthcare: A Review of Optimization Studies – 2017</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Ahmadi-Javid, Jalali &amp; Klassen</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Concentrates on optimization and decision-support models rather than implementation of a complete data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Helps identify </a:t>
                      </a:r>
                      <a:r>
                        <a:rPr lang="en-IN" sz="1200" b="1">
                          <a:solidFill>
                            <a:schemeClr val="tx1"/>
                          </a:solidFill>
                        </a:rPr>
                        <a:t>strategic, tactical and operational appointment factors</a:t>
                      </a:r>
                      <a:r>
                        <a:rPr lang="en-IN" sz="1200">
                          <a:solidFill>
                            <a:schemeClr val="tx1"/>
                          </a:solidFill>
                        </a:rPr>
                        <a:t> that can be derived from our processed hospital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5"/>
                        </a:rPr>
                        <a:t>https://doi.org/10.1016/j.ejor.2016.06.064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57862">
                <a:tc>
                  <a:txBody>
                    <a:bodyPr/>
                    <a:lstStyle/>
                    <a:p>
                      <a:pPr>
                        <a:buNone/>
                      </a:pPr>
                      <a:r>
                        <a:rPr lang="en-IN" sz="1200" b="1" dirty="0">
                          <a:solidFill>
                            <a:schemeClr val="tx1"/>
                          </a:solidFill>
                        </a:rPr>
                        <a:t>5</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No-shows in Appointment Scheduling – A Systematic Literature Review – 2018</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Dantas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factors influencing no-shows but does not provide a reusable ETL/database solution for hospital appointment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Supports analysis of </a:t>
                      </a:r>
                      <a:r>
                        <a:rPr lang="en-IN" sz="1200" b="1">
                          <a:solidFill>
                            <a:schemeClr val="tx1"/>
                          </a:solidFill>
                        </a:rPr>
                        <a:t>no-show patterns, lead time and previous appointment behavior</a:t>
                      </a:r>
                      <a:r>
                        <a:rPr lang="en-IN" sz="1200">
                          <a:solidFill>
                            <a:schemeClr val="tx1"/>
                          </a:solidFill>
                        </a:rPr>
                        <a:t> using structured appointment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6"/>
                        </a:rPr>
                        <a:t>https://doi.org/10.1016/j.healthpol.2018.02.002</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56977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73152"/>
            <a:ext cx="4343400" cy="411480"/>
          </a:xfrm>
          <a:prstGeom prst="rect">
            <a:avLst/>
          </a:prstGeom>
          <a:noFill/>
        </p:spPr>
        <p:txBody>
          <a:bodyPr wrap="none">
            <a:spAutoFit/>
          </a:bodyPr>
          <a:lstStyle/>
          <a:p>
            <a:pPr algn="ctr"/>
            <a:r>
              <a:rPr sz="3600" b="1">
                <a:solidFill>
                  <a:srgbClr val="000000"/>
                </a:solidFill>
                <a:latin typeface="Times New Roman"/>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131890706"/>
              </p:ext>
            </p:extLst>
          </p:nvPr>
        </p:nvGraphicFramePr>
        <p:xfrm>
          <a:off x="365760" y="914400"/>
          <a:ext cx="11384280" cy="5623558"/>
        </p:xfrm>
        <a:graphic>
          <a:graphicData uri="http://schemas.openxmlformats.org/drawingml/2006/table">
            <a:tbl>
              <a:tblPr firstRow="1" bandRow="1">
                <a:tableStyleId>{5C22544A-7EE6-4342-B048-85BDC9FD1C3A}</a:tableStyleId>
              </a:tblPr>
              <a:tblGrid>
                <a:gridCol w="436932">
                  <a:extLst>
                    <a:ext uri="{9D8B030D-6E8A-4147-A177-3AD203B41FA5}">
                      <a16:colId xmlns:a16="http://schemas.microsoft.com/office/drawing/2014/main" val="20000"/>
                    </a:ext>
                  </a:extLst>
                </a:gridCol>
                <a:gridCol w="2370276">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702759">
                  <a:extLst>
                    <a:ext uri="{9D8B030D-6E8A-4147-A177-3AD203B41FA5}">
                      <a16:colId xmlns:a16="http://schemas.microsoft.com/office/drawing/2014/main" val="20004"/>
                    </a:ext>
                  </a:extLst>
                </a:gridCol>
                <a:gridCol w="2125273">
                  <a:extLst>
                    <a:ext uri="{9D8B030D-6E8A-4147-A177-3AD203B41FA5}">
                      <a16:colId xmlns:a16="http://schemas.microsoft.com/office/drawing/2014/main" val="20005"/>
                    </a:ext>
                  </a:extLst>
                </a:gridCol>
              </a:tblGrid>
              <a:tr h="566928">
                <a:tc>
                  <a:txBody>
                    <a:bodyPr/>
                    <a:lstStyle/>
                    <a:p>
                      <a:pPr>
                        <a:buNone/>
                      </a:pPr>
                      <a:r>
                        <a:rPr lang="en-IN" sz="1200"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Paper Title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Authors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Drawbacks /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What It Contributes to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11326">
                <a:tc>
                  <a:txBody>
                    <a:bodyPr/>
                    <a:lstStyle/>
                    <a:p>
                      <a:pPr>
                        <a:buNone/>
                      </a:pPr>
                      <a:r>
                        <a:rPr lang="en-IN" sz="1200" b="1">
                          <a:solidFill>
                            <a:schemeClr val="tx1"/>
                          </a:solidFill>
                        </a:rPr>
                        <a:t>6</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Patient No-Show Prediction: A Systematic Literature Review – 2020</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Zapata et al.</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Concentrates mainly on predictive modelling; data preparation and pipeline design are secondary aspects of the study.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Supports the need for </a:t>
                      </a:r>
                      <a:r>
                        <a:rPr lang="en-IN" sz="1200" b="1">
                          <a:solidFill>
                            <a:schemeClr val="tx1"/>
                          </a:solidFill>
                        </a:rPr>
                        <a:t>structured appointment data, status-based analysis and properly prepared features</a:t>
                      </a:r>
                      <a:r>
                        <a:rPr lang="en-IN" sz="1200">
                          <a:solidFill>
                            <a:schemeClr val="tx1"/>
                          </a:solidFill>
                        </a:rPr>
                        <a:t> before applying prediction 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2"/>
                        </a:rPr>
                        <a:t>https://doi.org/10.3390/e22060675</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11326">
                <a:tc>
                  <a:txBody>
                    <a:bodyPr/>
                    <a:lstStyle/>
                    <a:p>
                      <a:pPr>
                        <a:buNone/>
                      </a:pPr>
                      <a:r>
                        <a:rPr lang="en-IN" sz="1200" b="1">
                          <a:solidFill>
                            <a:schemeClr val="tx1"/>
                          </a:solidFill>
                        </a:rPr>
                        <a:t>7</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A Harmonized Data Quality Assessment Terminology and Framework for the Secondary Use of EHR Data – 2016</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Kahn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a general framework and requires adaptation to specific appointment datasets and workflows.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a systematic basis for checking </a:t>
                      </a:r>
                      <a:r>
                        <a:rPr lang="en-IN" sz="1200" b="1">
                          <a:solidFill>
                            <a:schemeClr val="tx1"/>
                          </a:solidFill>
                        </a:rPr>
                        <a:t>data completeness, conformance, plausibility and quality</a:t>
                      </a:r>
                      <a:r>
                        <a:rPr lang="en-IN" sz="1200">
                          <a:solidFill>
                            <a:schemeClr val="tx1"/>
                          </a:solidFill>
                        </a:rPr>
                        <a:t> during our ETL 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3"/>
                        </a:rPr>
                        <a:t>https://doi.org/10.13063/2327-9214.1244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11326">
                <a:tc>
                  <a:txBody>
                    <a:bodyPr/>
                    <a:lstStyle/>
                    <a:p>
                      <a:pPr>
                        <a:buNone/>
                      </a:pPr>
                      <a:r>
                        <a:rPr lang="en-IN" sz="1200" b="1">
                          <a:solidFill>
                            <a:schemeClr val="tx1"/>
                          </a:solidFill>
                        </a:rPr>
                        <a:t>8</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ETL Processes for Integrating Healthcare Data – Tools and Architecture Patterns – 2022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Cheng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Compares healthcare ETL tools and architecture patterns; the examples are broader than hospital appointment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Directly supports our </a:t>
                      </a:r>
                      <a:r>
                        <a:rPr lang="en-IN" sz="1200" b="1">
                          <a:solidFill>
                            <a:schemeClr val="tx1"/>
                          </a:solidFill>
                        </a:rPr>
                        <a:t>Data Ingestion → Transformation → Storage</a:t>
                      </a:r>
                      <a:r>
                        <a:rPr lang="en-IN" sz="1200">
                          <a:solidFill>
                            <a:schemeClr val="tx1"/>
                          </a:solidFill>
                        </a:rPr>
                        <a:t> architecture for processing healthcare appointment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4"/>
                        </a:rPr>
                        <a:t>https://doi.org/10.3233/SHTI220974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11326">
                <a:tc>
                  <a:txBody>
                    <a:bodyPr/>
                    <a:lstStyle/>
                    <a:p>
                      <a:pPr>
                        <a:buNone/>
                      </a:pPr>
                      <a:r>
                        <a:rPr lang="en-IN" sz="1200" b="1">
                          <a:solidFill>
                            <a:schemeClr val="tx1"/>
                          </a:solidFill>
                        </a:rPr>
                        <a:t>9</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No-Show in Medical Appointments with Machine Learning Techniques: A Systematic Literature Review – 2022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Salazar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primarily on machine-learning-based no-show prediction; practical integration with hospital data systems remains 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Identifies useful appointment attributes such as </a:t>
                      </a:r>
                      <a:r>
                        <a:rPr lang="en-IN" sz="1200" b="1">
                          <a:solidFill>
                            <a:schemeClr val="tx1"/>
                          </a:solidFill>
                        </a:rPr>
                        <a:t>patient age, previous no-shows and lead time</a:t>
                      </a:r>
                      <a:r>
                        <a:rPr lang="en-IN" sz="1200">
                          <a:solidFill>
                            <a:schemeClr val="tx1"/>
                          </a:solidFill>
                        </a:rPr>
                        <a:t>, which can be derived from our cleaned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5"/>
                        </a:rPr>
                        <a:t>https://doi.org/10.3390/info13110507</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11326">
                <a:tc>
                  <a:txBody>
                    <a:bodyPr/>
                    <a:lstStyle/>
                    <a:p>
                      <a:pPr>
                        <a:buNone/>
                      </a:pPr>
                      <a:r>
                        <a:rPr lang="en-IN" sz="1200" b="1">
                          <a:solidFill>
                            <a:schemeClr val="tx1"/>
                          </a:solidFill>
                        </a:rPr>
                        <a:t>10</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Predicting Patient No-Shows Using Machine Learning: A Comprehensive Review and Future Research Agenda – 2025</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Toffaha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machine-learning research and highlights gaps in data collection, preprocessing and real-world 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Reinforces the importance of </a:t>
                      </a:r>
                      <a:r>
                        <a:rPr lang="en-IN" sz="1200" b="1">
                          <a:solidFill>
                            <a:schemeClr val="tx1"/>
                          </a:solidFill>
                        </a:rPr>
                        <a:t>reliable data preparation, temporal features and implementation-ready datasets</a:t>
                      </a:r>
                      <a:r>
                        <a:rPr lang="en-IN" sz="1200">
                          <a:solidFill>
                            <a:schemeClr val="tx1"/>
                          </a:solidFill>
                        </a:rPr>
                        <a:t> for future predictive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6"/>
                        </a:rPr>
                        <a:t>https://doi.org/10.1016/j.ibmed.2025.100229</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31128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32453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Data Quality Gap</a:t>
            </a:r>
          </a:p>
          <a:p>
            <a:pPr lvl="0"/>
            <a:r>
              <a:rPr lang="en-IN" sz="2000" b="1" dirty="0">
                <a:latin typeface="Times New Roman" panose="02020603050405020304" pitchFamily="18" charset="0"/>
                <a:cs typeface="Times New Roman" panose="02020603050405020304" pitchFamily="18" charset="0"/>
              </a:rPr>
              <a:t>Inconsistent Records:</a:t>
            </a:r>
            <a:r>
              <a:rPr lang="en-IN" sz="2000" dirty="0">
                <a:latin typeface="Times New Roman" panose="02020603050405020304" pitchFamily="18" charset="0"/>
                <a:cs typeface="Times New Roman" panose="02020603050405020304" pitchFamily="18" charset="0"/>
              </a:rPr>
              <a:t> Duplicate and missing entries are common across raw CSV/JSON appointment files.</a:t>
            </a:r>
          </a:p>
          <a:p>
            <a:pPr lvl="0"/>
            <a:r>
              <a:rPr lang="en-IN" sz="2000" b="1" dirty="0">
                <a:latin typeface="Times New Roman" panose="02020603050405020304" pitchFamily="18" charset="0"/>
                <a:cs typeface="Times New Roman" panose="02020603050405020304" pitchFamily="18" charset="0"/>
              </a:rPr>
              <a:t>No Central Pipeline:</a:t>
            </a:r>
            <a:r>
              <a:rPr lang="en-IN" sz="2000" dirty="0">
                <a:latin typeface="Times New Roman" panose="02020603050405020304" pitchFamily="18" charset="0"/>
                <a:cs typeface="Times New Roman" panose="02020603050405020304" pitchFamily="18" charset="0"/>
              </a:rPr>
              <a:t> There is no automated flow connecting raw files to a clean, query-ready database.</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Analytics Gap</a:t>
            </a:r>
          </a:p>
          <a:p>
            <a:pPr lvl="0"/>
            <a:r>
              <a:rPr lang="en-IN" sz="2000" b="1" dirty="0">
                <a:latin typeface="Times New Roman" panose="02020603050405020304" pitchFamily="18" charset="0"/>
                <a:cs typeface="Times New Roman" panose="02020603050405020304" pitchFamily="18" charset="0"/>
              </a:rPr>
              <a:t>No Trend Visibility:</a:t>
            </a:r>
            <a:r>
              <a:rPr lang="en-IN" sz="2000" dirty="0">
                <a:latin typeface="Times New Roman" panose="02020603050405020304" pitchFamily="18" charset="0"/>
                <a:cs typeface="Times New Roman" panose="02020603050405020304" pitchFamily="18" charset="0"/>
              </a:rPr>
              <a:t> Existing hospital tools rarely expose department-wise or doctor-wise appointment patterns.</a:t>
            </a:r>
          </a:p>
          <a:p>
            <a:pPr lvl="0"/>
            <a:r>
              <a:rPr lang="en-IN" sz="2000" b="1" dirty="0">
                <a:latin typeface="Times New Roman" panose="02020603050405020304" pitchFamily="18" charset="0"/>
                <a:cs typeface="Times New Roman" panose="02020603050405020304" pitchFamily="18" charset="0"/>
              </a:rPr>
              <a:t>No No-Show Insight:</a:t>
            </a:r>
            <a:r>
              <a:rPr lang="en-IN" sz="2000" dirty="0">
                <a:latin typeface="Times New Roman" panose="02020603050405020304" pitchFamily="18" charset="0"/>
                <a:cs typeface="Times New Roman" panose="02020603050405020304" pitchFamily="18" charset="0"/>
              </a:rPr>
              <a:t> Cancelled and no-show appointments are not tracked or analyzed systematically.</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Scalability Gap</a:t>
            </a:r>
          </a:p>
          <a:p>
            <a:pPr lvl="0"/>
            <a:r>
              <a:rPr lang="en-IN" sz="2000" b="1" dirty="0">
                <a:latin typeface="Times New Roman" panose="02020603050405020304" pitchFamily="18" charset="0"/>
                <a:cs typeface="Times New Roman" panose="02020603050405020304" pitchFamily="18" charset="0"/>
              </a:rPr>
              <a:t>Manual Effort:</a:t>
            </a:r>
            <a:r>
              <a:rPr lang="en-IN" sz="2000" dirty="0">
                <a:latin typeface="Times New Roman" panose="02020603050405020304" pitchFamily="18" charset="0"/>
                <a:cs typeface="Times New Roman" panose="02020603050405020304" pitchFamily="18" charset="0"/>
              </a:rPr>
              <a:t> Cleaning and reporting by hand does not scale as appointment volume grows.</a:t>
            </a:r>
          </a:p>
          <a:p>
            <a:pPr lvl="0"/>
            <a:r>
              <a:rPr lang="en-IN" sz="2000" b="1" dirty="0">
                <a:latin typeface="Times New Roman" panose="02020603050405020304" pitchFamily="18" charset="0"/>
                <a:cs typeface="Times New Roman" panose="02020603050405020304" pitchFamily="18" charset="0"/>
              </a:rPr>
              <a:t>Rigid Storage:</a:t>
            </a:r>
            <a:r>
              <a:rPr lang="en-IN" sz="2000" dirty="0">
                <a:latin typeface="Times New Roman" panose="02020603050405020304" pitchFamily="18" charset="0"/>
                <a:cs typeface="Times New Roman" panose="02020603050405020304" pitchFamily="18" charset="0"/>
              </a:rPr>
              <a:t> Fixed-schema relational systems struggle with varied or evolving record formats.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How This Project Addresses It</a:t>
            </a:r>
          </a:p>
          <a:p>
            <a:pPr lvl="0"/>
            <a:r>
              <a:rPr lang="en-IN" sz="2000" b="1" dirty="0">
                <a:latin typeface="Times New Roman" panose="02020603050405020304" pitchFamily="18" charset="0"/>
                <a:cs typeface="Times New Roman" panose="02020603050405020304" pitchFamily="18" charset="0"/>
              </a:rPr>
              <a:t>Automated Pipeline:</a:t>
            </a:r>
            <a:r>
              <a:rPr lang="en-IN" sz="2000" dirty="0">
                <a:latin typeface="Times New Roman" panose="02020603050405020304" pitchFamily="18" charset="0"/>
                <a:cs typeface="Times New Roman" panose="02020603050405020304" pitchFamily="18" charset="0"/>
              </a:rPr>
              <a:t> Cleans and standardizes data end-to-end instead of manual correction.</a:t>
            </a:r>
          </a:p>
          <a:p>
            <a:pPr lvl="0"/>
            <a:r>
              <a:rPr lang="en-IN" sz="2000" b="1" dirty="0">
                <a:latin typeface="Times New Roman" panose="02020603050405020304" pitchFamily="18" charset="0"/>
                <a:cs typeface="Times New Roman" panose="02020603050405020304" pitchFamily="18" charset="0"/>
              </a:rPr>
              <a:t>Flexible Analytics:</a:t>
            </a:r>
            <a:r>
              <a:rPr lang="en-IN" sz="2000" dirty="0">
                <a:latin typeface="Times New Roman" panose="02020603050405020304" pitchFamily="18" charset="0"/>
                <a:cs typeface="Times New Roman" panose="02020603050405020304" pitchFamily="18" charset="0"/>
              </a:rPr>
              <a:t> NoSQL storage and a dashboard expose status and trend patterns directly.</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Problem Gap Identification</a:t>
            </a:r>
          </a:p>
        </p:txBody>
      </p:sp>
    </p:spTree>
    <p:extLst>
      <p:ext uri="{BB962C8B-B14F-4D97-AF65-F5344CB8AC3E}">
        <p14:creationId xmlns:p14="http://schemas.microsoft.com/office/powerpoint/2010/main" val="1245516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016758"/>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Automated Data Engineering Pipeline</a:t>
            </a:r>
          </a:p>
          <a:p>
            <a:pPr lvl="0"/>
            <a:r>
              <a:rPr lang="en-IN" sz="2000" b="1" dirty="0">
                <a:latin typeface="Times New Roman" panose="02020603050405020304" pitchFamily="18" charset="0"/>
                <a:cs typeface="Times New Roman" panose="02020603050405020304" pitchFamily="18" charset="0"/>
              </a:rPr>
              <a:t>End-to-End Automation:</a:t>
            </a:r>
            <a:r>
              <a:rPr lang="en-IN" sz="2000" dirty="0">
                <a:latin typeface="Times New Roman" panose="02020603050405020304" pitchFamily="18" charset="0"/>
                <a:cs typeface="Times New Roman" panose="02020603050405020304" pitchFamily="18" charset="0"/>
              </a:rPr>
              <a:t> Ingestion, cleaning, transformation, and storage run as one repeatable pipeline.</a:t>
            </a:r>
          </a:p>
          <a:p>
            <a:pPr lvl="0"/>
            <a:r>
              <a:rPr lang="en-IN" sz="2000" b="1" dirty="0">
                <a:latin typeface="Times New Roman" panose="02020603050405020304" pitchFamily="18" charset="0"/>
                <a:cs typeface="Times New Roman" panose="02020603050405020304" pitchFamily="18" charset="0"/>
              </a:rPr>
              <a:t>Feature Engineering:</a:t>
            </a:r>
            <a:r>
              <a:rPr lang="en-IN" sz="2000" dirty="0">
                <a:latin typeface="Times New Roman" panose="02020603050405020304" pitchFamily="18" charset="0"/>
                <a:cs typeface="Times New Roman" panose="02020603050405020304" pitchFamily="18" charset="0"/>
              </a:rPr>
              <a:t> Automatically derives useful fields such as appointment lead time from raw bookings.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NoSQL-First Design</a:t>
            </a:r>
          </a:p>
          <a:p>
            <a:pPr lvl="0"/>
            <a:r>
              <a:rPr lang="en-IN" sz="2000" b="1" dirty="0">
                <a:latin typeface="Times New Roman" panose="02020603050405020304" pitchFamily="18" charset="0"/>
                <a:cs typeface="Times New Roman" panose="02020603050405020304" pitchFamily="18" charset="0"/>
              </a:rPr>
              <a:t>Flexible Schema:</a:t>
            </a:r>
            <a:r>
              <a:rPr lang="en-IN" sz="2000" dirty="0">
                <a:latin typeface="Times New Roman" panose="02020603050405020304" pitchFamily="18" charset="0"/>
                <a:cs typeface="Times New Roman" panose="02020603050405020304" pitchFamily="18" charset="0"/>
              </a:rPr>
              <a:t> MongoDB collections embed related data for faster access than rigid relational tables.</a:t>
            </a:r>
          </a:p>
          <a:p>
            <a:pPr lvl="0"/>
            <a:r>
              <a:rPr lang="en-IN" sz="2000" b="1" dirty="0">
                <a:latin typeface="Times New Roman" panose="02020603050405020304" pitchFamily="18" charset="0"/>
                <a:cs typeface="Times New Roman" panose="02020603050405020304" pitchFamily="18" charset="0"/>
              </a:rPr>
              <a:t>Status Indexing:</a:t>
            </a:r>
            <a:r>
              <a:rPr lang="en-IN" sz="2000" dirty="0">
                <a:latin typeface="Times New Roman" panose="02020603050405020304" pitchFamily="18" charset="0"/>
                <a:cs typeface="Times New Roman" panose="02020603050405020304" pitchFamily="18" charset="0"/>
              </a:rPr>
              <a:t> Completed/Cancelled/No-Show fields are indexed for fast filtering and reporting.</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Interactive Analytics Dashboard</a:t>
            </a:r>
          </a:p>
          <a:p>
            <a:pPr lvl="0"/>
            <a:r>
              <a:rPr lang="en-IN" sz="2000" b="1" dirty="0">
                <a:latin typeface="Times New Roman" panose="02020603050405020304" pitchFamily="18" charset="0"/>
                <a:cs typeface="Times New Roman" panose="02020603050405020304" pitchFamily="18" charset="0"/>
              </a:rPr>
              <a:t>Streamlit Visualization:</a:t>
            </a:r>
            <a:r>
              <a:rPr lang="en-IN" sz="2000" dirty="0">
                <a:latin typeface="Times New Roman" panose="02020603050405020304" pitchFamily="18" charset="0"/>
                <a:cs typeface="Times New Roman" panose="02020603050405020304" pitchFamily="18" charset="0"/>
              </a:rPr>
              <a:t> Turns raw records into interactive charts for status and department-wise trends.</a:t>
            </a:r>
          </a:p>
          <a:p>
            <a:pPr lvl="0"/>
            <a:r>
              <a:rPr lang="en-IN" sz="2000" b="1" dirty="0">
                <a:latin typeface="Times New Roman" panose="02020603050405020304" pitchFamily="18" charset="0"/>
                <a:cs typeface="Times New Roman" panose="02020603050405020304" pitchFamily="18" charset="0"/>
              </a:rPr>
              <a:t>Built for Staff:</a:t>
            </a:r>
            <a:r>
              <a:rPr lang="en-IN" sz="2000" dirty="0">
                <a:latin typeface="Times New Roman" panose="02020603050405020304" pitchFamily="18" charset="0"/>
                <a:cs typeface="Times New Roman" panose="02020603050405020304" pitchFamily="18" charset="0"/>
              </a:rPr>
              <a:t> Designed for hospital staff and administrators, not just technical users.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Practical, Extensible Approach</a:t>
            </a:r>
          </a:p>
          <a:p>
            <a:pPr lvl="0"/>
            <a:r>
              <a:rPr lang="en-IN" sz="2000" b="1" dirty="0">
                <a:latin typeface="Times New Roman" panose="02020603050405020304" pitchFamily="18" charset="0"/>
                <a:cs typeface="Times New Roman" panose="02020603050405020304" pitchFamily="18" charset="0"/>
              </a:rPr>
              <a:t>Real-World Data Style:</a:t>
            </a:r>
            <a:r>
              <a:rPr lang="en-IN" sz="2000" dirty="0">
                <a:latin typeface="Times New Roman" panose="02020603050405020304" pitchFamily="18" charset="0"/>
                <a:cs typeface="Times New Roman" panose="02020603050405020304" pitchFamily="18" charset="0"/>
              </a:rPr>
              <a:t> Built and tested on realistic, messy appointment data rather than clean samples.</a:t>
            </a:r>
          </a:p>
          <a:p>
            <a:pPr lvl="0"/>
            <a:r>
              <a:rPr lang="en-IN" sz="2000" b="1" dirty="0">
                <a:latin typeface="Times New Roman" panose="02020603050405020304" pitchFamily="18" charset="0"/>
                <a:cs typeface="Times New Roman" panose="02020603050405020304" pitchFamily="18" charset="0"/>
              </a:rPr>
              <a:t>Room to Grow:</a:t>
            </a:r>
            <a:r>
              <a:rPr lang="en-IN" sz="2000" dirty="0">
                <a:latin typeface="Times New Roman" panose="02020603050405020304" pitchFamily="18" charset="0"/>
                <a:cs typeface="Times New Roman" panose="02020603050405020304" pitchFamily="18" charset="0"/>
              </a:rPr>
              <a:t> The modular design allows new data sources or predictive features to be added later.</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Innovation, Creativity, and Novelty</a:t>
            </a:r>
          </a:p>
        </p:txBody>
      </p:sp>
    </p:spTree>
    <p:extLst>
      <p:ext uri="{BB962C8B-B14F-4D97-AF65-F5344CB8AC3E}">
        <p14:creationId xmlns:p14="http://schemas.microsoft.com/office/powerpoint/2010/main" val="1245516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016758"/>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Technical Feasibility</a:t>
            </a:r>
          </a:p>
          <a:p>
            <a:pPr lvl="0"/>
            <a:r>
              <a:rPr lang="en-IN" sz="2000" b="1" dirty="0">
                <a:latin typeface="Times New Roman" panose="02020603050405020304" pitchFamily="18" charset="0"/>
                <a:cs typeface="Times New Roman" panose="02020603050405020304" pitchFamily="18" charset="0"/>
              </a:rPr>
              <a:t>Proven Stack:</a:t>
            </a:r>
            <a:r>
              <a:rPr lang="en-IN" sz="2000" dirty="0">
                <a:latin typeface="Times New Roman" panose="02020603050405020304" pitchFamily="18" charset="0"/>
                <a:cs typeface="Times New Roman" panose="02020603050405020304" pitchFamily="18" charset="0"/>
              </a:rPr>
              <a:t> Python, Pandas, MongoDB, and Streamlit are mature, well-documented, and free to use.</a:t>
            </a:r>
          </a:p>
          <a:p>
            <a:pPr lvl="0"/>
            <a:r>
              <a:rPr lang="en-IN" sz="2000" b="1" dirty="0">
                <a:latin typeface="Times New Roman" panose="02020603050405020304" pitchFamily="18" charset="0"/>
                <a:cs typeface="Times New Roman" panose="02020603050405020304" pitchFamily="18" charset="0"/>
              </a:rPr>
              <a:t>Team Skillset:</a:t>
            </a:r>
            <a:r>
              <a:rPr lang="en-IN" sz="2000" dirty="0">
                <a:latin typeface="Times New Roman" panose="02020603050405020304" pitchFamily="18" charset="0"/>
                <a:cs typeface="Times New Roman" panose="02020603050405020304" pitchFamily="18" charset="0"/>
              </a:rPr>
              <a:t> The team has hands-on experience with Python scripting and NoSQL databases.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Data Feasibility</a:t>
            </a:r>
          </a:p>
          <a:p>
            <a:pPr lvl="0"/>
            <a:r>
              <a:rPr lang="en-IN" sz="2000" b="1" dirty="0">
                <a:latin typeface="Times New Roman" panose="02020603050405020304" pitchFamily="18" charset="0"/>
                <a:cs typeface="Times New Roman" panose="02020603050405020304" pitchFamily="18" charset="0"/>
              </a:rPr>
              <a:t>Available Formats:</a:t>
            </a:r>
            <a:r>
              <a:rPr lang="en-IN" sz="2000" dirty="0">
                <a:latin typeface="Times New Roman" panose="02020603050405020304" pitchFamily="18" charset="0"/>
                <a:cs typeface="Times New Roman" panose="02020603050405020304" pitchFamily="18" charset="0"/>
              </a:rPr>
              <a:t> Hospital appointment data in CSV/JSON form is realistic and easy to source or simulate.</a:t>
            </a:r>
          </a:p>
          <a:p>
            <a:pPr lvl="0"/>
            <a:r>
              <a:rPr lang="en-IN" sz="2000" b="1" dirty="0">
                <a:latin typeface="Times New Roman" panose="02020603050405020304" pitchFamily="18" charset="0"/>
                <a:cs typeface="Times New Roman" panose="02020603050405020304" pitchFamily="18" charset="0"/>
              </a:rPr>
              <a:t>Manageable Scale:</a:t>
            </a:r>
            <a:r>
              <a:rPr lang="en-IN" sz="2000" dirty="0">
                <a:latin typeface="Times New Roman" panose="02020603050405020304" pitchFamily="18" charset="0"/>
                <a:cs typeface="Times New Roman" panose="02020603050405020304" pitchFamily="18" charset="0"/>
              </a:rPr>
              <a:t> Dataset size suits a single-machine pipeline without specialized infrastructure.</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Operational Feasibility</a:t>
            </a:r>
          </a:p>
          <a:p>
            <a:pPr lvl="0"/>
            <a:r>
              <a:rPr lang="en-IN" sz="2000" b="1" dirty="0">
                <a:latin typeface="Times New Roman" panose="02020603050405020304" pitchFamily="18" charset="0"/>
                <a:cs typeface="Times New Roman" panose="02020603050405020304" pitchFamily="18" charset="0"/>
              </a:rPr>
              <a:t>Low Setup Cost:</a:t>
            </a:r>
            <a:r>
              <a:rPr lang="en-IN" sz="2000" dirty="0">
                <a:latin typeface="Times New Roman" panose="02020603050405020304" pitchFamily="18" charset="0"/>
                <a:cs typeface="Times New Roman" panose="02020603050405020304" pitchFamily="18" charset="0"/>
              </a:rPr>
              <a:t> All tools used are open-source, needing no paid licenses or dedicated servers.</a:t>
            </a:r>
          </a:p>
          <a:p>
            <a:pPr lvl="0"/>
            <a:r>
              <a:rPr lang="en-IN" sz="2000" b="1" dirty="0">
                <a:latin typeface="Times New Roman" panose="02020603050405020304" pitchFamily="18" charset="0"/>
                <a:cs typeface="Times New Roman" panose="02020603050405020304" pitchFamily="18" charset="0"/>
              </a:rPr>
              <a:t>Clear Ownership:</a:t>
            </a:r>
            <a:r>
              <a:rPr lang="en-IN" sz="2000" dirty="0">
                <a:latin typeface="Times New Roman" panose="02020603050405020304" pitchFamily="18" charset="0"/>
                <a:cs typeface="Times New Roman" panose="02020603050405020304" pitchFamily="18" charset="0"/>
              </a:rPr>
              <a:t> Each pipeline stage — ingest, clean, store, visualize — is a distinct, testable module.</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Project Plan</a:t>
            </a:r>
          </a:p>
          <a:p>
            <a:pPr lvl="0"/>
            <a:r>
              <a:rPr lang="en-IN" sz="2000" b="1" dirty="0">
                <a:latin typeface="Times New Roman" panose="02020603050405020304" pitchFamily="18" charset="0"/>
                <a:cs typeface="Times New Roman" panose="02020603050405020304" pitchFamily="18" charset="0"/>
              </a:rPr>
              <a:t>Phase-wise Delivery:</a:t>
            </a:r>
            <a:r>
              <a:rPr lang="en-IN" sz="2000" dirty="0">
                <a:latin typeface="Times New Roman" panose="02020603050405020304" pitchFamily="18" charset="0"/>
                <a:cs typeface="Times New Roman" panose="02020603050405020304" pitchFamily="18" charset="0"/>
              </a:rPr>
              <a:t> Ingestion and cleaning were built first, then MongoDB storage, then the dashboard.</a:t>
            </a:r>
          </a:p>
          <a:p>
            <a:pPr lvl="0"/>
            <a:r>
              <a:rPr lang="en-IN" sz="2000" b="1" dirty="0">
                <a:latin typeface="Times New Roman" panose="02020603050405020304" pitchFamily="18" charset="0"/>
                <a:cs typeface="Times New Roman" panose="02020603050405020304" pitchFamily="18" charset="0"/>
              </a:rPr>
              <a:t>On Track for Review 3:</a:t>
            </a:r>
            <a:r>
              <a:rPr lang="en-IN" sz="2000" dirty="0">
                <a:latin typeface="Times New Roman" panose="02020603050405020304" pitchFamily="18" charset="0"/>
                <a:cs typeface="Times New Roman" panose="02020603050405020304" pitchFamily="18" charset="0"/>
              </a:rPr>
              <a:t> Core pipeline and dashboard are functional, with refinement and testing ongoing.</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Feasibility and Project Plan</a:t>
            </a:r>
          </a:p>
        </p:txBody>
      </p:sp>
    </p:spTree>
    <p:extLst>
      <p:ext uri="{BB962C8B-B14F-4D97-AF65-F5344CB8AC3E}">
        <p14:creationId xmlns:p14="http://schemas.microsoft.com/office/powerpoint/2010/main" val="124551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470898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Software Requirements</a:t>
            </a:r>
          </a:p>
          <a:p>
            <a:pPr lvl="0"/>
            <a:r>
              <a:rPr lang="en-IN" sz="2000" b="1" dirty="0">
                <a:latin typeface="Times New Roman" panose="02020603050405020304" pitchFamily="18" charset="0"/>
                <a:cs typeface="Times New Roman" panose="02020603050405020304" pitchFamily="18" charset="0"/>
              </a:rPr>
              <a:t>Languages &amp; Libraries:</a:t>
            </a:r>
            <a:r>
              <a:rPr lang="en-IN" sz="2000" dirty="0">
                <a:latin typeface="Times New Roman" panose="02020603050405020304" pitchFamily="18" charset="0"/>
                <a:cs typeface="Times New Roman" panose="02020603050405020304" pitchFamily="18" charset="0"/>
              </a:rPr>
              <a:t> Python, Pandas, PyMongo, Streamlit, and Plotly/Matplotlib.</a:t>
            </a:r>
          </a:p>
          <a:p>
            <a:pPr lvl="0"/>
            <a:r>
              <a:rPr lang="en-IN" sz="2000" b="1" dirty="0">
                <a:latin typeface="Times New Roman" panose="02020603050405020304" pitchFamily="18" charset="0"/>
                <a:cs typeface="Times New Roman" panose="02020603050405020304" pitchFamily="18" charset="0"/>
              </a:rPr>
              <a:t>Database &amp; Tools:</a:t>
            </a:r>
            <a:r>
              <a:rPr lang="en-IN" sz="2000" dirty="0">
                <a:latin typeface="Times New Roman" panose="02020603050405020304" pitchFamily="18" charset="0"/>
                <a:cs typeface="Times New Roman" panose="02020603050405020304" pitchFamily="18" charset="0"/>
              </a:rPr>
              <a:t> MongoDB, VS Code / Jupyter Notebook, and Git for version control.</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Hardware Requirements</a:t>
            </a:r>
          </a:p>
          <a:p>
            <a:pPr lvl="0"/>
            <a:r>
              <a:rPr lang="en-IN" sz="2000" b="1" dirty="0">
                <a:latin typeface="Times New Roman" panose="02020603050405020304" pitchFamily="18" charset="0"/>
                <a:cs typeface="Times New Roman" panose="02020603050405020304" pitchFamily="18" charset="0"/>
              </a:rPr>
              <a:t>Development Machine:</a:t>
            </a:r>
            <a:r>
              <a:rPr lang="en-IN" sz="2000" dirty="0">
                <a:latin typeface="Times New Roman" panose="02020603050405020304" pitchFamily="18" charset="0"/>
                <a:cs typeface="Times New Roman" panose="02020603050405020304" pitchFamily="18" charset="0"/>
              </a:rPr>
              <a:t> A standard laptop/PC (multi-core CPU, 8GB+ RAM) is sufficient for this dataset.</a:t>
            </a:r>
          </a:p>
          <a:p>
            <a:pPr lvl="0"/>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A local or cloud-hosted MongoDB instance for storing processed collections.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Functional Requirements</a:t>
            </a:r>
          </a:p>
          <a:p>
            <a:pPr lvl="0"/>
            <a:r>
              <a:rPr lang="en-IN" sz="2000" b="1" dirty="0">
                <a:latin typeface="Times New Roman" panose="02020603050405020304" pitchFamily="18" charset="0"/>
                <a:cs typeface="Times New Roman" panose="02020603050405020304" pitchFamily="18" charset="0"/>
              </a:rPr>
              <a:t>Core Operations:</a:t>
            </a:r>
            <a:r>
              <a:rPr lang="en-IN" sz="2000" dirty="0">
                <a:latin typeface="Times New Roman" panose="02020603050405020304" pitchFamily="18" charset="0"/>
                <a:cs typeface="Times New Roman" panose="02020603050405020304" pitchFamily="18" charset="0"/>
              </a:rPr>
              <a:t> Ingest, clean, store, and visualize hospital appointment data end-to-end.</a:t>
            </a:r>
          </a:p>
          <a:p>
            <a:pPr lvl="0"/>
            <a:r>
              <a:rPr lang="en-IN" sz="2000" b="1" dirty="0">
                <a:latin typeface="Times New Roman" panose="02020603050405020304" pitchFamily="18" charset="0"/>
                <a:cs typeface="Times New Roman" panose="02020603050405020304" pitchFamily="18" charset="0"/>
              </a:rPr>
              <a:t>Status Handling:</a:t>
            </a:r>
            <a:r>
              <a:rPr lang="en-IN" sz="2000" dirty="0">
                <a:latin typeface="Times New Roman" panose="02020603050405020304" pitchFamily="18" charset="0"/>
                <a:cs typeface="Times New Roman" panose="02020603050405020304" pitchFamily="18" charset="0"/>
              </a:rPr>
              <a:t> Correctly classify appointments as Completed, Cancelled, or No-Show.</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Non-Functional Requirements</a:t>
            </a:r>
          </a:p>
          <a:p>
            <a:pPr lvl="0"/>
            <a:r>
              <a:rPr lang="en-IN" sz="2000" b="1" dirty="0">
                <a:latin typeface="Times New Roman" panose="02020603050405020304" pitchFamily="18" charset="0"/>
                <a:cs typeface="Times New Roman" panose="02020603050405020304" pitchFamily="18" charset="0"/>
              </a:rPr>
              <a:t>Performance:</a:t>
            </a:r>
            <a:r>
              <a:rPr lang="en-IN" sz="2000" dirty="0">
                <a:latin typeface="Times New Roman" panose="02020603050405020304" pitchFamily="18" charset="0"/>
                <a:cs typeface="Times New Roman" panose="02020603050405020304" pitchFamily="18" charset="0"/>
              </a:rPr>
              <a:t> Queries and dashboard updates should return results without noticeable delay.</a:t>
            </a:r>
          </a:p>
          <a:p>
            <a:pPr lvl="0"/>
            <a:r>
              <a:rPr lang="en-IN" sz="2000" b="1" dirty="0">
                <a:latin typeface="Times New Roman" panose="02020603050405020304" pitchFamily="18" charset="0"/>
                <a:cs typeface="Times New Roman" panose="02020603050405020304" pitchFamily="18" charset="0"/>
              </a:rPr>
              <a:t>Usability:</a:t>
            </a:r>
            <a:r>
              <a:rPr lang="en-IN" sz="2000" dirty="0">
                <a:latin typeface="Times New Roman" panose="02020603050405020304" pitchFamily="18" charset="0"/>
                <a:cs typeface="Times New Roman" panose="02020603050405020304" pitchFamily="18" charset="0"/>
              </a:rPr>
              <a:t> Reports and charts should be understandable to non-technical hospital staff.</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Requirements</a:t>
            </a:r>
          </a:p>
        </p:txBody>
      </p:sp>
    </p:spTree>
    <p:extLst>
      <p:ext uri="{BB962C8B-B14F-4D97-AF65-F5344CB8AC3E}">
        <p14:creationId xmlns:p14="http://schemas.microsoft.com/office/powerpoint/2010/main" val="1245516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03C3C6-99D0-9AB1-969E-C52F7AF0070F}"/>
              </a:ext>
            </a:extLst>
          </p:cNvPr>
          <p:cNvPicPr>
            <a:picLocks noChangeAspect="1"/>
          </p:cNvPicPr>
          <p:nvPr/>
        </p:nvPicPr>
        <p:blipFill>
          <a:blip r:embed="rId2"/>
          <a:stretch>
            <a:fillRect/>
          </a:stretch>
        </p:blipFill>
        <p:spPr>
          <a:xfrm>
            <a:off x="471340" y="15476"/>
            <a:ext cx="11274819" cy="6842524"/>
          </a:xfrm>
          <a:prstGeom prst="rect">
            <a:avLst/>
          </a:prstGeom>
        </p:spPr>
      </p:pic>
    </p:spTree>
    <p:extLst>
      <p:ext uri="{BB962C8B-B14F-4D97-AF65-F5344CB8AC3E}">
        <p14:creationId xmlns:p14="http://schemas.microsoft.com/office/powerpoint/2010/main" val="2628872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632311"/>
          </a:xfrm>
          <a:prstGeom prst="rect">
            <a:avLst/>
          </a:prstGeom>
          <a:noFill/>
        </p:spPr>
        <p:txBody>
          <a:bodyPr wrap="square" rtlCol="0">
            <a:spAutoFit/>
          </a:bodyPr>
          <a:lstStyle/>
          <a:p>
            <a:r>
              <a:rPr lang="en-IN" b="1" dirty="0"/>
              <a:t>1. Data Ingestion Layer (Raw Inputs)</a:t>
            </a:r>
          </a:p>
          <a:p>
            <a:pPr lvl="0"/>
            <a:r>
              <a:rPr lang="en-IN" b="1" dirty="0"/>
              <a:t>Source Data:</a:t>
            </a:r>
            <a:r>
              <a:rPr lang="en-IN" dirty="0"/>
              <a:t> Raw, unorganized hospital files (CSV/JSON format)</a:t>
            </a:r>
          </a:p>
          <a:p>
            <a:pPr lvl="0"/>
            <a:r>
              <a:rPr lang="en-IN" b="1" dirty="0"/>
              <a:t>Contents:</a:t>
            </a:r>
            <a:r>
              <a:rPr lang="en-IN" dirty="0"/>
              <a:t> Messy records of appointment bookings, patient details, and doctor schedules</a:t>
            </a:r>
          </a:p>
          <a:p>
            <a:pPr lvl="0"/>
            <a:endParaRPr lang="en-IN" dirty="0"/>
          </a:p>
          <a:p>
            <a:r>
              <a:rPr lang="en-IN" b="1" dirty="0"/>
              <a:t>2. Data Transformation Layer (The Processing Engine)</a:t>
            </a:r>
          </a:p>
          <a:p>
            <a:pPr lvl="0"/>
            <a:r>
              <a:rPr lang="en-IN" b="1" dirty="0"/>
              <a:t>Data Cleaning:</a:t>
            </a:r>
            <a:r>
              <a:rPr lang="en-IN" dirty="0"/>
              <a:t> Python/SQL scripts automatically drop duplicate records and handle missing (null) values</a:t>
            </a:r>
          </a:p>
          <a:p>
            <a:pPr lvl="0"/>
            <a:r>
              <a:rPr lang="en-IN" b="1" dirty="0"/>
              <a:t>Standardisation:</a:t>
            </a:r>
            <a:r>
              <a:rPr lang="en-IN" dirty="0"/>
              <a:t> Converts conflicting date/time formats into a single, uniform standard</a:t>
            </a:r>
          </a:p>
          <a:p>
            <a:pPr lvl="0"/>
            <a:r>
              <a:rPr lang="en-IN" b="1" dirty="0"/>
              <a:t>Feature Engineering:</a:t>
            </a:r>
            <a:r>
              <a:rPr lang="en-IN" dirty="0"/>
              <a:t> Automatically calculates the Lead Time (days between booking date and appointment date)</a:t>
            </a:r>
          </a:p>
          <a:p>
            <a:pPr lvl="0"/>
            <a:endParaRPr lang="en-IN" dirty="0"/>
          </a:p>
          <a:p>
            <a:r>
              <a:rPr lang="en-IN" b="1" dirty="0"/>
              <a:t>3. Storage Layer (The Clean Database) </a:t>
            </a:r>
          </a:p>
          <a:p>
            <a:pPr lvl="0"/>
            <a:r>
              <a:rPr lang="en-IN" b="1" dirty="0"/>
              <a:t>Structured Storage:</a:t>
            </a:r>
            <a:r>
              <a:rPr lang="en-IN" dirty="0"/>
              <a:t> Cleaned data is saved into a </a:t>
            </a:r>
            <a:r>
              <a:rPr lang="en-IN" b="1" dirty="0"/>
              <a:t>NoSQL database (MongoDB)</a:t>
            </a:r>
            <a:r>
              <a:rPr lang="en-IN" dirty="0"/>
              <a:t> instead of a relational store</a:t>
            </a:r>
          </a:p>
          <a:p>
            <a:pPr lvl="0"/>
            <a:r>
              <a:rPr lang="en-IN" b="1" dirty="0"/>
              <a:t>Schema Design:</a:t>
            </a:r>
            <a:r>
              <a:rPr lang="en-IN" dirty="0"/>
              <a:t> Data is organized into </a:t>
            </a:r>
            <a:r>
              <a:rPr lang="en-IN" b="1" dirty="0"/>
              <a:t>collections</a:t>
            </a:r>
            <a:r>
              <a:rPr lang="en-IN" dirty="0"/>
              <a:t> — </a:t>
            </a:r>
            <a:r>
              <a:rPr lang="en-IN" sz="1400" dirty="0"/>
              <a:t>Patients</a:t>
            </a:r>
            <a:r>
              <a:rPr lang="en-IN" dirty="0"/>
              <a:t>, </a:t>
            </a:r>
            <a:r>
              <a:rPr lang="en-IN" sz="1400" dirty="0"/>
              <a:t>Doctors</a:t>
            </a:r>
            <a:r>
              <a:rPr lang="en-IN" dirty="0"/>
              <a:t>, and </a:t>
            </a:r>
            <a:r>
              <a:rPr lang="en-IN" sz="1400" dirty="0"/>
              <a:t>Appointments</a:t>
            </a:r>
            <a:r>
              <a:rPr lang="en-IN" dirty="0"/>
              <a:t> — instead of relational tables, using embedded/document structures for fast, flexible querying (e.g., a Patient document can embed their recent appointment history directly, reducing joins)</a:t>
            </a:r>
          </a:p>
          <a:p>
            <a:pPr lvl="0"/>
            <a:endParaRPr lang="en-IN" dirty="0"/>
          </a:p>
          <a:p>
            <a:r>
              <a:rPr lang="en-IN" b="1" dirty="0"/>
              <a:t>4. Analytical Output Layer (The Final View)</a:t>
            </a:r>
          </a:p>
          <a:p>
            <a:pPr lvl="0"/>
            <a:r>
              <a:rPr lang="en-IN" b="1" dirty="0"/>
              <a:t>Status Classification:</a:t>
            </a:r>
            <a:r>
              <a:rPr lang="en-IN" dirty="0"/>
              <a:t> Organizes records into indexed status fields — </a:t>
            </a:r>
            <a:r>
              <a:rPr lang="en-IN" sz="1400" dirty="0"/>
              <a:t>Completed</a:t>
            </a:r>
            <a:r>
              <a:rPr lang="en-IN" dirty="0"/>
              <a:t>, </a:t>
            </a:r>
            <a:r>
              <a:rPr lang="en-IN" sz="1400" dirty="0"/>
              <a:t>Cancelled</a:t>
            </a:r>
            <a:r>
              <a:rPr lang="en-IN" dirty="0"/>
              <a:t>, </a:t>
            </a:r>
            <a:r>
              <a:rPr lang="en-IN" sz="1400" dirty="0"/>
              <a:t>No-Show</a:t>
            </a:r>
            <a:r>
              <a:rPr lang="en-IN" dirty="0"/>
              <a:t> (MongoDB supports single-field and compound indexes on these directly within documents)</a:t>
            </a:r>
          </a:p>
          <a:p>
            <a:pPr lvl="0"/>
            <a:r>
              <a:rPr lang="en-IN" b="1" dirty="0"/>
              <a:t>Business Intelligence Ready:</a:t>
            </a:r>
            <a:r>
              <a:rPr lang="en-IN" dirty="0"/>
              <a:t> Delivers clean, structured datasets ready for tracking monthly trends, department vacancies, and doctor cancellation rates</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Hospital Appointment Data Pipeline Architecture</a:t>
            </a:r>
          </a:p>
        </p:txBody>
      </p:sp>
    </p:spTree>
    <p:extLst>
      <p:ext uri="{BB962C8B-B14F-4D97-AF65-F5344CB8AC3E}">
        <p14:creationId xmlns:p14="http://schemas.microsoft.com/office/powerpoint/2010/main" val="1245516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075332-1D7A-82B8-C807-655AE434864E}"/>
              </a:ext>
            </a:extLst>
          </p:cNvPr>
          <p:cNvPicPr>
            <a:picLocks noChangeAspect="1"/>
          </p:cNvPicPr>
          <p:nvPr/>
        </p:nvPicPr>
        <p:blipFill>
          <a:blip r:embed="rId2"/>
          <a:stretch>
            <a:fillRect/>
          </a:stretch>
        </p:blipFill>
        <p:spPr>
          <a:xfrm>
            <a:off x="511230" y="0"/>
            <a:ext cx="11169540" cy="6858000"/>
          </a:xfrm>
          <a:prstGeom prst="rect">
            <a:avLst/>
          </a:prstGeom>
        </p:spPr>
      </p:pic>
    </p:spTree>
    <p:extLst>
      <p:ext uri="{BB962C8B-B14F-4D97-AF65-F5344CB8AC3E}">
        <p14:creationId xmlns:p14="http://schemas.microsoft.com/office/powerpoint/2010/main" val="3655870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632311"/>
          </a:xfrm>
          <a:prstGeom prst="rect">
            <a:avLst/>
          </a:prstGeom>
          <a:noFill/>
        </p:spPr>
        <p:txBody>
          <a:bodyPr wrap="square" rtlCol="0">
            <a:spAutoFit/>
          </a:bodyPr>
          <a:lstStyle/>
          <a:p>
            <a:r>
              <a:rPr lang="en-IN" b="1" dirty="0"/>
              <a:t>1. Data Ingestion Module</a:t>
            </a:r>
          </a:p>
          <a:p>
            <a:pPr lvl="0"/>
            <a:r>
              <a:rPr lang="en-IN" b="1" dirty="0"/>
              <a:t>Function:</a:t>
            </a:r>
            <a:r>
              <a:rPr lang="en-IN" dirty="0"/>
              <a:t> Reads raw appointment records from CSV/JSON files using Python and Pandas.</a:t>
            </a:r>
          </a:p>
          <a:p>
            <a:pPr lvl="0"/>
            <a:r>
              <a:rPr lang="en-IN" b="1" dirty="0"/>
              <a:t>Validation:</a:t>
            </a:r>
            <a:r>
              <a:rPr lang="en-IN" dirty="0"/>
              <a:t> Checks file structure and loads records into memory for further processing.</a:t>
            </a:r>
          </a:p>
          <a:p>
            <a:pPr lvl="0"/>
            <a:endParaRPr lang="en-IN" dirty="0"/>
          </a:p>
          <a:p>
            <a:r>
              <a:rPr lang="en-IN" b="1" dirty="0"/>
              <a:t>2. Data Cleaning &amp; Transformation Module</a:t>
            </a:r>
          </a:p>
          <a:p>
            <a:pPr lvl="0"/>
            <a:r>
              <a:rPr lang="en-IN" b="1" dirty="0"/>
              <a:t>Cleaning:</a:t>
            </a:r>
            <a:r>
              <a:rPr lang="en-IN" dirty="0"/>
              <a:t> Uses Pandas functions such as drop_duplicates and fillna to remove duplicate records and handle missing values.</a:t>
            </a:r>
          </a:p>
          <a:p>
            <a:pPr lvl="0"/>
            <a:r>
              <a:rPr lang="en-IN" b="1" dirty="0"/>
              <a:t>Standardisation:</a:t>
            </a:r>
            <a:r>
              <a:rPr lang="en-IN" dirty="0"/>
              <a:t> Converts inconsistent date/time formats into a single uniform standard and computes appointment lead time.</a:t>
            </a:r>
          </a:p>
          <a:p>
            <a:pPr lvl="0"/>
            <a:endParaRPr lang="en-IN" dirty="0"/>
          </a:p>
          <a:p>
            <a:r>
              <a:rPr lang="en-IN" b="1" dirty="0"/>
              <a:t>3. Storage Module</a:t>
            </a:r>
          </a:p>
          <a:p>
            <a:pPr lvl="0"/>
            <a:r>
              <a:rPr lang="en-IN" b="1" dirty="0"/>
              <a:t>Connection:</a:t>
            </a:r>
            <a:r>
              <a:rPr lang="en-IN" dirty="0"/>
              <a:t> Uses PyMongo to connect the pipeline to MongoDB and write cleaned records into the database.</a:t>
            </a:r>
          </a:p>
          <a:p>
            <a:pPr lvl="0"/>
            <a:r>
              <a:rPr lang="en-IN" b="1" dirty="0"/>
              <a:t>Schema:</a:t>
            </a:r>
            <a:r>
              <a:rPr lang="en-IN" dirty="0"/>
              <a:t> Organizes data into Patients, Doctors, and Appointments collections with indexes on status fields for faster queries.</a:t>
            </a:r>
          </a:p>
          <a:p>
            <a:pPr lvl="0"/>
            <a:endParaRPr lang="en-IN" dirty="0"/>
          </a:p>
          <a:p>
            <a:r>
              <a:rPr lang="en-IN" b="1" dirty="0"/>
              <a:t>4. Analytics &amp; Dashboard Module</a:t>
            </a:r>
          </a:p>
          <a:p>
            <a:pPr lvl="0"/>
            <a:r>
              <a:rPr lang="en-IN" b="1" dirty="0"/>
              <a:t>Aggregation:</a:t>
            </a:r>
            <a:r>
              <a:rPr lang="en-IN" dirty="0"/>
              <a:t> Runs MongoDB queries to compute department-wise, doctor-wise, and monthly appointment statistics.</a:t>
            </a:r>
          </a:p>
          <a:p>
            <a:pPr lvl="0"/>
            <a:r>
              <a:rPr lang="en-IN" b="1" dirty="0"/>
              <a:t>Visualization:</a:t>
            </a:r>
            <a:r>
              <a:rPr lang="en-IN" dirty="0"/>
              <a:t> Displays the results as interactive charts and tables through a Streamlit dashboard.</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Modules and Implementation</a:t>
            </a:r>
          </a:p>
        </p:txBody>
      </p:sp>
    </p:spTree>
    <p:extLst>
      <p:ext uri="{BB962C8B-B14F-4D97-AF65-F5344CB8AC3E}">
        <p14:creationId xmlns:p14="http://schemas.microsoft.com/office/powerpoint/2010/main" val="1245516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632311"/>
          </a:xfrm>
          <a:prstGeom prst="rect">
            <a:avLst/>
          </a:prstGeom>
          <a:noFill/>
        </p:spPr>
        <p:txBody>
          <a:bodyPr wrap="square" rtlCol="0">
            <a:spAutoFit/>
          </a:bodyPr>
          <a:lstStyle/>
          <a:p>
            <a:r>
              <a:rPr lang="en-IN" b="1" dirty="0"/>
              <a:t>1. Programming &amp; Data Processing</a:t>
            </a:r>
          </a:p>
          <a:p>
            <a:pPr lvl="0"/>
            <a:r>
              <a:rPr lang="en-IN" b="1" dirty="0"/>
              <a:t>Python:</a:t>
            </a:r>
            <a:r>
              <a:rPr lang="en-IN" dirty="0"/>
              <a:t> Core language used to build the ETL pipeline and data-processing logic.</a:t>
            </a:r>
          </a:p>
          <a:p>
            <a:pPr lvl="0"/>
            <a:r>
              <a:rPr lang="en-IN" b="1" dirty="0"/>
              <a:t>Pandas:</a:t>
            </a:r>
            <a:r>
              <a:rPr lang="en-IN" dirty="0"/>
              <a:t> Cleans, transforms, and standardizes raw appointment records.</a:t>
            </a:r>
          </a:p>
          <a:p>
            <a:pPr lvl="0"/>
            <a:endParaRPr lang="en-IN" dirty="0"/>
          </a:p>
          <a:p>
            <a:r>
              <a:rPr lang="en-IN" b="1" dirty="0"/>
              <a:t>2. Database</a:t>
            </a:r>
          </a:p>
          <a:p>
            <a:pPr lvl="0"/>
            <a:r>
              <a:rPr lang="en-IN" b="1" dirty="0"/>
              <a:t>MongoDB:</a:t>
            </a:r>
            <a:r>
              <a:rPr lang="en-IN" dirty="0"/>
              <a:t> NoSQL database used to store Patients, Doctors, and Appointments as documents.</a:t>
            </a:r>
          </a:p>
          <a:p>
            <a:pPr lvl="0"/>
            <a:r>
              <a:rPr lang="en-IN" b="1" dirty="0"/>
              <a:t>PyMongo:</a:t>
            </a:r>
            <a:r>
              <a:rPr lang="en-IN" dirty="0"/>
              <a:t> Python driver used to connect the pipeline to the MongoDB database.</a:t>
            </a:r>
          </a:p>
          <a:p>
            <a:pPr lvl="0"/>
            <a:endParaRPr lang="en-IN" dirty="0"/>
          </a:p>
          <a:p>
            <a:r>
              <a:rPr lang="en-IN" b="1" dirty="0"/>
              <a:t>3. Visualization &amp; Dashboard</a:t>
            </a:r>
          </a:p>
          <a:p>
            <a:pPr lvl="0"/>
            <a:r>
              <a:rPr lang="en-IN" b="1" dirty="0"/>
              <a:t>Streamlit:</a:t>
            </a:r>
            <a:r>
              <a:rPr lang="en-IN" dirty="0"/>
              <a:t> Builds the interactive web dashboard used for appointment analytics.</a:t>
            </a:r>
          </a:p>
          <a:p>
            <a:pPr lvl="0"/>
            <a:r>
              <a:rPr lang="en-IN" b="1" dirty="0"/>
              <a:t>Plotly / Matplotlib:</a:t>
            </a:r>
            <a:r>
              <a:rPr lang="en-IN" dirty="0"/>
              <a:t> Generates charts for status, department-wise, and monthly trend visualizations.</a:t>
            </a:r>
          </a:p>
          <a:p>
            <a:pPr lvl="0"/>
            <a:endParaRPr lang="en-IN" dirty="0"/>
          </a:p>
          <a:p>
            <a:r>
              <a:rPr lang="en-IN" b="1" dirty="0"/>
              <a:t>4. Development Environment</a:t>
            </a:r>
          </a:p>
          <a:p>
            <a:pPr lvl="0"/>
            <a:r>
              <a:rPr lang="en-IN" b="1" dirty="0"/>
              <a:t>VS Code / Jupyter Notebook:</a:t>
            </a:r>
            <a:r>
              <a:rPr lang="en-IN" dirty="0"/>
              <a:t> Used to write and test the pipeline scripts.</a:t>
            </a:r>
          </a:p>
          <a:p>
            <a:pPr lvl="0"/>
            <a:r>
              <a:rPr lang="en-IN" b="1" dirty="0"/>
              <a:t>Git:</a:t>
            </a:r>
            <a:r>
              <a:rPr lang="en-IN" dirty="0"/>
              <a:t> Used for version control and collaboration among team members.</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Tools and Technologies Used</a:t>
            </a:r>
          </a:p>
        </p:txBody>
      </p:sp>
    </p:spTree>
    <p:extLst>
      <p:ext uri="{BB962C8B-B14F-4D97-AF65-F5344CB8AC3E}">
        <p14:creationId xmlns:p14="http://schemas.microsoft.com/office/powerpoint/2010/main" val="1245516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B42103-EDEB-8D6E-F162-7D69ABC02B25}"/>
              </a:ext>
            </a:extLst>
          </p:cNvPr>
          <p:cNvPicPr>
            <a:picLocks noChangeAspect="1"/>
          </p:cNvPicPr>
          <p:nvPr/>
        </p:nvPicPr>
        <p:blipFill>
          <a:blip r:embed="rId2">
            <a:extLst>
              <a:ext uri="{28A0092B-C50C-407E-A947-70E740481C1C}">
                <a14:useLocalDpi xmlns:a14="http://schemas.microsoft.com/office/drawing/2010/main" val="0"/>
              </a:ext>
            </a:extLst>
          </a:blip>
          <a:srcRect r="40958"/>
          <a:stretch>
            <a:fillRect/>
          </a:stretch>
        </p:blipFill>
        <p:spPr>
          <a:xfrm>
            <a:off x="553222" y="496491"/>
            <a:ext cx="3406036" cy="2225233"/>
          </a:xfrm>
          <a:prstGeom prst="rect">
            <a:avLst/>
          </a:prstGeom>
        </p:spPr>
      </p:pic>
      <p:pic>
        <p:nvPicPr>
          <p:cNvPr id="7" name="Picture 6">
            <a:extLst>
              <a:ext uri="{FF2B5EF4-FFF2-40B4-BE49-F238E27FC236}">
                <a16:creationId xmlns:a16="http://schemas.microsoft.com/office/drawing/2014/main" id="{845C46F8-73AB-58D2-C0AC-F71BC65D8343}"/>
              </a:ext>
            </a:extLst>
          </p:cNvPr>
          <p:cNvPicPr>
            <a:picLocks noChangeAspect="1"/>
          </p:cNvPicPr>
          <p:nvPr/>
        </p:nvPicPr>
        <p:blipFill>
          <a:blip r:embed="rId3"/>
          <a:srcRect l="-268" r="8863" b="15571"/>
          <a:stretch>
            <a:fillRect/>
          </a:stretch>
        </p:blipFill>
        <p:spPr>
          <a:xfrm>
            <a:off x="5390280" y="70920"/>
            <a:ext cx="6432040" cy="2896639"/>
          </a:xfrm>
          <a:prstGeom prst="rect">
            <a:avLst/>
          </a:prstGeom>
        </p:spPr>
      </p:pic>
      <p:pic>
        <p:nvPicPr>
          <p:cNvPr id="9" name="Picture 8">
            <a:extLst>
              <a:ext uri="{FF2B5EF4-FFF2-40B4-BE49-F238E27FC236}">
                <a16:creationId xmlns:a16="http://schemas.microsoft.com/office/drawing/2014/main" id="{F7E4A17A-4446-6EA4-D8F2-9DF255BE9B5E}"/>
              </a:ext>
            </a:extLst>
          </p:cNvPr>
          <p:cNvPicPr>
            <a:picLocks noChangeAspect="1"/>
          </p:cNvPicPr>
          <p:nvPr/>
        </p:nvPicPr>
        <p:blipFill>
          <a:blip r:embed="rId4"/>
          <a:srcRect r="55123"/>
          <a:stretch>
            <a:fillRect/>
          </a:stretch>
        </p:blipFill>
        <p:spPr>
          <a:xfrm>
            <a:off x="232711" y="3622394"/>
            <a:ext cx="4603240" cy="2339543"/>
          </a:xfrm>
          <a:prstGeom prst="rect">
            <a:avLst/>
          </a:prstGeom>
        </p:spPr>
      </p:pic>
      <p:pic>
        <p:nvPicPr>
          <p:cNvPr id="11" name="Picture 10">
            <a:extLst>
              <a:ext uri="{FF2B5EF4-FFF2-40B4-BE49-F238E27FC236}">
                <a16:creationId xmlns:a16="http://schemas.microsoft.com/office/drawing/2014/main" id="{7609DDB2-C218-DF58-2D1C-322CD42F1CA8}"/>
              </a:ext>
            </a:extLst>
          </p:cNvPr>
          <p:cNvPicPr>
            <a:picLocks noChangeAspect="1"/>
          </p:cNvPicPr>
          <p:nvPr/>
        </p:nvPicPr>
        <p:blipFill>
          <a:blip r:embed="rId5"/>
          <a:stretch>
            <a:fillRect/>
          </a:stretch>
        </p:blipFill>
        <p:spPr>
          <a:xfrm>
            <a:off x="5390280" y="3572884"/>
            <a:ext cx="6569009" cy="2591025"/>
          </a:xfrm>
          <a:prstGeom prst="rect">
            <a:avLst/>
          </a:prstGeom>
        </p:spPr>
      </p:pic>
      <p:sp>
        <p:nvSpPr>
          <p:cNvPr id="13" name="TextBox 12">
            <a:extLst>
              <a:ext uri="{FF2B5EF4-FFF2-40B4-BE49-F238E27FC236}">
                <a16:creationId xmlns:a16="http://schemas.microsoft.com/office/drawing/2014/main" id="{3AEDD104-31BF-BFC7-BC83-975046F5D472}"/>
              </a:ext>
            </a:extLst>
          </p:cNvPr>
          <p:cNvSpPr txBox="1"/>
          <p:nvPr/>
        </p:nvSpPr>
        <p:spPr>
          <a:xfrm>
            <a:off x="361360" y="3002782"/>
            <a:ext cx="6094428" cy="338554"/>
          </a:xfrm>
          <a:prstGeom prst="rect">
            <a:avLst/>
          </a:prstGeom>
          <a:noFill/>
        </p:spPr>
        <p:txBody>
          <a:bodyPr wrap="square">
            <a:spAutoFit/>
          </a:bodyPr>
          <a:lstStyle/>
          <a:p>
            <a:r>
              <a:rPr lang="en-IN" sz="1600" dirty="0"/>
              <a:t>Figure 1: Project Structure and Source Files</a:t>
            </a:r>
          </a:p>
        </p:txBody>
      </p:sp>
      <p:sp>
        <p:nvSpPr>
          <p:cNvPr id="15" name="TextBox 14">
            <a:extLst>
              <a:ext uri="{FF2B5EF4-FFF2-40B4-BE49-F238E27FC236}">
                <a16:creationId xmlns:a16="http://schemas.microsoft.com/office/drawing/2014/main" id="{8A3361B2-31E5-0B07-0BE6-DDD1139E87B8}"/>
              </a:ext>
            </a:extLst>
          </p:cNvPr>
          <p:cNvSpPr txBox="1"/>
          <p:nvPr/>
        </p:nvSpPr>
        <p:spPr>
          <a:xfrm>
            <a:off x="6214622" y="3007227"/>
            <a:ext cx="6094428" cy="369332"/>
          </a:xfrm>
          <a:prstGeom prst="rect">
            <a:avLst/>
          </a:prstGeom>
          <a:noFill/>
        </p:spPr>
        <p:txBody>
          <a:bodyPr wrap="square">
            <a:spAutoFit/>
          </a:bodyPr>
          <a:lstStyle/>
          <a:p>
            <a:r>
              <a:rPr lang="en-US" dirty="0"/>
              <a:t>Figure 2: Raw Hospital Appointment Dataset</a:t>
            </a:r>
            <a:endParaRPr lang="en-IN" dirty="0"/>
          </a:p>
        </p:txBody>
      </p:sp>
      <p:sp>
        <p:nvSpPr>
          <p:cNvPr id="17" name="TextBox 16">
            <a:extLst>
              <a:ext uri="{FF2B5EF4-FFF2-40B4-BE49-F238E27FC236}">
                <a16:creationId xmlns:a16="http://schemas.microsoft.com/office/drawing/2014/main" id="{83BF2CCF-9F7A-37AE-7558-846D817031A2}"/>
              </a:ext>
            </a:extLst>
          </p:cNvPr>
          <p:cNvSpPr txBox="1"/>
          <p:nvPr/>
        </p:nvSpPr>
        <p:spPr>
          <a:xfrm>
            <a:off x="-59702" y="6260301"/>
            <a:ext cx="6155702" cy="369332"/>
          </a:xfrm>
          <a:prstGeom prst="rect">
            <a:avLst/>
          </a:prstGeom>
          <a:noFill/>
        </p:spPr>
        <p:txBody>
          <a:bodyPr wrap="square">
            <a:spAutoFit/>
          </a:bodyPr>
          <a:lstStyle/>
          <a:p>
            <a:r>
              <a:rPr lang="en-US" dirty="0"/>
              <a:t>Figure 3: Successful Execution of Data Processing Pipeline</a:t>
            </a:r>
            <a:endParaRPr lang="en-IN" dirty="0"/>
          </a:p>
        </p:txBody>
      </p:sp>
      <p:sp>
        <p:nvSpPr>
          <p:cNvPr id="19" name="TextBox 18">
            <a:extLst>
              <a:ext uri="{FF2B5EF4-FFF2-40B4-BE49-F238E27FC236}">
                <a16:creationId xmlns:a16="http://schemas.microsoft.com/office/drawing/2014/main" id="{A0EEC857-04C1-9C59-D9B6-BEE768EC1518}"/>
              </a:ext>
            </a:extLst>
          </p:cNvPr>
          <p:cNvSpPr txBox="1"/>
          <p:nvPr/>
        </p:nvSpPr>
        <p:spPr>
          <a:xfrm>
            <a:off x="6301354" y="6243614"/>
            <a:ext cx="6212264" cy="369332"/>
          </a:xfrm>
          <a:prstGeom prst="rect">
            <a:avLst/>
          </a:prstGeom>
          <a:noFill/>
        </p:spPr>
        <p:txBody>
          <a:bodyPr wrap="square">
            <a:spAutoFit/>
          </a:bodyPr>
          <a:lstStyle/>
          <a:p>
            <a:r>
              <a:rPr lang="en-IN" dirty="0"/>
              <a:t>Figure 4: Processed Data Stored in MongoDB</a:t>
            </a:r>
          </a:p>
        </p:txBody>
      </p:sp>
    </p:spTree>
    <p:extLst>
      <p:ext uri="{BB962C8B-B14F-4D97-AF65-F5344CB8AC3E}">
        <p14:creationId xmlns:p14="http://schemas.microsoft.com/office/powerpoint/2010/main" val="1013910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0E2AE-7D18-7891-8DB3-46374E04DD74}"/>
              </a:ext>
            </a:extLst>
          </p:cNvPr>
          <p:cNvPicPr>
            <a:picLocks noChangeAspect="1"/>
          </p:cNvPicPr>
          <p:nvPr/>
        </p:nvPicPr>
        <p:blipFill>
          <a:blip r:embed="rId2"/>
          <a:stretch>
            <a:fillRect/>
          </a:stretch>
        </p:blipFill>
        <p:spPr>
          <a:xfrm>
            <a:off x="0" y="1113233"/>
            <a:ext cx="12192000" cy="5574213"/>
          </a:xfrm>
          <a:prstGeom prst="rect">
            <a:avLst/>
          </a:prstGeom>
        </p:spPr>
      </p:pic>
      <p:sp>
        <p:nvSpPr>
          <p:cNvPr id="5" name="TextBox 4">
            <a:extLst>
              <a:ext uri="{FF2B5EF4-FFF2-40B4-BE49-F238E27FC236}">
                <a16:creationId xmlns:a16="http://schemas.microsoft.com/office/drawing/2014/main" id="{F1D36E3D-0B76-A7A0-BFE7-A7705B1A4F91}"/>
              </a:ext>
            </a:extLst>
          </p:cNvPr>
          <p:cNvSpPr txBox="1"/>
          <p:nvPr/>
        </p:nvSpPr>
        <p:spPr>
          <a:xfrm>
            <a:off x="2237688" y="170554"/>
            <a:ext cx="7716624" cy="461665"/>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Streamlit dashboard for hospital appointment analysis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964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68181-208F-D10F-C6C9-E4A5FDAE4075}"/>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795480E9-A52E-1C84-BA76-B53A797ABBF1}"/>
              </a:ext>
            </a:extLst>
          </p:cNvPr>
          <p:cNvSpPr>
            <a:spLocks noGrp="1"/>
          </p:cNvSpPr>
          <p:nvPr>
            <p:ph idx="1"/>
          </p:nvPr>
        </p:nvSpPr>
        <p:spPr>
          <a:xfrm>
            <a:off x="1817914" y="2627312"/>
            <a:ext cx="9427029" cy="1603375"/>
          </a:xfrm>
        </p:spPr>
        <p:txBody>
          <a:bodyPr>
            <a:noAutofit/>
          </a:bodyPr>
          <a:lstStyle/>
          <a:p>
            <a:pPr marL="0" indent="0">
              <a:buNone/>
            </a:pPr>
            <a:r>
              <a:rPr lang="en-IN" sz="11000" dirty="0">
                <a:latin typeface="Times New Roman" panose="02020603050405020304" pitchFamily="18" charset="0"/>
                <a:cs typeface="Times New Roman" panose="02020603050405020304" pitchFamily="18" charset="0"/>
              </a:rPr>
              <a:t>THANK YOU</a:t>
            </a:r>
          </a:p>
        </p:txBody>
      </p:sp>
      <p:pic>
        <p:nvPicPr>
          <p:cNvPr id="5" name="Picture 4">
            <a:extLst>
              <a:ext uri="{FF2B5EF4-FFF2-40B4-BE49-F238E27FC236}">
                <a16:creationId xmlns:a16="http://schemas.microsoft.com/office/drawing/2014/main" id="{4AA8E39F-AD19-8583-8ADB-F2795A85A8D1}"/>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4191421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257</TotalTime>
  <Words>2402</Words>
  <Application>Microsoft Office PowerPoint</Application>
  <PresentationFormat>Widescreen</PresentationFormat>
  <Paragraphs>232</Paragraphs>
  <Slides>19</Slides>
  <Notes>1</Notes>
  <HiddenSlides>3</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Aptos</vt:lpstr>
      <vt:lpstr>Arial</vt:lpstr>
      <vt:lpstr>Arial Nova Light</vt:lpstr>
      <vt:lpstr>Calibri</vt:lpstr>
      <vt:lpstr>Calibri Light</vt:lpstr>
      <vt:lpstr>Times New Roman</vt:lpstr>
      <vt:lpstr>Office Theme</vt:lpstr>
      <vt:lpstr>Dark Gradient</vt:lpstr>
      <vt:lpstr>Hospital Appointment Data Pipeline</vt:lpstr>
      <vt:lpstr>Abstract</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Ramyasri Madini</dc:creator>
  <cp:lastModifiedBy>sanjay bhaargav</cp:lastModifiedBy>
  <cp:revision>12</cp:revision>
  <dcterms:created xsi:type="dcterms:W3CDTF">2026-08-14T04:59:55Z</dcterms:created>
  <dcterms:modified xsi:type="dcterms:W3CDTF">2026-09-18T05:07:37Z</dcterms:modified>
</cp:coreProperties>
</file>