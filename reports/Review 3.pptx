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2" r:id="rId2"/>
  </p:sldMasterIdLst>
  <p:notesMasterIdLst>
    <p:notesMasterId r:id="rId23"/>
  </p:notesMasterIdLst>
  <p:sldIdLst>
    <p:sldId id="256" r:id="rId3"/>
    <p:sldId id="259" r:id="rId4"/>
    <p:sldId id="257" r:id="rId5"/>
    <p:sldId id="266" r:id="rId6"/>
    <p:sldId id="261" r:id="rId7"/>
    <p:sldId id="279" r:id="rId8"/>
    <p:sldId id="262" r:id="rId9"/>
    <p:sldId id="263" r:id="rId10"/>
    <p:sldId id="272" r:id="rId11"/>
    <p:sldId id="273" r:id="rId12"/>
    <p:sldId id="274" r:id="rId13"/>
    <p:sldId id="275" r:id="rId14"/>
    <p:sldId id="276" r:id="rId15"/>
    <p:sldId id="264" r:id="rId16"/>
    <p:sldId id="265" r:id="rId17"/>
    <p:sldId id="267" r:id="rId18"/>
    <p:sldId id="268" r:id="rId19"/>
    <p:sldId id="277" r:id="rId20"/>
    <p:sldId id="278" r:id="rId21"/>
    <p:sldId id="2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94660"/>
  </p:normalViewPr>
  <p:slideViewPr>
    <p:cSldViewPr snapToGrid="0">
      <p:cViewPr varScale="1">
        <p:scale>
          <a:sx n="81" d="100"/>
          <a:sy n="81" d="100"/>
        </p:scale>
        <p:origin x="4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y bhaargav" userId="e8e84840154ce765" providerId="LiveId" clId="{FA00A53D-0D7A-40C6-A7E6-9596BBF7529A}"/>
    <pc:docChg chg="delSld modSld">
      <pc:chgData name="sanjay bhaargav" userId="e8e84840154ce765" providerId="LiveId" clId="{FA00A53D-0D7A-40C6-A7E6-9596BBF7529A}" dt="2026-09-17T07:47:07.967" v="15" actId="2696"/>
      <pc:docMkLst>
        <pc:docMk/>
      </pc:docMkLst>
      <pc:sldChg chg="modSp mod">
        <pc:chgData name="sanjay bhaargav" userId="e8e84840154ce765" providerId="LiveId" clId="{FA00A53D-0D7A-40C6-A7E6-9596BBF7529A}" dt="2026-09-17T07:45:37.888" v="4" actId="404"/>
        <pc:sldMkLst>
          <pc:docMk/>
          <pc:sldMk cId="989871012" sldId="261"/>
        </pc:sldMkLst>
        <pc:spChg chg="mod">
          <ac:chgData name="sanjay bhaargav" userId="e8e84840154ce765" providerId="LiveId" clId="{FA00A53D-0D7A-40C6-A7E6-9596BBF7529A}" dt="2026-09-17T07:45:37.888" v="4" actId="404"/>
          <ac:spMkLst>
            <pc:docMk/>
            <pc:sldMk cId="989871012" sldId="261"/>
            <ac:spMk id="2" creationId="{B4492E42-7EA8-E8D1-D175-ABDC9201B079}"/>
          </ac:spMkLst>
        </pc:spChg>
      </pc:sldChg>
      <pc:sldChg chg="modSp mod">
        <pc:chgData name="sanjay bhaargav" userId="e8e84840154ce765" providerId="LiveId" clId="{FA00A53D-0D7A-40C6-A7E6-9596BBF7529A}" dt="2026-09-17T07:45:30.624" v="3" actId="255"/>
        <pc:sldMkLst>
          <pc:docMk/>
          <pc:sldMk cId="1245516540" sldId="266"/>
        </pc:sldMkLst>
        <pc:spChg chg="mod">
          <ac:chgData name="sanjay bhaargav" userId="e8e84840154ce765" providerId="LiveId" clId="{FA00A53D-0D7A-40C6-A7E6-9596BBF7529A}" dt="2026-09-17T07:45:30.624" v="3" actId="255"/>
          <ac:spMkLst>
            <pc:docMk/>
            <pc:sldMk cId="1245516540" sldId="266"/>
            <ac:spMk id="2" creationId="{D94F9F2D-BDA4-8D8E-226C-627944DDFA1C}"/>
          </ac:spMkLst>
        </pc:spChg>
      </pc:sldChg>
      <pc:sldChg chg="del">
        <pc:chgData name="sanjay bhaargav" userId="e8e84840154ce765" providerId="LiveId" clId="{FA00A53D-0D7A-40C6-A7E6-9596BBF7529A}" dt="2026-09-17T07:47:07.967" v="15" actId="2696"/>
        <pc:sldMkLst>
          <pc:docMk/>
          <pc:sldMk cId="989871012" sldId="269"/>
        </pc:sldMkLst>
      </pc:sldChg>
      <pc:sldChg chg="del">
        <pc:chgData name="sanjay bhaargav" userId="e8e84840154ce765" providerId="LiveId" clId="{FA00A53D-0D7A-40C6-A7E6-9596BBF7529A}" dt="2026-09-17T07:46:55.002" v="14" actId="2696"/>
        <pc:sldMkLst>
          <pc:docMk/>
          <pc:sldMk cId="989871012" sldId="270"/>
        </pc:sldMkLst>
      </pc:sldChg>
      <pc:sldChg chg="del">
        <pc:chgData name="sanjay bhaargav" userId="e8e84840154ce765" providerId="LiveId" clId="{FA00A53D-0D7A-40C6-A7E6-9596BBF7529A}" dt="2026-09-17T07:46:49.944" v="13" actId="2696"/>
        <pc:sldMkLst>
          <pc:docMk/>
          <pc:sldMk cId="989871012" sldId="271"/>
        </pc:sldMkLst>
      </pc:sldChg>
      <pc:sldChg chg="modSp mod">
        <pc:chgData name="sanjay bhaargav" userId="e8e84840154ce765" providerId="LiveId" clId="{FA00A53D-0D7A-40C6-A7E6-9596BBF7529A}" dt="2026-09-17T07:46:04.775" v="6" actId="255"/>
        <pc:sldMkLst>
          <pc:docMk/>
          <pc:sldMk cId="1245516540" sldId="272"/>
        </pc:sldMkLst>
        <pc:spChg chg="mod">
          <ac:chgData name="sanjay bhaargav" userId="e8e84840154ce765" providerId="LiveId" clId="{FA00A53D-0D7A-40C6-A7E6-9596BBF7529A}" dt="2026-09-17T07:46:04.775" v="6" actId="255"/>
          <ac:spMkLst>
            <pc:docMk/>
            <pc:sldMk cId="1245516540" sldId="272"/>
            <ac:spMk id="2" creationId="{D94F9F2D-BDA4-8D8E-226C-627944DDFA1C}"/>
          </ac:spMkLst>
        </pc:spChg>
      </pc:sldChg>
      <pc:sldChg chg="modSp mod">
        <pc:chgData name="sanjay bhaargav" userId="e8e84840154ce765" providerId="LiveId" clId="{FA00A53D-0D7A-40C6-A7E6-9596BBF7529A}" dt="2026-09-17T07:46:18.627" v="8" actId="255"/>
        <pc:sldMkLst>
          <pc:docMk/>
          <pc:sldMk cId="1245516540" sldId="273"/>
        </pc:sldMkLst>
        <pc:spChg chg="mod">
          <ac:chgData name="sanjay bhaargav" userId="e8e84840154ce765" providerId="LiveId" clId="{FA00A53D-0D7A-40C6-A7E6-9596BBF7529A}" dt="2026-09-17T07:46:18.627" v="8" actId="255"/>
          <ac:spMkLst>
            <pc:docMk/>
            <pc:sldMk cId="1245516540" sldId="273"/>
            <ac:spMk id="2" creationId="{D94F9F2D-BDA4-8D8E-226C-627944DDFA1C}"/>
          </ac:spMkLst>
        </pc:spChg>
      </pc:sldChg>
      <pc:sldChg chg="modSp mod">
        <pc:chgData name="sanjay bhaargav" userId="e8e84840154ce765" providerId="LiveId" clId="{FA00A53D-0D7A-40C6-A7E6-9596BBF7529A}" dt="2026-09-17T07:46:29.768" v="10" actId="255"/>
        <pc:sldMkLst>
          <pc:docMk/>
          <pc:sldMk cId="1245516540" sldId="274"/>
        </pc:sldMkLst>
        <pc:spChg chg="mod">
          <ac:chgData name="sanjay bhaargav" userId="e8e84840154ce765" providerId="LiveId" clId="{FA00A53D-0D7A-40C6-A7E6-9596BBF7529A}" dt="2026-09-17T07:46:29.768" v="10" actId="255"/>
          <ac:spMkLst>
            <pc:docMk/>
            <pc:sldMk cId="1245516540" sldId="274"/>
            <ac:spMk id="2" creationId="{D94F9F2D-BDA4-8D8E-226C-627944DDFA1C}"/>
          </ac:spMkLst>
        </pc:spChg>
      </pc:sldChg>
      <pc:sldChg chg="modSp mod">
        <pc:chgData name="sanjay bhaargav" userId="e8e84840154ce765" providerId="LiveId" clId="{FA00A53D-0D7A-40C6-A7E6-9596BBF7529A}" dt="2026-09-17T07:46:40.741" v="12" actId="255"/>
        <pc:sldMkLst>
          <pc:docMk/>
          <pc:sldMk cId="1245516540" sldId="275"/>
        </pc:sldMkLst>
        <pc:spChg chg="mod">
          <ac:chgData name="sanjay bhaargav" userId="e8e84840154ce765" providerId="LiveId" clId="{FA00A53D-0D7A-40C6-A7E6-9596BBF7529A}" dt="2026-09-17T07:46:40.741" v="12" actId="255"/>
          <ac:spMkLst>
            <pc:docMk/>
            <pc:sldMk cId="1245516540" sldId="275"/>
            <ac:spMk id="2" creationId="{D94F9F2D-BDA4-8D8E-226C-627944DDFA1C}"/>
          </ac:spMkLst>
        </pc:spChg>
      </pc:sldChg>
    </pc:docChg>
  </pc:docChgLst>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24T09:05:06.757" v="498" actId="1076"/>
      <pc:docMkLst>
        <pc:docMk/>
      </pc:docMkLst>
      <pc:sldChg chg="addSp modSp new mod">
        <pc:chgData name="2110030242 Ananya" userId="50fcf2389d656781" providerId="LiveId" clId="{CBF0972F-2ACF-47F5-B678-92543E83982F}" dt="2026-08-24T08:45:31.429" v="424" actId="123"/>
        <pc:sldMkLst>
          <pc:docMk/>
          <pc:sldMk cId="1556977460" sldId="262"/>
        </pc:sldMkLst>
      </pc:sldChg>
      <pc:sldChg chg="addSp modSp new mod">
        <pc:chgData name="2110030242 Ananya" userId="50fcf2389d656781" providerId="LiveId" clId="{CBF0972F-2ACF-47F5-B678-92543E83982F}" dt="2026-08-24T08:45:48.326" v="427" actId="123"/>
        <pc:sldMkLst>
          <pc:docMk/>
          <pc:sldMk cId="1931128913" sldId="263"/>
        </pc:sldMkLst>
      </pc:sldChg>
      <pc:sldChg chg="addSp modSp new mod">
        <pc:chgData name="2110030242 Ananya" userId="50fcf2389d656781" providerId="LiveId" clId="{CBF0972F-2ACF-47F5-B678-92543E83982F}" dt="2026-08-24T09:05:06.757" v="498" actId="1076"/>
        <pc:sldMkLst>
          <pc:docMk/>
          <pc:sldMk cId="1245516540" sldId="264"/>
        </pc:sldMkLst>
        <pc:spChg chg="add mod">
          <ac:chgData name="2110030242 Ananya" userId="50fcf2389d656781" providerId="LiveId" clId="{CBF0972F-2ACF-47F5-B678-92543E83982F}" dt="2026-08-24T09:04:30.289" v="492" actId="1076"/>
          <ac:spMkLst>
            <pc:docMk/>
            <pc:sldMk cId="1245516540" sldId="264"/>
            <ac:spMk id="2" creationId="{D94F9F2D-BDA4-8D8E-226C-627944DDFA1C}"/>
          </ac:spMkLst>
        </pc:spChg>
        <pc:spChg chg="add mod">
          <ac:chgData name="2110030242 Ananya" userId="50fcf2389d656781" providerId="LiveId" clId="{CBF0972F-2ACF-47F5-B678-92543E83982F}" dt="2026-08-24T09:05:06.757" v="498" actId="1076"/>
          <ac:spMkLst>
            <pc:docMk/>
            <pc:sldMk cId="1245516540" sldId="264"/>
            <ac:spMk id="3" creationId="{57318D77-E13B-9C50-C10D-B5831FF5D4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13</a:t>
            </a:fld>
            <a:endParaRPr lang="en-IN"/>
          </a:p>
        </p:txBody>
      </p:sp>
    </p:spTree>
    <p:extLst>
      <p:ext uri="{BB962C8B-B14F-4D97-AF65-F5344CB8AC3E}">
        <p14:creationId xmlns:p14="http://schemas.microsoft.com/office/powerpoint/2010/main" val="1876198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IN"/>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98651317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68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18816168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350999E-6DD2-4581-9D5E-2340E3133505}" type="slidenum">
              <a:rPr lang="en-IN" smtClean="0"/>
              <a:t>‹#›</a:t>
            </a:fld>
            <a:endParaRPr lang="en-IN"/>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87606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875832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IN"/>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4452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IN"/>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61034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161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IN"/>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2299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IN"/>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264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350999E-6DD2-4581-9D5E-2340E3133505}" type="slidenum">
              <a:rPr lang="en-IN" smtClean="0"/>
              <a:t>‹#›</a:t>
            </a:fld>
            <a:endParaRPr lang="en-IN"/>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954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0ACF763B-263D-409D-A453-2B5282B351C8}" type="datetimeFigureOut">
              <a:rPr lang="en-IN" smtClean="0"/>
              <a:t>18-09-2026</a:t>
            </a:fld>
            <a:endParaRPr lang="en-IN"/>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IN"/>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4335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2940486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0ACF763B-263D-409D-A453-2B5282B351C8}" type="datetimeFigureOut">
              <a:rPr lang="en-IN" smtClean="0"/>
              <a:t>18-09-2026</a:t>
            </a:fld>
            <a:endParaRPr lang="en-IN"/>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IN"/>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170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IN"/>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350999E-6DD2-4581-9D5E-2340E3133505}"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70262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0ACF763B-263D-409D-A453-2B5282B351C8}" type="datetimeFigureOut">
              <a:rPr lang="en-IN" smtClean="0"/>
              <a:t>18-09-2026</a:t>
            </a:fld>
            <a:endParaRPr lang="en-IN"/>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IN"/>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350999E-6DD2-4581-9D5E-2340E3133505}" type="slidenum">
              <a:rPr lang="en-IN" smtClean="0"/>
              <a:t>‹#›</a:t>
            </a:fld>
            <a:endParaRPr lang="en-IN"/>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460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16805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7281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IN"/>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2198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350999E-6DD2-4581-9D5E-2340E3133505}" type="slidenum">
              <a:rPr lang="en-IN" smtClean="0"/>
              <a:t>‹#›</a:t>
            </a:fld>
            <a:endParaRPr lang="en-IN"/>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06826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4907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350999E-6DD2-4581-9D5E-2340E3133505}" type="slidenum">
              <a:rPr lang="en-IN" smtClean="0"/>
              <a:t>‹#›</a:t>
            </a:fld>
            <a:endParaRPr lang="en-IN"/>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90265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IN"/>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26493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IN"/>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019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0ACF763B-263D-409D-A453-2B5282B351C8}" type="datetimeFigureOut">
              <a:rPr lang="en-IN" smtClean="0"/>
              <a:t>18-09-2026</a:t>
            </a:fld>
            <a:endParaRPr lang="en-IN"/>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IN"/>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350999E-6DD2-4581-9D5E-2340E3133505}"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4683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3182069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0ACF763B-263D-409D-A453-2B5282B351C8}" type="datetimeFigureOut">
              <a:rPr lang="en-IN" smtClean="0"/>
              <a:t>18-09-2026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61878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0ACF763B-263D-409D-A453-2B5282B351C8}" type="datetimeFigureOut">
              <a:rPr lang="en-IN" smtClean="0"/>
              <a:t>18-09-2026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350999E-6DD2-4581-9D5E-2340E3133505}"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376378"/>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16/j.amjmed.2009.11.022" TargetMode="External"/><Relationship Id="rId2" Type="http://schemas.openxmlformats.org/officeDocument/2006/relationships/hyperlink" Target="https://doi.org/10.1111/j.1937-5956.2003.tb00218.x" TargetMode="External"/><Relationship Id="rId1" Type="http://schemas.openxmlformats.org/officeDocument/2006/relationships/slideLayout" Target="../slideLayouts/slideLayout7.xml"/><Relationship Id="rId6" Type="http://schemas.openxmlformats.org/officeDocument/2006/relationships/hyperlink" Target="https://doi.org/10.1016/j.healthpol.2018.02.002" TargetMode="External"/><Relationship Id="rId5" Type="http://schemas.openxmlformats.org/officeDocument/2006/relationships/hyperlink" Target="https://doi.org/10.1016/j.ejor.2016.06.064" TargetMode="External"/><Relationship Id="rId4" Type="http://schemas.openxmlformats.org/officeDocument/2006/relationships/hyperlink" Target="https://doi.org/10.1136/amiajnl-2011-000681"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3063/2327-9214.1244" TargetMode="External"/><Relationship Id="rId2" Type="http://schemas.openxmlformats.org/officeDocument/2006/relationships/hyperlink" Target="https://doi.org/10.3390/e22060675" TargetMode="External"/><Relationship Id="rId1" Type="http://schemas.openxmlformats.org/officeDocument/2006/relationships/slideLayout" Target="../slideLayouts/slideLayout7.xml"/><Relationship Id="rId6" Type="http://schemas.openxmlformats.org/officeDocument/2006/relationships/hyperlink" Target="https://doi.org/10.1016/j.ibmed.2025.100229" TargetMode="External"/><Relationship Id="rId5" Type="http://schemas.openxmlformats.org/officeDocument/2006/relationships/hyperlink" Target="https://doi.org/10.3390/info13110507" TargetMode="External"/><Relationship Id="rId4" Type="http://schemas.openxmlformats.org/officeDocument/2006/relationships/hyperlink" Target="https://doi.org/10.3233/SHTI220974"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 Bhaargav</a:t>
            </a:r>
          </a:p>
          <a:p>
            <a:r>
              <a:rPr lang="en-IN" sz="2800" dirty="0">
                <a:latin typeface="Times New Roman" panose="02020603050405020304" pitchFamily="18" charset="0"/>
                <a:cs typeface="Times New Roman" panose="02020603050405020304" pitchFamily="18" charset="0"/>
              </a:rPr>
              <a:t>2420030368     :- P.Rahul  </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a:solidFill>
                  <a:srgbClr val="FF0000"/>
                </a:solidFill>
                <a:latin typeface="Times New Roman" panose="02020603050405020304" pitchFamily="18" charset="0"/>
                <a:cs typeface="Times New Roman" panose="02020603050405020304" pitchFamily="18" charset="0"/>
              </a:rPr>
              <a:t>Dr.N.Shirisha,</a:t>
            </a:r>
            <a:r>
              <a:rPr lang="en-IN" b="1" dirty="0">
                <a:solidFill>
                  <a:srgbClr val="FF0000"/>
                </a:solidFill>
                <a:latin typeface="Times New Roman" panose="02020603050405020304" pitchFamily="18" charset="0"/>
                <a:cs typeface="Times New Roman" panose="02020603050405020304" pitchFamily="18" charset="0"/>
              </a:rPr>
              <a:t>Associate Professor</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486659" y="1565085"/>
            <a:ext cx="11218682" cy="4471922"/>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Hospital Appointment Data Pipeline</a:t>
            </a:r>
            <a:r>
              <a:rPr lang="en-IN" sz="2400" dirty="0">
                <a:latin typeface="Times New Roman" panose="02020603050405020304" pitchFamily="18" charset="0"/>
                <a:cs typeface="Times New Roman" panose="02020603050405020304" pitchFamily="18" charset="0"/>
              </a:rPr>
              <a:t> is a data-driven solution designed to organize, process, and analyse hospital appointment records. The system collects appointment data from structured sources such as </a:t>
            </a:r>
            <a:r>
              <a:rPr lang="en-IN" sz="2400" b="1" dirty="0">
                <a:latin typeface="Times New Roman" panose="02020603050405020304" pitchFamily="18" charset="0"/>
                <a:cs typeface="Times New Roman" panose="02020603050405020304" pitchFamily="18" charset="0"/>
              </a:rPr>
              <a:t>CSV and JSON files</a:t>
            </a:r>
            <a:r>
              <a:rPr lang="en-IN" sz="2400" dirty="0">
                <a:latin typeface="Times New Roman" panose="02020603050405020304" pitchFamily="18" charset="0"/>
                <a:cs typeface="Times New Roman" panose="02020603050405020304" pitchFamily="18" charset="0"/>
              </a:rPr>
              <a:t> and processes it through an ETL pipeline using </a:t>
            </a:r>
            <a:r>
              <a:rPr lang="en-IN" sz="2400" b="1" dirty="0">
                <a:latin typeface="Times New Roman" panose="02020603050405020304" pitchFamily="18" charset="0"/>
                <a:cs typeface="Times New Roman" panose="02020603050405020304" pitchFamily="18" charset="0"/>
              </a:rPr>
              <a:t>Python and Pandas</a:t>
            </a:r>
            <a:r>
              <a:rPr lang="en-IN" sz="2400" dirty="0">
                <a:latin typeface="Times New Roman" panose="02020603050405020304" pitchFamily="18" charset="0"/>
                <a:cs typeface="Times New Roman" panose="02020603050405020304" pitchFamily="18" charset="0"/>
              </a:rPr>
              <a:t>. The data is cleaned, transformed, and standardized to handle duplicate, missing, and inconsistent values. The processed data is stored in a </a:t>
            </a:r>
            <a:r>
              <a:rPr lang="en-IN" sz="2400" b="1" dirty="0">
                <a:latin typeface="Times New Roman" panose="02020603050405020304" pitchFamily="18" charset="0"/>
                <a:cs typeface="Times New Roman" panose="02020603050405020304" pitchFamily="18" charset="0"/>
              </a:rPr>
              <a:t>NoSQL MongoDB database</a:t>
            </a:r>
            <a:r>
              <a:rPr lang="en-IN" sz="2400" dirty="0">
                <a:latin typeface="Times New Roman" panose="02020603050405020304" pitchFamily="18" charset="0"/>
                <a:cs typeface="Times New Roman" panose="02020603050405020304" pitchFamily="18" charset="0"/>
              </a:rPr>
              <a:t> for efficient storage and retrieval. MongoDB queries are used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appointment statistics and identify </a:t>
            </a:r>
            <a:r>
              <a:rPr lang="en-IN" sz="2400" b="1" dirty="0">
                <a:latin typeface="Times New Roman" panose="02020603050405020304" pitchFamily="18" charset="0"/>
                <a:cs typeface="Times New Roman" panose="02020603050405020304" pitchFamily="18" charset="0"/>
              </a:rPr>
              <a:t>patient, department-wise, doctor-wise, and monthly appointment patterns</a:t>
            </a:r>
            <a:r>
              <a:rPr lang="en-IN" sz="2400" dirty="0">
                <a:latin typeface="Times New Roman" panose="02020603050405020304" pitchFamily="18" charset="0"/>
                <a:cs typeface="Times New Roman" panose="02020603050405020304" pitchFamily="18" charset="0"/>
              </a:rPr>
              <a:t>. A </a:t>
            </a:r>
            <a:r>
              <a:rPr lang="en-IN" sz="2400" b="1" dirty="0">
                <a:latin typeface="Times New Roman" panose="02020603050405020304" pitchFamily="18" charset="0"/>
                <a:cs typeface="Times New Roman" panose="02020603050405020304" pitchFamily="18" charset="0"/>
              </a:rPr>
              <a:t>Streamlit dashboard</a:t>
            </a:r>
            <a:r>
              <a:rPr lang="en-IN" sz="2400" dirty="0">
                <a:latin typeface="Times New Roman" panose="02020603050405020304" pitchFamily="18" charset="0"/>
                <a:cs typeface="Times New Roman" panose="02020603050405020304" pitchFamily="18" charset="0"/>
              </a:rPr>
              <a:t> provides interactive reports and visualizations of appointment metrics and trends. The proposed system demonstrates the fundamental stages of data engineering, from </a:t>
            </a:r>
            <a:r>
              <a:rPr lang="en-IN" sz="2400" b="1" dirty="0">
                <a:latin typeface="Times New Roman" panose="02020603050405020304" pitchFamily="18" charset="0"/>
                <a:cs typeface="Times New Roman" panose="02020603050405020304" pitchFamily="18" charset="0"/>
              </a:rPr>
              <a:t>data ingestion and cleaning to transformation, storage, and analysis</a:t>
            </a:r>
            <a:r>
              <a:rPr lang="en-IN"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marL="0" indent="0" algn="just">
              <a:buNone/>
            </a:pPr>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470898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Existing System</a:t>
            </a:r>
          </a:p>
          <a:p>
            <a:pPr lvl="0"/>
            <a:r>
              <a:rPr lang="en-IN" sz="2000" b="1" dirty="0">
                <a:latin typeface="Times New Roman" panose="02020603050405020304" pitchFamily="18" charset="0"/>
                <a:cs typeface="Times New Roman" panose="02020603050405020304" pitchFamily="18" charset="0"/>
              </a:rPr>
              <a:t>Manual Tracking:</a:t>
            </a:r>
            <a:r>
              <a:rPr lang="en-IN" sz="2000" dirty="0">
                <a:latin typeface="Times New Roman" panose="02020603050405020304" pitchFamily="18" charset="0"/>
                <a:cs typeface="Times New Roman" panose="02020603050405020304" pitchFamily="18" charset="0"/>
              </a:rPr>
              <a:t> Many hospitals still record appointments in registers or spreadsheets.</a:t>
            </a:r>
          </a:p>
          <a:p>
            <a:pPr lvl="0"/>
            <a:r>
              <a:rPr lang="en-IN" sz="2000" b="1" dirty="0">
                <a:latin typeface="Times New Roman" panose="02020603050405020304" pitchFamily="18" charset="0"/>
                <a:cs typeface="Times New Roman" panose="02020603050405020304" pitchFamily="18" charset="0"/>
              </a:rPr>
              <a:t>Fragmented Tools:</a:t>
            </a:r>
            <a:r>
              <a:rPr lang="en-IN" sz="2000" dirty="0">
                <a:latin typeface="Times New Roman" panose="02020603050405020304" pitchFamily="18" charset="0"/>
                <a:cs typeface="Times New Roman" panose="02020603050405020304" pitchFamily="18" charset="0"/>
              </a:rPr>
              <a:t> Basic systems support booking/cancelling only, with little analytical reporting.</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Limitations of Existing System</a:t>
            </a:r>
          </a:p>
          <a:p>
            <a:pPr lvl="0"/>
            <a:r>
              <a:rPr lang="en-IN" sz="2000" b="1" dirty="0">
                <a:latin typeface="Times New Roman" panose="02020603050405020304" pitchFamily="18" charset="0"/>
                <a:cs typeface="Times New Roman" panose="02020603050405020304" pitchFamily="18" charset="0"/>
              </a:rPr>
              <a:t>No Automated Cleaning:</a:t>
            </a:r>
            <a:r>
              <a:rPr lang="en-IN" sz="2000" dirty="0">
                <a:latin typeface="Times New Roman" panose="02020603050405020304" pitchFamily="18" charset="0"/>
                <a:cs typeface="Times New Roman" panose="02020603050405020304" pitchFamily="18" charset="0"/>
              </a:rPr>
              <a:t> Duplicate and missing records are corrected manually — slow and error-prone.</a:t>
            </a:r>
          </a:p>
          <a:p>
            <a:pPr lvl="0"/>
            <a:r>
              <a:rPr lang="en-IN" sz="2000" b="1" dirty="0">
                <a:latin typeface="Times New Roman" panose="02020603050405020304" pitchFamily="18" charset="0"/>
                <a:cs typeface="Times New Roman" panose="02020603050405020304" pitchFamily="18" charset="0"/>
              </a:rPr>
              <a:t>No Pattern Analysis:</a:t>
            </a:r>
            <a:r>
              <a:rPr lang="en-IN" sz="2000" dirty="0">
                <a:latin typeface="Times New Roman" panose="02020603050405020304" pitchFamily="18" charset="0"/>
                <a:cs typeface="Times New Roman" panose="02020603050405020304" pitchFamily="18" charset="0"/>
              </a:rPr>
              <a:t> Department-wise, doctor-wise, and no-show trends are rarely exposed.</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Proposed System</a:t>
            </a:r>
          </a:p>
          <a:p>
            <a:pPr lvl="0"/>
            <a:r>
              <a:rPr lang="en-IN" sz="2000" b="1" dirty="0">
                <a:latin typeface="Times New Roman" panose="02020603050405020304" pitchFamily="18" charset="0"/>
                <a:cs typeface="Times New Roman" panose="02020603050405020304" pitchFamily="18" charset="0"/>
              </a:rPr>
              <a:t>Automated ETL Pipeline:</a:t>
            </a:r>
            <a:r>
              <a:rPr lang="en-IN" sz="2000" dirty="0">
                <a:latin typeface="Times New Roman" panose="02020603050405020304" pitchFamily="18" charset="0"/>
                <a:cs typeface="Times New Roman" panose="02020603050405020304" pitchFamily="18" charset="0"/>
              </a:rPr>
              <a:t> Python and Pandas clean and transform raw CSV/JSON appointment records.</a:t>
            </a:r>
          </a:p>
          <a:p>
            <a:pPr lvl="0"/>
            <a:r>
              <a:rPr lang="en-IN" sz="2000" b="1" dirty="0">
                <a:latin typeface="Times New Roman" panose="02020603050405020304" pitchFamily="18" charset="0"/>
                <a:cs typeface="Times New Roman" panose="02020603050405020304" pitchFamily="18" charset="0"/>
              </a:rPr>
              <a:t>NoSQL Storage &amp; Analytics:</a:t>
            </a:r>
            <a:r>
              <a:rPr lang="en-IN" sz="2000" dirty="0">
                <a:latin typeface="Times New Roman" panose="02020603050405020304" pitchFamily="18" charset="0"/>
                <a:cs typeface="Times New Roman" panose="02020603050405020304" pitchFamily="18" charset="0"/>
              </a:rPr>
              <a:t> MongoDB stores the data; a Streamlit dashboard surfaces status and trends.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Advantages of Proposed System</a:t>
            </a:r>
          </a:p>
          <a:p>
            <a:pPr lvl="0"/>
            <a:r>
              <a:rPr lang="en-IN" sz="2000" b="1" dirty="0">
                <a:latin typeface="Times New Roman" panose="02020603050405020304" pitchFamily="18" charset="0"/>
                <a:cs typeface="Times New Roman" panose="02020603050405020304" pitchFamily="18" charset="0"/>
              </a:rPr>
              <a:t>Reduced Manual Effort:</a:t>
            </a:r>
            <a:r>
              <a:rPr lang="en-IN" sz="2000" dirty="0">
                <a:latin typeface="Times New Roman" panose="02020603050405020304" pitchFamily="18" charset="0"/>
                <a:cs typeface="Times New Roman" panose="02020603050405020304" pitchFamily="18" charset="0"/>
              </a:rPr>
              <a:t> Automated cleaning removes repetitive, manual corrections.</a:t>
            </a:r>
          </a:p>
          <a:p>
            <a:pPr lvl="0"/>
            <a:r>
              <a:rPr lang="en-IN" sz="2000" b="1" dirty="0">
                <a:latin typeface="Times New Roman" panose="02020603050405020304" pitchFamily="18" charset="0"/>
                <a:cs typeface="Times New Roman" panose="02020603050405020304" pitchFamily="18" charset="0"/>
              </a:rPr>
              <a:t>Actionable &amp; Extensible:</a:t>
            </a:r>
            <a:r>
              <a:rPr lang="en-IN" sz="2000" dirty="0">
                <a:latin typeface="Times New Roman" panose="02020603050405020304" pitchFamily="18" charset="0"/>
                <a:cs typeface="Times New Roman" panose="02020603050405020304" pitchFamily="18" charset="0"/>
              </a:rPr>
              <a:t> Staff get visual reports, and new data sources can be added easily.</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Existing &amp; Proposed System</a:t>
            </a:r>
          </a:p>
        </p:txBody>
      </p:sp>
    </p:spTree>
    <p:extLst>
      <p:ext uri="{BB962C8B-B14F-4D97-AF65-F5344CB8AC3E}">
        <p14:creationId xmlns:p14="http://schemas.microsoft.com/office/powerpoint/2010/main" val="124551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92E42-7EA8-E8D1-D175-ABDC9201B079}"/>
              </a:ext>
            </a:extLst>
          </p:cNvPr>
          <p:cNvSpPr txBox="1"/>
          <p:nvPr/>
        </p:nvSpPr>
        <p:spPr>
          <a:xfrm>
            <a:off x="614515" y="1431484"/>
            <a:ext cx="10962969" cy="4401205"/>
          </a:xfrm>
          <a:prstGeom prst="rect">
            <a:avLst/>
          </a:prstGeom>
          <a:noFill/>
        </p:spPr>
        <p:txBody>
          <a:bodyPr wrap="square" rtlCol="0">
            <a:spAutoFit/>
          </a:bodyPr>
          <a:lstStyle/>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collect hospital appointment data from structured sources such as CSV or Excel files.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clean and transform raw appointment data using Python.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remove duplicate records and handle missing or inconsistent values.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store the processed data in a structured NoSQL database.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appointment patterns using SQL queries.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identify completed, cancelled, and no-show appointments. </a:t>
            </a:r>
          </a:p>
          <a:p>
            <a:pPr marL="457200" lvl="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generate useful reports and visualizations for hospital staff and administrators.</a:t>
            </a:r>
          </a:p>
          <a:p>
            <a:pPr algn="just"/>
            <a:endParaRPr lang="en-IN"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ED87A-43B3-DCC0-82A6-4DA6114313FB}"/>
              </a:ext>
            </a:extLst>
          </p:cNvPr>
          <p:cNvSpPr txBox="1"/>
          <p:nvPr/>
        </p:nvSpPr>
        <p:spPr>
          <a:xfrm>
            <a:off x="4273224" y="186814"/>
            <a:ext cx="3300904"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Objectives</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71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15B11E-B762-5477-7D6D-85FB32FAB4F0}"/>
              </a:ext>
            </a:extLst>
          </p:cNvPr>
          <p:cNvSpPr txBox="1"/>
          <p:nvPr/>
        </p:nvSpPr>
        <p:spPr>
          <a:xfrm>
            <a:off x="940715" y="755529"/>
            <a:ext cx="10310568" cy="4801314"/>
          </a:xfrm>
          <a:prstGeom prst="rect">
            <a:avLst/>
          </a:prstGeom>
          <a:noFill/>
        </p:spPr>
        <p:txBody>
          <a:bodyPr wrap="square">
            <a:spAutoFit/>
          </a:bodyPr>
          <a:lstStyle/>
          <a:p>
            <a:pPr marL="342900" indent="-342900">
              <a:buAutoNum type="arabicPeriod"/>
            </a:pPr>
            <a:r>
              <a:rPr lang="en-IN" b="1" dirty="0">
                <a:latin typeface="Times New Roman" panose="02020603050405020304" pitchFamily="18" charset="0"/>
                <a:cs typeface="Times New Roman" panose="02020603050405020304" pitchFamily="18" charset="0"/>
              </a:rPr>
              <a:t>Data Collection</a:t>
            </a:r>
          </a:p>
          <a:p>
            <a:r>
              <a:rPr lang="en-IN" dirty="0">
                <a:latin typeface="Times New Roman" panose="02020603050405020304" pitchFamily="18" charset="0"/>
                <a:cs typeface="Times New Roman" panose="02020603050405020304" pitchFamily="18" charset="0"/>
              </a:rPr>
              <a:t>Collect hospital appointment records from CSV/JSON files containing patient, doctor, department, appointment date and status details.</a:t>
            </a:r>
          </a:p>
          <a:p>
            <a:pPr marL="342900" indent="-342900">
              <a:buAutoNum type="arabicPeriod"/>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2. Data Preprocessing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 Python and Pandas to clean the data by removing duplicates, handling missing values and standardising inconsistent values.</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3. Feature Engineering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Create useful features such as </a:t>
            </a:r>
            <a:r>
              <a:rPr lang="en-IN" b="1" dirty="0">
                <a:latin typeface="Times New Roman" panose="02020603050405020304" pitchFamily="18" charset="0"/>
                <a:cs typeface="Times New Roman" panose="02020603050405020304" pitchFamily="18" charset="0"/>
              </a:rPr>
              <a:t>Lead Time</a:t>
            </a:r>
            <a:r>
              <a:rPr lang="en-IN" dirty="0">
                <a:latin typeface="Times New Roman" panose="02020603050405020304" pitchFamily="18" charset="0"/>
                <a:cs typeface="Times New Roman" panose="02020603050405020304" pitchFamily="18" charset="0"/>
              </a:rPr>
              <a:t>, appointment month and appointment day for further analysis.</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4. NoSQL Data Storage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Store the processed data in </a:t>
            </a:r>
            <a:r>
              <a:rPr lang="en-IN" b="1" dirty="0">
                <a:latin typeface="Times New Roman" panose="02020603050405020304" pitchFamily="18" charset="0"/>
                <a:cs typeface="Times New Roman" panose="02020603050405020304" pitchFamily="18" charset="0"/>
              </a:rPr>
              <a:t>MongoDB</a:t>
            </a:r>
            <a:r>
              <a:rPr lang="en-IN" dirty="0">
                <a:latin typeface="Times New Roman" panose="02020603050405020304" pitchFamily="18" charset="0"/>
                <a:cs typeface="Times New Roman" panose="02020603050405020304" pitchFamily="18" charset="0"/>
              </a:rPr>
              <a:t> using separate collections for </a:t>
            </a:r>
            <a:r>
              <a:rPr lang="en-IN" b="1" dirty="0">
                <a:latin typeface="Times New Roman" panose="02020603050405020304" pitchFamily="18" charset="0"/>
                <a:cs typeface="Times New Roman" panose="02020603050405020304" pitchFamily="18" charset="0"/>
              </a:rPr>
              <a:t>Patients, Doctors and Appointments</a:t>
            </a:r>
            <a:r>
              <a:rPr lang="en-IN" dirty="0">
                <a:latin typeface="Times New Roman" panose="02020603050405020304" pitchFamily="18" charset="0"/>
                <a:cs typeface="Times New Roman" panose="02020603050405020304" pitchFamily="18" charset="0"/>
              </a:rPr>
              <a:t>.</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5. Data Analysis &amp; Visualization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 MongoDB queries to analyse appointment status, departments and doctors, and display the results through an interactive </a:t>
            </a:r>
            <a:r>
              <a:rPr lang="en-IN" b="1" dirty="0">
                <a:latin typeface="Times New Roman" panose="02020603050405020304" pitchFamily="18" charset="0"/>
                <a:cs typeface="Times New Roman" panose="02020603050405020304" pitchFamily="18" charset="0"/>
              </a:rPr>
              <a:t>Streamlit dashboard</a:t>
            </a:r>
            <a:r>
              <a:rPr lang="en-IN"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09E05EC4-79D8-6713-C8BF-4DBA1D378B74}"/>
              </a:ext>
            </a:extLst>
          </p:cNvPr>
          <p:cNvSpPr txBox="1"/>
          <p:nvPr/>
        </p:nvSpPr>
        <p:spPr>
          <a:xfrm>
            <a:off x="4310799" y="170754"/>
            <a:ext cx="3570401"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METHODOLOGY</a:t>
            </a:r>
          </a:p>
        </p:txBody>
      </p:sp>
      <p:sp>
        <p:nvSpPr>
          <p:cNvPr id="8" name="Rectangle 7">
            <a:extLst>
              <a:ext uri="{FF2B5EF4-FFF2-40B4-BE49-F238E27FC236}">
                <a16:creationId xmlns:a16="http://schemas.microsoft.com/office/drawing/2014/main" id="{5A838584-ABFA-A35A-66EB-3ADFF6104239}"/>
              </a:ext>
            </a:extLst>
          </p:cNvPr>
          <p:cNvSpPr/>
          <p:nvPr/>
        </p:nvSpPr>
        <p:spPr>
          <a:xfrm>
            <a:off x="584462" y="5665509"/>
            <a:ext cx="10501460" cy="904973"/>
          </a:xfrm>
          <a:prstGeom prst="rect">
            <a:avLst/>
          </a:pr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C8C0B7F7-942B-F02C-240D-1B9C667F1FEB}"/>
              </a:ext>
            </a:extLst>
          </p:cNvPr>
          <p:cNvSpPr txBox="1"/>
          <p:nvPr/>
        </p:nvSpPr>
        <p:spPr>
          <a:xfrm>
            <a:off x="587602" y="5779305"/>
            <a:ext cx="10663681" cy="646331"/>
          </a:xfrm>
          <a:prstGeom prst="rect">
            <a:avLst/>
          </a:prstGeom>
          <a:noFill/>
        </p:spPr>
        <p:txBody>
          <a:bodyPr wrap="square">
            <a:spAutoFit/>
          </a:bodyPr>
          <a:lstStyle/>
          <a:p>
            <a:pPr>
              <a:buNone/>
            </a:pPr>
            <a:r>
              <a:rPr lang="en-IN" b="1" dirty="0"/>
              <a:t>Workflow</a:t>
            </a:r>
          </a:p>
          <a:p>
            <a:pPr>
              <a:buNone/>
            </a:pPr>
            <a:r>
              <a:rPr lang="en-IN" b="1" dirty="0"/>
              <a:t>CSV / JSON → Python + Pandas → Data Cleaning → Feature Engineering → MongoDB → Streamlit Dashboard</a:t>
            </a:r>
            <a:endParaRPr lang="en-IN" dirty="0"/>
          </a:p>
        </p:txBody>
      </p:sp>
    </p:spTree>
    <p:extLst>
      <p:ext uri="{BB962C8B-B14F-4D97-AF65-F5344CB8AC3E}">
        <p14:creationId xmlns:p14="http://schemas.microsoft.com/office/powerpoint/2010/main" val="4059972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212942305"/>
              </p:ext>
            </p:extLst>
          </p:nvPr>
        </p:nvGraphicFramePr>
        <p:xfrm>
          <a:off x="311086" y="791852"/>
          <a:ext cx="11642102" cy="5882325"/>
        </p:xfrm>
        <a:graphic>
          <a:graphicData uri="http://schemas.openxmlformats.org/drawingml/2006/table">
            <a:tbl>
              <a:tblPr firstRow="1" bandRow="1">
                <a:tableStyleId>{5C22544A-7EE6-4342-B048-85BDC9FD1C3A}</a:tableStyleId>
              </a:tblPr>
              <a:tblGrid>
                <a:gridCol w="392746">
                  <a:extLst>
                    <a:ext uri="{9D8B030D-6E8A-4147-A177-3AD203B41FA5}">
                      <a16:colId xmlns:a16="http://schemas.microsoft.com/office/drawing/2014/main" val="20000"/>
                    </a:ext>
                  </a:extLst>
                </a:gridCol>
                <a:gridCol w="2478038">
                  <a:extLst>
                    <a:ext uri="{9D8B030D-6E8A-4147-A177-3AD203B41FA5}">
                      <a16:colId xmlns:a16="http://schemas.microsoft.com/office/drawing/2014/main" val="20001"/>
                    </a:ext>
                  </a:extLst>
                </a:gridCol>
                <a:gridCol w="1449418">
                  <a:extLst>
                    <a:ext uri="{9D8B030D-6E8A-4147-A177-3AD203B41FA5}">
                      <a16:colId xmlns:a16="http://schemas.microsoft.com/office/drawing/2014/main" val="20002"/>
                    </a:ext>
                  </a:extLst>
                </a:gridCol>
                <a:gridCol w="2384527">
                  <a:extLst>
                    <a:ext uri="{9D8B030D-6E8A-4147-A177-3AD203B41FA5}">
                      <a16:colId xmlns:a16="http://schemas.microsoft.com/office/drawing/2014/main" val="20003"/>
                    </a:ext>
                  </a:extLst>
                </a:gridCol>
                <a:gridCol w="2945592">
                  <a:extLst>
                    <a:ext uri="{9D8B030D-6E8A-4147-A177-3AD203B41FA5}">
                      <a16:colId xmlns:a16="http://schemas.microsoft.com/office/drawing/2014/main" val="20004"/>
                    </a:ext>
                  </a:extLst>
                </a:gridCol>
                <a:gridCol w="1991781">
                  <a:extLst>
                    <a:ext uri="{9D8B030D-6E8A-4147-A177-3AD203B41FA5}">
                      <a16:colId xmlns:a16="http://schemas.microsoft.com/office/drawing/2014/main" val="20005"/>
                    </a:ext>
                  </a:extLst>
                </a:gridCol>
              </a:tblGrid>
              <a:tr h="593015">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7862">
                <a:tc>
                  <a:txBody>
                    <a:bodyPr/>
                    <a:lstStyle/>
                    <a:p>
                      <a:pPr>
                        <a:buNone/>
                      </a:pPr>
                      <a:r>
                        <a:rPr lang="en-IN" sz="1200" b="1">
                          <a:solidFill>
                            <a:schemeClr val="tx1"/>
                          </a:solidFill>
                        </a:rPr>
                        <a:t>1</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Outpatient Scheduling in Health Care: A Review of Literature – 2003</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Cayirli &amp; Veral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many scheduling models, but most solutions are situation-specific and do not provide a practical data-processing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important appointment factors such as </a:t>
                      </a:r>
                      <a:r>
                        <a:rPr lang="en-IN" sz="1200" b="1">
                          <a:solidFill>
                            <a:schemeClr val="tx1"/>
                          </a:solidFill>
                        </a:rPr>
                        <a:t>waiting time, demand, capacity and scheduling patterns</a:t>
                      </a:r>
                      <a:r>
                        <a:rPr lang="en-IN" sz="1200">
                          <a:solidFill>
                            <a:schemeClr val="tx1"/>
                          </a:solidFill>
                        </a:rPr>
                        <a:t> that our cleaned appointment data can be used to analyze.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https://doi.org/10.1111/j.1937-5956.2003.tb00218.x</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7862">
                <a:tc>
                  <a:txBody>
                    <a:bodyPr/>
                    <a:lstStyle/>
                    <a:p>
                      <a:pPr>
                        <a:buNone/>
                      </a:pPr>
                      <a:r>
                        <a:rPr lang="en-IN" sz="1200" b="1">
                          <a:solidFill>
                            <a:schemeClr val="tx1"/>
                          </a:solidFill>
                        </a:rPr>
                        <a:t>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The Effectiveness of Outpatient Appointment Reminder Systems in Reducing No-Show Rates – 2010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Parikh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mainly on reminder interventions and does not implement an automated data engineering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Shows the importance of tracking </a:t>
                      </a:r>
                      <a:r>
                        <a:rPr lang="en-IN" sz="1200" b="1">
                          <a:solidFill>
                            <a:schemeClr val="tx1"/>
                          </a:solidFill>
                        </a:rPr>
                        <a:t>appointment status, waiting time and patient attendance</a:t>
                      </a:r>
                      <a:r>
                        <a:rPr lang="en-IN" sz="1200">
                          <a:solidFill>
                            <a:schemeClr val="tx1"/>
                          </a:solidFill>
                        </a:rPr>
                        <a:t>, which our pipeline organizes for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https://doi.org/10.1016/j.amjmed.2009.11.022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862">
                <a:tc>
                  <a:txBody>
                    <a:bodyPr/>
                    <a:lstStyle/>
                    <a:p>
                      <a:pPr>
                        <a:buNone/>
                      </a:pPr>
                      <a:r>
                        <a:rPr lang="en-IN" sz="1200" b="1">
                          <a:solidFill>
                            <a:schemeClr val="tx1"/>
                          </a:solidFill>
                        </a:rPr>
                        <a:t>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Methods and Dimensions of Electronic Health Record Data Quality Assessment – 2013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Weiskopf &amp; Weng</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on EHR data-quality assessment rather than appointment-specific ETL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data-quality concepts such as </a:t>
                      </a:r>
                      <a:r>
                        <a:rPr lang="en-IN" sz="1200" b="1">
                          <a:solidFill>
                            <a:schemeClr val="tx1"/>
                          </a:solidFill>
                        </a:rPr>
                        <a:t>completeness, correctness, concordance, plausibility and currency</a:t>
                      </a:r>
                      <a:r>
                        <a:rPr lang="en-IN" sz="1200">
                          <a:solidFill>
                            <a:schemeClr val="tx1"/>
                          </a:solidFill>
                        </a:rPr>
                        <a:t>, supporting our cleaning and validation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https://doi.org/10.1136/amiajnl-2011-000681</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57862">
                <a:tc>
                  <a:txBody>
                    <a:bodyPr/>
                    <a:lstStyle/>
                    <a:p>
                      <a:pPr>
                        <a:buNone/>
                      </a:pPr>
                      <a:r>
                        <a:rPr lang="en-IN" sz="1200" b="1">
                          <a:solidFill>
                            <a:schemeClr val="tx1"/>
                          </a:solidFill>
                        </a:rPr>
                        <a:t>4</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Outpatient Appointment Systems in Healthcare: A Review of Optimization Studies – 2017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Ahmadi-Javid, Jalali &amp; Klassen</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on optimization and decision-support models rather than implementation of a complete data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a:t>
                      </a:r>
                      <a:r>
                        <a:rPr lang="en-IN" sz="1200" b="1">
                          <a:solidFill>
                            <a:schemeClr val="tx1"/>
                          </a:solidFill>
                        </a:rPr>
                        <a:t>strategic, tactical and operational appointment factors</a:t>
                      </a:r>
                      <a:r>
                        <a:rPr lang="en-IN" sz="1200">
                          <a:solidFill>
                            <a:schemeClr val="tx1"/>
                          </a:solidFill>
                        </a:rPr>
                        <a:t> that can be derived from our processed hospital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https://doi.org/10.1016/j.ejor.2016.06.064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57862">
                <a:tc>
                  <a:txBody>
                    <a:bodyPr/>
                    <a:lstStyle/>
                    <a:p>
                      <a:pPr>
                        <a:buNone/>
                      </a:pPr>
                      <a:r>
                        <a:rPr lang="en-IN" sz="1200" b="1" dirty="0">
                          <a:solidFill>
                            <a:schemeClr val="tx1"/>
                          </a:solidFill>
                        </a:rPr>
                        <a:t>5</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No-shows in Appointment Scheduling – A Systematic Literature Review – 2018</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Dantas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factors influencing no-shows but does not provide a reusable ETL/database solution for hospital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analysis of </a:t>
                      </a:r>
                      <a:r>
                        <a:rPr lang="en-IN" sz="1200" b="1">
                          <a:solidFill>
                            <a:schemeClr val="tx1"/>
                          </a:solidFill>
                        </a:rPr>
                        <a:t>no-show patterns, lead time and previous appointment behavior</a:t>
                      </a:r>
                      <a:r>
                        <a:rPr lang="en-IN" sz="1200">
                          <a:solidFill>
                            <a:schemeClr val="tx1"/>
                          </a:solidFill>
                        </a:rPr>
                        <a:t> using structured appointment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https://doi.org/10.1016/j.healthpol.2018.02.002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697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131890706"/>
              </p:ext>
            </p:extLst>
          </p:nvPr>
        </p:nvGraphicFramePr>
        <p:xfrm>
          <a:off x="365760" y="914400"/>
          <a:ext cx="11384280" cy="5623558"/>
        </p:xfrm>
        <a:graphic>
          <a:graphicData uri="http://schemas.openxmlformats.org/drawingml/2006/table">
            <a:tbl>
              <a:tblPr firstRow="1" bandRow="1">
                <a:tableStyleId>{5C22544A-7EE6-4342-B048-85BDC9FD1C3A}</a:tableStyleId>
              </a:tblPr>
              <a:tblGrid>
                <a:gridCol w="436932">
                  <a:extLst>
                    <a:ext uri="{9D8B030D-6E8A-4147-A177-3AD203B41FA5}">
                      <a16:colId xmlns:a16="http://schemas.microsoft.com/office/drawing/2014/main" val="20000"/>
                    </a:ext>
                  </a:extLst>
                </a:gridCol>
                <a:gridCol w="2370276">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702759">
                  <a:extLst>
                    <a:ext uri="{9D8B030D-6E8A-4147-A177-3AD203B41FA5}">
                      <a16:colId xmlns:a16="http://schemas.microsoft.com/office/drawing/2014/main" val="20004"/>
                    </a:ext>
                  </a:extLst>
                </a:gridCol>
                <a:gridCol w="2125273">
                  <a:extLst>
                    <a:ext uri="{9D8B030D-6E8A-4147-A177-3AD203B41FA5}">
                      <a16:colId xmlns:a16="http://schemas.microsoft.com/office/drawing/2014/main" val="20005"/>
                    </a:ext>
                  </a:extLst>
                </a:gridCol>
              </a:tblGrid>
              <a:tr h="566928">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11326">
                <a:tc>
                  <a:txBody>
                    <a:bodyPr/>
                    <a:lstStyle/>
                    <a:p>
                      <a:pPr>
                        <a:buNone/>
                      </a:pPr>
                      <a:r>
                        <a:rPr lang="en-IN" sz="1200" b="1">
                          <a:solidFill>
                            <a:schemeClr val="tx1"/>
                          </a:solidFill>
                        </a:rPr>
                        <a:t>6</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Patient No-Show Prediction: A Systematic Literature Review – 2020</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Zapata et al.</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mainly on predictive modelling; data preparation and pipeline design are secondary aspects of the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the need for </a:t>
                      </a:r>
                      <a:r>
                        <a:rPr lang="en-IN" sz="1200" b="1">
                          <a:solidFill>
                            <a:schemeClr val="tx1"/>
                          </a:solidFill>
                        </a:rPr>
                        <a:t>structured appointment data, status-based analysis and properly prepared features</a:t>
                      </a:r>
                      <a:r>
                        <a:rPr lang="en-IN" sz="1200">
                          <a:solidFill>
                            <a:schemeClr val="tx1"/>
                          </a:solidFill>
                        </a:rPr>
                        <a:t> before applying prediction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https://doi.org/10.3390/e22060675</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326">
                <a:tc>
                  <a:txBody>
                    <a:bodyPr/>
                    <a:lstStyle/>
                    <a:p>
                      <a:pPr>
                        <a:buNone/>
                      </a:pPr>
                      <a:r>
                        <a:rPr lang="en-IN" sz="1200" b="1">
                          <a:solidFill>
                            <a:schemeClr val="tx1"/>
                          </a:solidFill>
                        </a:rPr>
                        <a:t>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A Harmonized Data Quality Assessment Terminology and Framework for the Secondary Use of EHR Data – 2016</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Kahn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general framework and requires adaptation to specific appointment datasets and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systematic basis for checking </a:t>
                      </a:r>
                      <a:r>
                        <a:rPr lang="en-IN" sz="1200" b="1">
                          <a:solidFill>
                            <a:schemeClr val="tx1"/>
                          </a:solidFill>
                        </a:rPr>
                        <a:t>data completeness, conformance, plausibility and quality</a:t>
                      </a:r>
                      <a:r>
                        <a:rPr lang="en-IN" sz="1200">
                          <a:solidFill>
                            <a:schemeClr val="tx1"/>
                          </a:solidFill>
                        </a:rPr>
                        <a:t> during our ETL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https://doi.org/10.13063/2327-9214.1244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11326">
                <a:tc>
                  <a:txBody>
                    <a:bodyPr/>
                    <a:lstStyle/>
                    <a:p>
                      <a:pPr>
                        <a:buNone/>
                      </a:pPr>
                      <a:r>
                        <a:rPr lang="en-IN" sz="1200" b="1">
                          <a:solidFill>
                            <a:schemeClr val="tx1"/>
                          </a:solidFill>
                        </a:rPr>
                        <a:t>8</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ETL Processes for Integrating Healthcare Data – Tools and Architecture Patterns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Cheng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Compares healthcare ETL tools and architecture patterns; the examples are broader than hospital appointment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Directly supports our </a:t>
                      </a:r>
                      <a:r>
                        <a:rPr lang="en-IN" sz="1200" b="1">
                          <a:solidFill>
                            <a:schemeClr val="tx1"/>
                          </a:solidFill>
                        </a:rPr>
                        <a:t>Data Ingestion → Transformation → Storage</a:t>
                      </a:r>
                      <a:r>
                        <a:rPr lang="en-IN" sz="1200">
                          <a:solidFill>
                            <a:schemeClr val="tx1"/>
                          </a:solidFill>
                        </a:rPr>
                        <a:t> architecture for processing healthcare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https://doi.org/10.3233/SHTI220974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11326">
                <a:tc>
                  <a:txBody>
                    <a:bodyPr/>
                    <a:lstStyle/>
                    <a:p>
                      <a:pPr>
                        <a:buNone/>
                      </a:pPr>
                      <a:r>
                        <a:rPr lang="en-IN" sz="1200" b="1">
                          <a:solidFill>
                            <a:schemeClr val="tx1"/>
                          </a:solidFill>
                        </a:rPr>
                        <a:t>9</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No-Show in Medical Appointments with Machine Learning Techniques: A Systematic Literature Review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Salazar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primarily on machine-learning-based no-show prediction; practical integration with hospital data systems remains 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Identifies useful appointment attributes such as </a:t>
                      </a:r>
                      <a:r>
                        <a:rPr lang="en-IN" sz="1200" b="1">
                          <a:solidFill>
                            <a:schemeClr val="tx1"/>
                          </a:solidFill>
                        </a:rPr>
                        <a:t>patient age, previous no-shows and lead time</a:t>
                      </a:r>
                      <a:r>
                        <a:rPr lang="en-IN" sz="1200">
                          <a:solidFill>
                            <a:schemeClr val="tx1"/>
                          </a:solidFill>
                        </a:rPr>
                        <a:t>, which can be derived from our cleaned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https://doi.org/10.3390/info13110507</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11326">
                <a:tc>
                  <a:txBody>
                    <a:bodyPr/>
                    <a:lstStyle/>
                    <a:p>
                      <a:pPr>
                        <a:buNone/>
                      </a:pPr>
                      <a:r>
                        <a:rPr lang="en-IN" sz="1200" b="1">
                          <a:solidFill>
                            <a:schemeClr val="tx1"/>
                          </a:solidFill>
                        </a:rPr>
                        <a:t>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Predicting Patient No-Shows Using Machine Learning: A Comprehensive Review and Future Research Agenda – 2025</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Toffaha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machine-learning research and highlights gaps in data collection, preprocessing and real-world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Reinforces the importance of </a:t>
                      </a:r>
                      <a:r>
                        <a:rPr lang="en-IN" sz="1200" b="1">
                          <a:solidFill>
                            <a:schemeClr val="tx1"/>
                          </a:solidFill>
                        </a:rPr>
                        <a:t>reliable data preparation, temporal features and implementation-ready datasets</a:t>
                      </a:r>
                      <a:r>
                        <a:rPr lang="en-IN" sz="1200">
                          <a:solidFill>
                            <a:schemeClr val="tx1"/>
                          </a:solidFill>
                        </a:rPr>
                        <a:t> for future predictive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https://doi.org/10.1016/j.ibmed.2025.100229</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1128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32453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Data Quality Gap</a:t>
            </a:r>
          </a:p>
          <a:p>
            <a:pPr lvl="0"/>
            <a:r>
              <a:rPr lang="en-IN" sz="2000" b="1" dirty="0">
                <a:latin typeface="Times New Roman" panose="02020603050405020304" pitchFamily="18" charset="0"/>
                <a:cs typeface="Times New Roman" panose="02020603050405020304" pitchFamily="18" charset="0"/>
              </a:rPr>
              <a:t>Inconsistent Records:</a:t>
            </a:r>
            <a:r>
              <a:rPr lang="en-IN" sz="2000" dirty="0">
                <a:latin typeface="Times New Roman" panose="02020603050405020304" pitchFamily="18" charset="0"/>
                <a:cs typeface="Times New Roman" panose="02020603050405020304" pitchFamily="18" charset="0"/>
              </a:rPr>
              <a:t> Duplicate and missing entries are common across raw CSV/JSON appointment files.</a:t>
            </a:r>
          </a:p>
          <a:p>
            <a:pPr lvl="0"/>
            <a:r>
              <a:rPr lang="en-IN" sz="2000" b="1" dirty="0">
                <a:latin typeface="Times New Roman" panose="02020603050405020304" pitchFamily="18" charset="0"/>
                <a:cs typeface="Times New Roman" panose="02020603050405020304" pitchFamily="18" charset="0"/>
              </a:rPr>
              <a:t>No Central Pipeline:</a:t>
            </a:r>
            <a:r>
              <a:rPr lang="en-IN" sz="2000" dirty="0">
                <a:latin typeface="Times New Roman" panose="02020603050405020304" pitchFamily="18" charset="0"/>
                <a:cs typeface="Times New Roman" panose="02020603050405020304" pitchFamily="18" charset="0"/>
              </a:rPr>
              <a:t> There is no automated flow connecting raw files to a clean, query-ready database.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Analytics Gap</a:t>
            </a:r>
          </a:p>
          <a:p>
            <a:pPr lvl="0"/>
            <a:r>
              <a:rPr lang="en-IN" sz="2000" b="1" dirty="0">
                <a:latin typeface="Times New Roman" panose="02020603050405020304" pitchFamily="18" charset="0"/>
                <a:cs typeface="Times New Roman" panose="02020603050405020304" pitchFamily="18" charset="0"/>
              </a:rPr>
              <a:t>No Trend Visibility:</a:t>
            </a:r>
            <a:r>
              <a:rPr lang="en-IN" sz="2000" dirty="0">
                <a:latin typeface="Times New Roman" panose="02020603050405020304" pitchFamily="18" charset="0"/>
                <a:cs typeface="Times New Roman" panose="02020603050405020304" pitchFamily="18" charset="0"/>
              </a:rPr>
              <a:t> Existing hospital tools rarely expose department-wise or doctor-wise appointment patterns.</a:t>
            </a:r>
          </a:p>
          <a:p>
            <a:pPr lvl="0"/>
            <a:r>
              <a:rPr lang="en-IN" sz="2000" b="1" dirty="0">
                <a:latin typeface="Times New Roman" panose="02020603050405020304" pitchFamily="18" charset="0"/>
                <a:cs typeface="Times New Roman" panose="02020603050405020304" pitchFamily="18" charset="0"/>
              </a:rPr>
              <a:t>No No-Show Insight:</a:t>
            </a:r>
            <a:r>
              <a:rPr lang="en-IN" sz="2000" dirty="0">
                <a:latin typeface="Times New Roman" panose="02020603050405020304" pitchFamily="18" charset="0"/>
                <a:cs typeface="Times New Roman" panose="02020603050405020304" pitchFamily="18" charset="0"/>
              </a:rPr>
              <a:t> Cancelled and no-show appointments are not tracked or analyzed systematically.</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Scalability Gap</a:t>
            </a:r>
          </a:p>
          <a:p>
            <a:pPr lvl="0"/>
            <a:r>
              <a:rPr lang="en-IN" sz="2000" b="1" dirty="0">
                <a:latin typeface="Times New Roman" panose="02020603050405020304" pitchFamily="18" charset="0"/>
                <a:cs typeface="Times New Roman" panose="02020603050405020304" pitchFamily="18" charset="0"/>
              </a:rPr>
              <a:t>Manual Effort:</a:t>
            </a:r>
            <a:r>
              <a:rPr lang="en-IN" sz="2000" dirty="0">
                <a:latin typeface="Times New Roman" panose="02020603050405020304" pitchFamily="18" charset="0"/>
                <a:cs typeface="Times New Roman" panose="02020603050405020304" pitchFamily="18" charset="0"/>
              </a:rPr>
              <a:t> Cleaning and reporting by hand does not scale as appointment volume grows.</a:t>
            </a:r>
          </a:p>
          <a:p>
            <a:pPr lvl="0"/>
            <a:r>
              <a:rPr lang="en-IN" sz="2000" b="1" dirty="0">
                <a:latin typeface="Times New Roman" panose="02020603050405020304" pitchFamily="18" charset="0"/>
                <a:cs typeface="Times New Roman" panose="02020603050405020304" pitchFamily="18" charset="0"/>
              </a:rPr>
              <a:t>Rigid Storage:</a:t>
            </a:r>
            <a:r>
              <a:rPr lang="en-IN" sz="2000" dirty="0">
                <a:latin typeface="Times New Roman" panose="02020603050405020304" pitchFamily="18" charset="0"/>
                <a:cs typeface="Times New Roman" panose="02020603050405020304" pitchFamily="18" charset="0"/>
              </a:rPr>
              <a:t> Fixed-schema relational systems struggle with varied or evolving record formats.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How This Project Addresses It</a:t>
            </a:r>
          </a:p>
          <a:p>
            <a:pPr lvl="0"/>
            <a:r>
              <a:rPr lang="en-IN" sz="2000" b="1" dirty="0">
                <a:latin typeface="Times New Roman" panose="02020603050405020304" pitchFamily="18" charset="0"/>
                <a:cs typeface="Times New Roman" panose="02020603050405020304" pitchFamily="18" charset="0"/>
              </a:rPr>
              <a:t>Automated Pipeline:</a:t>
            </a:r>
            <a:r>
              <a:rPr lang="en-IN" sz="2000" dirty="0">
                <a:latin typeface="Times New Roman" panose="02020603050405020304" pitchFamily="18" charset="0"/>
                <a:cs typeface="Times New Roman" panose="02020603050405020304" pitchFamily="18" charset="0"/>
              </a:rPr>
              <a:t> Cleans and standardizes data end-to-end instead of manual correction.</a:t>
            </a:r>
          </a:p>
          <a:p>
            <a:pPr lvl="0"/>
            <a:r>
              <a:rPr lang="en-IN" sz="2000" b="1" dirty="0">
                <a:latin typeface="Times New Roman" panose="02020603050405020304" pitchFamily="18" charset="0"/>
                <a:cs typeface="Times New Roman" panose="02020603050405020304" pitchFamily="18" charset="0"/>
              </a:rPr>
              <a:t>Flexible Analytics:</a:t>
            </a:r>
            <a:r>
              <a:rPr lang="en-IN" sz="2000" dirty="0">
                <a:latin typeface="Times New Roman" panose="02020603050405020304" pitchFamily="18" charset="0"/>
                <a:cs typeface="Times New Roman" panose="02020603050405020304" pitchFamily="18" charset="0"/>
              </a:rPr>
              <a:t> NoSQL storage and a dashboard expose status and trend patterns directly.</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Problem Gap Identification</a:t>
            </a:r>
          </a:p>
        </p:txBody>
      </p:sp>
    </p:spTree>
    <p:extLst>
      <p:ext uri="{BB962C8B-B14F-4D97-AF65-F5344CB8AC3E}">
        <p14:creationId xmlns:p14="http://schemas.microsoft.com/office/powerpoint/2010/main" val="1245516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01675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Automated Data Engineering Pipeline</a:t>
            </a:r>
          </a:p>
          <a:p>
            <a:pPr lvl="0"/>
            <a:r>
              <a:rPr lang="en-IN" sz="2000" b="1" dirty="0">
                <a:latin typeface="Times New Roman" panose="02020603050405020304" pitchFamily="18" charset="0"/>
                <a:cs typeface="Times New Roman" panose="02020603050405020304" pitchFamily="18" charset="0"/>
              </a:rPr>
              <a:t>End-to-End Automation:</a:t>
            </a:r>
            <a:r>
              <a:rPr lang="en-IN" sz="2000" dirty="0">
                <a:latin typeface="Times New Roman" panose="02020603050405020304" pitchFamily="18" charset="0"/>
                <a:cs typeface="Times New Roman" panose="02020603050405020304" pitchFamily="18" charset="0"/>
              </a:rPr>
              <a:t> Ingestion, cleaning, transformation, and storage run as one repeatable pipeline.</a:t>
            </a:r>
          </a:p>
          <a:p>
            <a:pPr lvl="0"/>
            <a:r>
              <a:rPr lang="en-IN" sz="2000" b="1" dirty="0">
                <a:latin typeface="Times New Roman" panose="02020603050405020304" pitchFamily="18" charset="0"/>
                <a:cs typeface="Times New Roman" panose="02020603050405020304" pitchFamily="18" charset="0"/>
              </a:rPr>
              <a:t>Feature Engineering:</a:t>
            </a:r>
            <a:r>
              <a:rPr lang="en-IN" sz="2000" dirty="0">
                <a:latin typeface="Times New Roman" panose="02020603050405020304" pitchFamily="18" charset="0"/>
                <a:cs typeface="Times New Roman" panose="02020603050405020304" pitchFamily="18" charset="0"/>
              </a:rPr>
              <a:t> Automatically derives useful fields such as appointment lead time from raw bookings.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NoSQL-First Design</a:t>
            </a:r>
          </a:p>
          <a:p>
            <a:pPr lvl="0"/>
            <a:r>
              <a:rPr lang="en-IN" sz="2000" b="1" dirty="0">
                <a:latin typeface="Times New Roman" panose="02020603050405020304" pitchFamily="18" charset="0"/>
                <a:cs typeface="Times New Roman" panose="02020603050405020304" pitchFamily="18" charset="0"/>
              </a:rPr>
              <a:t>Flexible Schema:</a:t>
            </a:r>
            <a:r>
              <a:rPr lang="en-IN" sz="2000" dirty="0">
                <a:latin typeface="Times New Roman" panose="02020603050405020304" pitchFamily="18" charset="0"/>
                <a:cs typeface="Times New Roman" panose="02020603050405020304" pitchFamily="18" charset="0"/>
              </a:rPr>
              <a:t> MongoDB collections embed related data for faster access than rigid relational tables.</a:t>
            </a:r>
          </a:p>
          <a:p>
            <a:pPr lvl="0"/>
            <a:r>
              <a:rPr lang="en-IN" sz="2000" b="1" dirty="0">
                <a:latin typeface="Times New Roman" panose="02020603050405020304" pitchFamily="18" charset="0"/>
                <a:cs typeface="Times New Roman" panose="02020603050405020304" pitchFamily="18" charset="0"/>
              </a:rPr>
              <a:t>Status Indexing:</a:t>
            </a:r>
            <a:r>
              <a:rPr lang="en-IN" sz="2000" dirty="0">
                <a:latin typeface="Times New Roman" panose="02020603050405020304" pitchFamily="18" charset="0"/>
                <a:cs typeface="Times New Roman" panose="02020603050405020304" pitchFamily="18" charset="0"/>
              </a:rPr>
              <a:t> Completed/Cancelled/No-Show fields are indexed for fast filtering and reporting.</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Interactive Analytics Dashboard</a:t>
            </a:r>
          </a:p>
          <a:p>
            <a:pPr lvl="0"/>
            <a:r>
              <a:rPr lang="en-IN" sz="2000" b="1" dirty="0">
                <a:latin typeface="Times New Roman" panose="02020603050405020304" pitchFamily="18" charset="0"/>
                <a:cs typeface="Times New Roman" panose="02020603050405020304" pitchFamily="18" charset="0"/>
              </a:rPr>
              <a:t>Streamlit Visualization:</a:t>
            </a:r>
            <a:r>
              <a:rPr lang="en-IN" sz="2000" dirty="0">
                <a:latin typeface="Times New Roman" panose="02020603050405020304" pitchFamily="18" charset="0"/>
                <a:cs typeface="Times New Roman" panose="02020603050405020304" pitchFamily="18" charset="0"/>
              </a:rPr>
              <a:t> Turns raw records into interactive charts for status and department-wise trends.</a:t>
            </a:r>
          </a:p>
          <a:p>
            <a:pPr lvl="0"/>
            <a:r>
              <a:rPr lang="en-IN" sz="2000" b="1" dirty="0">
                <a:latin typeface="Times New Roman" panose="02020603050405020304" pitchFamily="18" charset="0"/>
                <a:cs typeface="Times New Roman" panose="02020603050405020304" pitchFamily="18" charset="0"/>
              </a:rPr>
              <a:t>Built for Staff:</a:t>
            </a:r>
            <a:r>
              <a:rPr lang="en-IN" sz="2000" dirty="0">
                <a:latin typeface="Times New Roman" panose="02020603050405020304" pitchFamily="18" charset="0"/>
                <a:cs typeface="Times New Roman" panose="02020603050405020304" pitchFamily="18" charset="0"/>
              </a:rPr>
              <a:t> Designed for hospital staff and administrators, not just technical users.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Practical, Extensible Approach</a:t>
            </a:r>
          </a:p>
          <a:p>
            <a:pPr lvl="0"/>
            <a:r>
              <a:rPr lang="en-IN" sz="2000" b="1" dirty="0">
                <a:latin typeface="Times New Roman" panose="02020603050405020304" pitchFamily="18" charset="0"/>
                <a:cs typeface="Times New Roman" panose="02020603050405020304" pitchFamily="18" charset="0"/>
              </a:rPr>
              <a:t>Real-World Data Style:</a:t>
            </a:r>
            <a:r>
              <a:rPr lang="en-IN" sz="2000" dirty="0">
                <a:latin typeface="Times New Roman" panose="02020603050405020304" pitchFamily="18" charset="0"/>
                <a:cs typeface="Times New Roman" panose="02020603050405020304" pitchFamily="18" charset="0"/>
              </a:rPr>
              <a:t> Built and tested on realistic, messy appointment data rather than clean samples.</a:t>
            </a:r>
          </a:p>
          <a:p>
            <a:pPr lvl="0"/>
            <a:r>
              <a:rPr lang="en-IN" sz="2000" b="1" dirty="0">
                <a:latin typeface="Times New Roman" panose="02020603050405020304" pitchFamily="18" charset="0"/>
                <a:cs typeface="Times New Roman" panose="02020603050405020304" pitchFamily="18" charset="0"/>
              </a:rPr>
              <a:t>Room to Grow:</a:t>
            </a:r>
            <a:r>
              <a:rPr lang="en-IN" sz="2000" dirty="0">
                <a:latin typeface="Times New Roman" panose="02020603050405020304" pitchFamily="18" charset="0"/>
                <a:cs typeface="Times New Roman" panose="02020603050405020304" pitchFamily="18" charset="0"/>
              </a:rPr>
              <a:t> The modular design allows new data sources or predictive features to be added later.</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Innovation, Creativity, and Novelty</a:t>
            </a:r>
          </a:p>
        </p:txBody>
      </p:sp>
    </p:spTree>
    <p:extLst>
      <p:ext uri="{BB962C8B-B14F-4D97-AF65-F5344CB8AC3E}">
        <p14:creationId xmlns:p14="http://schemas.microsoft.com/office/powerpoint/2010/main" val="12455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01675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Technical Feasibility</a:t>
            </a:r>
          </a:p>
          <a:p>
            <a:pPr lvl="0"/>
            <a:r>
              <a:rPr lang="en-IN" sz="2000" b="1" dirty="0">
                <a:latin typeface="Times New Roman" panose="02020603050405020304" pitchFamily="18" charset="0"/>
                <a:cs typeface="Times New Roman" panose="02020603050405020304" pitchFamily="18" charset="0"/>
              </a:rPr>
              <a:t>Proven Stack:</a:t>
            </a:r>
            <a:r>
              <a:rPr lang="en-IN" sz="2000" dirty="0">
                <a:latin typeface="Times New Roman" panose="02020603050405020304" pitchFamily="18" charset="0"/>
                <a:cs typeface="Times New Roman" panose="02020603050405020304" pitchFamily="18" charset="0"/>
              </a:rPr>
              <a:t> Python, Pandas, MongoDB, and Streamlit are mature, well-documented, and free to use.</a:t>
            </a:r>
          </a:p>
          <a:p>
            <a:pPr lvl="0"/>
            <a:r>
              <a:rPr lang="en-IN" sz="2000" b="1" dirty="0">
                <a:latin typeface="Times New Roman" panose="02020603050405020304" pitchFamily="18" charset="0"/>
                <a:cs typeface="Times New Roman" panose="02020603050405020304" pitchFamily="18" charset="0"/>
              </a:rPr>
              <a:t>Team Skillset:</a:t>
            </a:r>
            <a:r>
              <a:rPr lang="en-IN" sz="2000" dirty="0">
                <a:latin typeface="Times New Roman" panose="02020603050405020304" pitchFamily="18" charset="0"/>
                <a:cs typeface="Times New Roman" panose="02020603050405020304" pitchFamily="18" charset="0"/>
              </a:rPr>
              <a:t> The team has hands-on experience with Python scripting and NoSQL databases.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Data Feasibility</a:t>
            </a:r>
          </a:p>
          <a:p>
            <a:pPr lvl="0"/>
            <a:r>
              <a:rPr lang="en-IN" sz="2000" b="1" dirty="0">
                <a:latin typeface="Times New Roman" panose="02020603050405020304" pitchFamily="18" charset="0"/>
                <a:cs typeface="Times New Roman" panose="02020603050405020304" pitchFamily="18" charset="0"/>
              </a:rPr>
              <a:t>Available Formats:</a:t>
            </a:r>
            <a:r>
              <a:rPr lang="en-IN" sz="2000" dirty="0">
                <a:latin typeface="Times New Roman" panose="02020603050405020304" pitchFamily="18" charset="0"/>
                <a:cs typeface="Times New Roman" panose="02020603050405020304" pitchFamily="18" charset="0"/>
              </a:rPr>
              <a:t> Hospital appointment data in CSV/JSON form is realistic and easy to source or simulate.</a:t>
            </a:r>
          </a:p>
          <a:p>
            <a:pPr lvl="0"/>
            <a:r>
              <a:rPr lang="en-IN" sz="2000" b="1" dirty="0">
                <a:latin typeface="Times New Roman" panose="02020603050405020304" pitchFamily="18" charset="0"/>
                <a:cs typeface="Times New Roman" panose="02020603050405020304" pitchFamily="18" charset="0"/>
              </a:rPr>
              <a:t>Manageable Scale:</a:t>
            </a:r>
            <a:r>
              <a:rPr lang="en-IN" sz="2000" dirty="0">
                <a:latin typeface="Times New Roman" panose="02020603050405020304" pitchFamily="18" charset="0"/>
                <a:cs typeface="Times New Roman" panose="02020603050405020304" pitchFamily="18" charset="0"/>
              </a:rPr>
              <a:t> Dataset size suits a single-machine pipeline without specialized infrastructure.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Operational Feasibility</a:t>
            </a:r>
          </a:p>
          <a:p>
            <a:pPr lvl="0"/>
            <a:r>
              <a:rPr lang="en-IN" sz="2000" b="1" dirty="0">
                <a:latin typeface="Times New Roman" panose="02020603050405020304" pitchFamily="18" charset="0"/>
                <a:cs typeface="Times New Roman" panose="02020603050405020304" pitchFamily="18" charset="0"/>
              </a:rPr>
              <a:t>Low Setup Cost:</a:t>
            </a:r>
            <a:r>
              <a:rPr lang="en-IN" sz="2000" dirty="0">
                <a:latin typeface="Times New Roman" panose="02020603050405020304" pitchFamily="18" charset="0"/>
                <a:cs typeface="Times New Roman" panose="02020603050405020304" pitchFamily="18" charset="0"/>
              </a:rPr>
              <a:t> All tools used are open-source, needing no paid licenses or dedicated servers.</a:t>
            </a:r>
          </a:p>
          <a:p>
            <a:pPr lvl="0"/>
            <a:r>
              <a:rPr lang="en-IN" sz="2000" b="1" dirty="0">
                <a:latin typeface="Times New Roman" panose="02020603050405020304" pitchFamily="18" charset="0"/>
                <a:cs typeface="Times New Roman" panose="02020603050405020304" pitchFamily="18" charset="0"/>
              </a:rPr>
              <a:t>Clear Ownership:</a:t>
            </a:r>
            <a:r>
              <a:rPr lang="en-IN" sz="2000" dirty="0">
                <a:latin typeface="Times New Roman" panose="02020603050405020304" pitchFamily="18" charset="0"/>
                <a:cs typeface="Times New Roman" panose="02020603050405020304" pitchFamily="18" charset="0"/>
              </a:rPr>
              <a:t> Each pipeline stage — ingest, clean, store, visualize — is a distinct, testable module.</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Project Plan</a:t>
            </a:r>
          </a:p>
          <a:p>
            <a:pPr lvl="0"/>
            <a:r>
              <a:rPr lang="en-IN" sz="2000" b="1" dirty="0">
                <a:latin typeface="Times New Roman" panose="02020603050405020304" pitchFamily="18" charset="0"/>
                <a:cs typeface="Times New Roman" panose="02020603050405020304" pitchFamily="18" charset="0"/>
              </a:rPr>
              <a:t>Phase-wise Delivery:</a:t>
            </a:r>
            <a:r>
              <a:rPr lang="en-IN" sz="2000" dirty="0">
                <a:latin typeface="Times New Roman" panose="02020603050405020304" pitchFamily="18" charset="0"/>
                <a:cs typeface="Times New Roman" panose="02020603050405020304" pitchFamily="18" charset="0"/>
              </a:rPr>
              <a:t> Ingestion and cleaning were built first, then MongoDB storage, then the dashboard.</a:t>
            </a:r>
          </a:p>
          <a:p>
            <a:pPr lvl="0"/>
            <a:r>
              <a:rPr lang="en-IN" sz="2000" b="1" dirty="0">
                <a:latin typeface="Times New Roman" panose="02020603050405020304" pitchFamily="18" charset="0"/>
                <a:cs typeface="Times New Roman" panose="02020603050405020304" pitchFamily="18" charset="0"/>
              </a:rPr>
              <a:t>On Track for Review 3:</a:t>
            </a:r>
            <a:r>
              <a:rPr lang="en-IN" sz="2000" dirty="0">
                <a:latin typeface="Times New Roman" panose="02020603050405020304" pitchFamily="18" charset="0"/>
                <a:cs typeface="Times New Roman" panose="02020603050405020304" pitchFamily="18" charset="0"/>
              </a:rPr>
              <a:t> Core pipeline and dashboard are functional, with refinement and testing ongoing.</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Feasibility and Project Plan</a:t>
            </a:r>
          </a:p>
        </p:txBody>
      </p:sp>
    </p:spTree>
    <p:extLst>
      <p:ext uri="{BB962C8B-B14F-4D97-AF65-F5344CB8AC3E}">
        <p14:creationId xmlns:p14="http://schemas.microsoft.com/office/powerpoint/2010/main" val="1245516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470898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Software Requirements</a:t>
            </a:r>
          </a:p>
          <a:p>
            <a:pPr lvl="0"/>
            <a:r>
              <a:rPr lang="en-IN" sz="2000" b="1" dirty="0">
                <a:latin typeface="Times New Roman" panose="02020603050405020304" pitchFamily="18" charset="0"/>
                <a:cs typeface="Times New Roman" panose="02020603050405020304" pitchFamily="18" charset="0"/>
              </a:rPr>
              <a:t>Languages &amp; Libraries:</a:t>
            </a:r>
            <a:r>
              <a:rPr lang="en-IN" sz="2000" dirty="0">
                <a:latin typeface="Times New Roman" panose="02020603050405020304" pitchFamily="18" charset="0"/>
                <a:cs typeface="Times New Roman" panose="02020603050405020304" pitchFamily="18" charset="0"/>
              </a:rPr>
              <a:t> Python, Pandas, PyMongo, Streamlit, and Plotly/Matplotlib.</a:t>
            </a:r>
          </a:p>
          <a:p>
            <a:pPr lvl="0"/>
            <a:r>
              <a:rPr lang="en-IN" sz="2000" b="1" dirty="0">
                <a:latin typeface="Times New Roman" panose="02020603050405020304" pitchFamily="18" charset="0"/>
                <a:cs typeface="Times New Roman" panose="02020603050405020304" pitchFamily="18" charset="0"/>
              </a:rPr>
              <a:t>Database &amp; Tools:</a:t>
            </a:r>
            <a:r>
              <a:rPr lang="en-IN" sz="2000" dirty="0">
                <a:latin typeface="Times New Roman" panose="02020603050405020304" pitchFamily="18" charset="0"/>
                <a:cs typeface="Times New Roman" panose="02020603050405020304" pitchFamily="18" charset="0"/>
              </a:rPr>
              <a:t> MongoDB, VS Code / Jupyter Notebook, and Git for version control.</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Hardware Requirements</a:t>
            </a:r>
          </a:p>
          <a:p>
            <a:pPr lvl="0"/>
            <a:r>
              <a:rPr lang="en-IN" sz="2000" b="1" dirty="0">
                <a:latin typeface="Times New Roman" panose="02020603050405020304" pitchFamily="18" charset="0"/>
                <a:cs typeface="Times New Roman" panose="02020603050405020304" pitchFamily="18" charset="0"/>
              </a:rPr>
              <a:t>Development Machine:</a:t>
            </a:r>
            <a:r>
              <a:rPr lang="en-IN" sz="2000" dirty="0">
                <a:latin typeface="Times New Roman" panose="02020603050405020304" pitchFamily="18" charset="0"/>
                <a:cs typeface="Times New Roman" panose="02020603050405020304" pitchFamily="18" charset="0"/>
              </a:rPr>
              <a:t> A standard laptop/PC (multi-core CPU, 8GB+ RAM) is sufficient for this dataset.</a:t>
            </a:r>
          </a:p>
          <a:p>
            <a:pPr lvl="0"/>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A local or cloud-hosted MongoDB instance for storing processed collections.</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Functional Requirements</a:t>
            </a:r>
          </a:p>
          <a:p>
            <a:pPr lvl="0"/>
            <a:r>
              <a:rPr lang="en-IN" sz="2000" b="1" dirty="0">
                <a:latin typeface="Times New Roman" panose="02020603050405020304" pitchFamily="18" charset="0"/>
                <a:cs typeface="Times New Roman" panose="02020603050405020304" pitchFamily="18" charset="0"/>
              </a:rPr>
              <a:t>Core Operations:</a:t>
            </a:r>
            <a:r>
              <a:rPr lang="en-IN" sz="2000" dirty="0">
                <a:latin typeface="Times New Roman" panose="02020603050405020304" pitchFamily="18" charset="0"/>
                <a:cs typeface="Times New Roman" panose="02020603050405020304" pitchFamily="18" charset="0"/>
              </a:rPr>
              <a:t> Ingest, clean, store, and visualize hospital appointment data end-to-end.</a:t>
            </a:r>
          </a:p>
          <a:p>
            <a:pPr lvl="0"/>
            <a:r>
              <a:rPr lang="en-IN" sz="2000" b="1" dirty="0">
                <a:latin typeface="Times New Roman" panose="02020603050405020304" pitchFamily="18" charset="0"/>
                <a:cs typeface="Times New Roman" panose="02020603050405020304" pitchFamily="18" charset="0"/>
              </a:rPr>
              <a:t>Status Handling:</a:t>
            </a:r>
            <a:r>
              <a:rPr lang="en-IN" sz="2000" dirty="0">
                <a:latin typeface="Times New Roman" panose="02020603050405020304" pitchFamily="18" charset="0"/>
                <a:cs typeface="Times New Roman" panose="02020603050405020304" pitchFamily="18" charset="0"/>
              </a:rPr>
              <a:t> Correctly classify appointments as Completed, Cancelled, or No-Show.</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Non-Functional Requirements</a:t>
            </a:r>
          </a:p>
          <a:p>
            <a:pPr lvl="0"/>
            <a:r>
              <a:rPr lang="en-IN" sz="2000" b="1" dirty="0">
                <a:latin typeface="Times New Roman" panose="02020603050405020304" pitchFamily="18" charset="0"/>
                <a:cs typeface="Times New Roman" panose="02020603050405020304" pitchFamily="18" charset="0"/>
              </a:rPr>
              <a:t>Performance:</a:t>
            </a:r>
            <a:r>
              <a:rPr lang="en-IN" sz="2000" dirty="0">
                <a:latin typeface="Times New Roman" panose="02020603050405020304" pitchFamily="18" charset="0"/>
                <a:cs typeface="Times New Roman" panose="02020603050405020304" pitchFamily="18" charset="0"/>
              </a:rPr>
              <a:t> Queries and dashboard updates should return results without noticeable delay.</a:t>
            </a:r>
          </a:p>
          <a:p>
            <a:pPr lvl="0"/>
            <a:r>
              <a:rPr lang="en-IN" sz="2000" b="1" dirty="0">
                <a:latin typeface="Times New Roman" panose="02020603050405020304" pitchFamily="18" charset="0"/>
                <a:cs typeface="Times New Roman" panose="02020603050405020304" pitchFamily="18" charset="0"/>
              </a:rPr>
              <a:t>Usability:</a:t>
            </a:r>
            <a:r>
              <a:rPr lang="en-IN" sz="2000" dirty="0">
                <a:latin typeface="Times New Roman" panose="02020603050405020304" pitchFamily="18" charset="0"/>
                <a:cs typeface="Times New Roman" panose="02020603050405020304" pitchFamily="18" charset="0"/>
              </a:rPr>
              <a:t> Reports and charts should be understandable to non-technical hospital staff.</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Requirements</a:t>
            </a:r>
          </a:p>
        </p:txBody>
      </p:sp>
    </p:spTree>
    <p:extLst>
      <p:ext uri="{BB962C8B-B14F-4D97-AF65-F5344CB8AC3E}">
        <p14:creationId xmlns:p14="http://schemas.microsoft.com/office/powerpoint/2010/main" val="1245516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03C3C6-99D0-9AB1-969E-C52F7AF0070F}"/>
              </a:ext>
            </a:extLst>
          </p:cNvPr>
          <p:cNvPicPr>
            <a:picLocks noChangeAspect="1"/>
          </p:cNvPicPr>
          <p:nvPr/>
        </p:nvPicPr>
        <p:blipFill>
          <a:blip r:embed="rId3"/>
          <a:stretch>
            <a:fillRect/>
          </a:stretch>
        </p:blipFill>
        <p:spPr>
          <a:xfrm>
            <a:off x="-170501" y="-880072"/>
            <a:ext cx="12533001" cy="7606097"/>
          </a:xfrm>
          <a:prstGeom prst="rect">
            <a:avLst/>
          </a:prstGeom>
        </p:spPr>
      </p:pic>
      <p:sp>
        <p:nvSpPr>
          <p:cNvPr id="4" name="TextBox 3">
            <a:extLst>
              <a:ext uri="{FF2B5EF4-FFF2-40B4-BE49-F238E27FC236}">
                <a16:creationId xmlns:a16="http://schemas.microsoft.com/office/drawing/2014/main" id="{6103509A-76F1-23B1-FDFE-03CC42C750B5}"/>
              </a:ext>
            </a:extLst>
          </p:cNvPr>
          <p:cNvSpPr txBox="1"/>
          <p:nvPr/>
        </p:nvSpPr>
        <p:spPr>
          <a:xfrm>
            <a:off x="4147795" y="5598678"/>
            <a:ext cx="781639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Hospital appointment platform-</a:t>
            </a:r>
            <a:r>
              <a:rPr lang="en-US" sz="2800" b="1" dirty="0" err="1">
                <a:latin typeface="Times New Roman" panose="02020603050405020304" pitchFamily="18" charset="0"/>
                <a:cs typeface="Times New Roman" panose="02020603050405020304" pitchFamily="18" charset="0"/>
              </a:rPr>
              <a:t>uml</a:t>
            </a:r>
            <a:r>
              <a:rPr lang="en-US" sz="2800" b="1" dirty="0">
                <a:latin typeface="Times New Roman" panose="02020603050405020304" pitchFamily="18" charset="0"/>
                <a:cs typeface="Times New Roman" panose="02020603050405020304" pitchFamily="18" charset="0"/>
              </a:rPr>
              <a:t> class diagram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8872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Layer (Raw Inputs)</a:t>
            </a:r>
          </a:p>
          <a:p>
            <a:pPr lvl="0"/>
            <a:r>
              <a:rPr lang="en-IN" b="1" dirty="0"/>
              <a:t>Source Data:</a:t>
            </a:r>
            <a:r>
              <a:rPr lang="en-IN" dirty="0"/>
              <a:t> Raw, unorganized hospital files (CSV/JSON format)</a:t>
            </a:r>
          </a:p>
          <a:p>
            <a:pPr lvl="0"/>
            <a:r>
              <a:rPr lang="en-IN" b="1" dirty="0"/>
              <a:t>Contents:</a:t>
            </a:r>
            <a:r>
              <a:rPr lang="en-IN" dirty="0"/>
              <a:t> Messy records of appointment bookings, patient details, and doctor schedules</a:t>
            </a:r>
          </a:p>
          <a:p>
            <a:pPr lvl="0"/>
            <a:endParaRPr lang="en-IN" dirty="0"/>
          </a:p>
          <a:p>
            <a:r>
              <a:rPr lang="en-IN" b="1" dirty="0"/>
              <a:t>2. Data Transformation Layer (The Processing Engine)</a:t>
            </a:r>
          </a:p>
          <a:p>
            <a:pPr lvl="0"/>
            <a:r>
              <a:rPr lang="en-IN" b="1" dirty="0"/>
              <a:t>Data Cleaning:</a:t>
            </a:r>
            <a:r>
              <a:rPr lang="en-IN" dirty="0"/>
              <a:t> Python/SQL scripts automatically drop duplicate records and handle missing (null) values</a:t>
            </a:r>
          </a:p>
          <a:p>
            <a:pPr lvl="0"/>
            <a:r>
              <a:rPr lang="en-IN" b="1" dirty="0"/>
              <a:t>Standardisation:</a:t>
            </a:r>
            <a:r>
              <a:rPr lang="en-IN" dirty="0"/>
              <a:t> Converts conflicting date/time formats into a single, uniform standard</a:t>
            </a:r>
          </a:p>
          <a:p>
            <a:pPr lvl="0"/>
            <a:r>
              <a:rPr lang="en-IN" b="1" dirty="0"/>
              <a:t>Feature Engineering:</a:t>
            </a:r>
            <a:r>
              <a:rPr lang="en-IN" dirty="0"/>
              <a:t> Automatically calculates the Lead Time (days between booking date and appointment date)</a:t>
            </a:r>
          </a:p>
          <a:p>
            <a:pPr lvl="0"/>
            <a:endParaRPr lang="en-IN" dirty="0"/>
          </a:p>
          <a:p>
            <a:r>
              <a:rPr lang="en-IN" b="1" dirty="0"/>
              <a:t>3. Storage Layer (The Clean Database) </a:t>
            </a:r>
          </a:p>
          <a:p>
            <a:pPr lvl="0"/>
            <a:r>
              <a:rPr lang="en-IN" b="1" dirty="0"/>
              <a:t>Structured Storage:</a:t>
            </a:r>
            <a:r>
              <a:rPr lang="en-IN" dirty="0"/>
              <a:t> Cleaned data is saved into a </a:t>
            </a:r>
            <a:r>
              <a:rPr lang="en-IN" b="1" dirty="0"/>
              <a:t>NoSQL database (MongoDB)</a:t>
            </a:r>
            <a:r>
              <a:rPr lang="en-IN" dirty="0"/>
              <a:t> instead of a relational store</a:t>
            </a:r>
          </a:p>
          <a:p>
            <a:pPr lvl="0"/>
            <a:r>
              <a:rPr lang="en-IN" b="1" dirty="0"/>
              <a:t>Schema Design:</a:t>
            </a:r>
            <a:r>
              <a:rPr lang="en-IN" dirty="0"/>
              <a:t> Data is organized into </a:t>
            </a:r>
            <a:r>
              <a:rPr lang="en-IN" b="1" dirty="0"/>
              <a:t>collections</a:t>
            </a:r>
            <a:r>
              <a:rPr lang="en-IN" dirty="0"/>
              <a:t> — </a:t>
            </a:r>
            <a:r>
              <a:rPr lang="en-IN" sz="1400" dirty="0"/>
              <a:t>Patients</a:t>
            </a:r>
            <a:r>
              <a:rPr lang="en-IN" dirty="0"/>
              <a:t>, </a:t>
            </a:r>
            <a:r>
              <a:rPr lang="en-IN" sz="1400" dirty="0"/>
              <a:t>Doctors</a:t>
            </a:r>
            <a:r>
              <a:rPr lang="en-IN" dirty="0"/>
              <a:t>, and </a:t>
            </a:r>
            <a:r>
              <a:rPr lang="en-IN" sz="1400" dirty="0"/>
              <a:t>Appointments</a:t>
            </a:r>
            <a:r>
              <a:rPr lang="en-IN" dirty="0"/>
              <a:t> — instead of relational tables, using embedded/document structures for fast, flexible querying (e.g., a Patient document can embed their recent appointment history directly, reducing joins)</a:t>
            </a:r>
          </a:p>
          <a:p>
            <a:pPr lvl="0"/>
            <a:endParaRPr lang="en-IN" dirty="0"/>
          </a:p>
          <a:p>
            <a:r>
              <a:rPr lang="en-IN" b="1" dirty="0"/>
              <a:t>4. Analytical Output Layer (The Final View)</a:t>
            </a:r>
          </a:p>
          <a:p>
            <a:pPr lvl="0"/>
            <a:r>
              <a:rPr lang="en-IN" b="1" dirty="0"/>
              <a:t>Status Classification:</a:t>
            </a:r>
            <a:r>
              <a:rPr lang="en-IN" dirty="0"/>
              <a:t> Organizes records into indexed status fields — </a:t>
            </a:r>
            <a:r>
              <a:rPr lang="en-IN" sz="1400" dirty="0"/>
              <a:t>Completed</a:t>
            </a:r>
            <a:r>
              <a:rPr lang="en-IN" dirty="0"/>
              <a:t>, </a:t>
            </a:r>
            <a:r>
              <a:rPr lang="en-IN" sz="1400" dirty="0"/>
              <a:t>Cancelled</a:t>
            </a:r>
            <a:r>
              <a:rPr lang="en-IN" dirty="0"/>
              <a:t>, </a:t>
            </a:r>
            <a:r>
              <a:rPr lang="en-IN" sz="1400" dirty="0"/>
              <a:t>No-Show</a:t>
            </a:r>
            <a:r>
              <a:rPr lang="en-IN" dirty="0"/>
              <a:t> (MongoDB supports single-field and compound indexes on these directly within documents)</a:t>
            </a:r>
          </a:p>
          <a:p>
            <a:pPr lvl="0"/>
            <a:r>
              <a:rPr lang="en-IN" b="1" dirty="0"/>
              <a:t>Business Intelligence Ready:</a:t>
            </a:r>
            <a:r>
              <a:rPr lang="en-IN" dirty="0"/>
              <a:t> Delivers clean, structured datasets ready for tracking monthly trends, department vacancies, and doctor cancellation rates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Hospital Appointment Data Pipeline Architecture</a:t>
            </a:r>
          </a:p>
        </p:txBody>
      </p:sp>
    </p:spTree>
    <p:extLst>
      <p:ext uri="{BB962C8B-B14F-4D97-AF65-F5344CB8AC3E}">
        <p14:creationId xmlns:p14="http://schemas.microsoft.com/office/powerpoint/2010/main" val="1245516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075332-1D7A-82B8-C807-655AE434864E}"/>
              </a:ext>
            </a:extLst>
          </p:cNvPr>
          <p:cNvPicPr>
            <a:picLocks noChangeAspect="1"/>
          </p:cNvPicPr>
          <p:nvPr/>
        </p:nvPicPr>
        <p:blipFill>
          <a:blip r:embed="rId2"/>
          <a:stretch>
            <a:fillRect/>
          </a:stretch>
        </p:blipFill>
        <p:spPr>
          <a:xfrm>
            <a:off x="511230" y="0"/>
            <a:ext cx="11169540" cy="6858000"/>
          </a:xfrm>
          <a:prstGeom prst="rect">
            <a:avLst/>
          </a:prstGeom>
        </p:spPr>
      </p:pic>
    </p:spTree>
    <p:extLst>
      <p:ext uri="{BB962C8B-B14F-4D97-AF65-F5344CB8AC3E}">
        <p14:creationId xmlns:p14="http://schemas.microsoft.com/office/powerpoint/2010/main" val="365587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Module</a:t>
            </a:r>
          </a:p>
          <a:p>
            <a:pPr lvl="0"/>
            <a:r>
              <a:rPr lang="en-IN" b="1" dirty="0"/>
              <a:t>Function:</a:t>
            </a:r>
            <a:r>
              <a:rPr lang="en-IN" dirty="0"/>
              <a:t> Reads raw appointment records from CSV/JSON files using Python and Pandas.</a:t>
            </a:r>
          </a:p>
          <a:p>
            <a:pPr lvl="0"/>
            <a:r>
              <a:rPr lang="en-IN" b="1" dirty="0"/>
              <a:t>Validation:</a:t>
            </a:r>
            <a:r>
              <a:rPr lang="en-IN" dirty="0"/>
              <a:t> Checks file structure and loads records into memory for further processing.</a:t>
            </a:r>
          </a:p>
          <a:p>
            <a:pPr lvl="0"/>
            <a:endParaRPr lang="en-IN" dirty="0"/>
          </a:p>
          <a:p>
            <a:r>
              <a:rPr lang="en-IN" b="1" dirty="0"/>
              <a:t>2. Data Cleaning &amp; Transformation Module</a:t>
            </a:r>
          </a:p>
          <a:p>
            <a:pPr lvl="0"/>
            <a:r>
              <a:rPr lang="en-IN" b="1" dirty="0"/>
              <a:t>Cleaning:</a:t>
            </a:r>
            <a:r>
              <a:rPr lang="en-IN" dirty="0"/>
              <a:t> Uses Pandas functions such as drop_duplicates and fillna to remove duplicate records and handle missing values.</a:t>
            </a:r>
          </a:p>
          <a:p>
            <a:pPr lvl="0"/>
            <a:r>
              <a:rPr lang="en-IN" b="1" dirty="0"/>
              <a:t>Standardisation:</a:t>
            </a:r>
            <a:r>
              <a:rPr lang="en-IN" dirty="0"/>
              <a:t> Converts inconsistent date/time formats into a single uniform standard and computes appointment lead time.</a:t>
            </a:r>
          </a:p>
          <a:p>
            <a:pPr lvl="0"/>
            <a:endParaRPr lang="en-IN" dirty="0"/>
          </a:p>
          <a:p>
            <a:r>
              <a:rPr lang="en-IN" b="1" dirty="0"/>
              <a:t>3. Storage Module</a:t>
            </a:r>
          </a:p>
          <a:p>
            <a:pPr lvl="0"/>
            <a:r>
              <a:rPr lang="en-IN" b="1" dirty="0"/>
              <a:t>Connection:</a:t>
            </a:r>
            <a:r>
              <a:rPr lang="en-IN" dirty="0"/>
              <a:t> Uses PyMongo to connect the pipeline to MongoDB and write cleaned records into the database.</a:t>
            </a:r>
          </a:p>
          <a:p>
            <a:pPr lvl="0"/>
            <a:r>
              <a:rPr lang="en-IN" b="1" dirty="0"/>
              <a:t>Schema:</a:t>
            </a:r>
            <a:r>
              <a:rPr lang="en-IN" dirty="0"/>
              <a:t> Organizes data into Patients, Doctors, and Appointments collections with indexes on status fields for faster queries.</a:t>
            </a:r>
          </a:p>
          <a:p>
            <a:pPr lvl="0"/>
            <a:endParaRPr lang="en-IN" dirty="0"/>
          </a:p>
          <a:p>
            <a:r>
              <a:rPr lang="en-IN" b="1" dirty="0"/>
              <a:t>4. Analytics &amp; Dashboard Module</a:t>
            </a:r>
          </a:p>
          <a:p>
            <a:pPr lvl="0"/>
            <a:r>
              <a:rPr lang="en-IN" b="1" dirty="0"/>
              <a:t>Aggregation:</a:t>
            </a:r>
            <a:r>
              <a:rPr lang="en-IN" dirty="0"/>
              <a:t> Runs MongoDB queries to compute department-wise, doctor-wise, and monthly appointment statistics.</a:t>
            </a:r>
          </a:p>
          <a:p>
            <a:pPr lvl="0"/>
            <a:r>
              <a:rPr lang="en-IN" b="1" dirty="0"/>
              <a:t>Visualization:</a:t>
            </a:r>
            <a:r>
              <a:rPr lang="en-IN" dirty="0"/>
              <a:t> Displays the results as interactive charts and tables through a Streamlit dashboard.</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Modules and Implementation</a:t>
            </a:r>
          </a:p>
        </p:txBody>
      </p:sp>
    </p:spTree>
    <p:extLst>
      <p:ext uri="{BB962C8B-B14F-4D97-AF65-F5344CB8AC3E}">
        <p14:creationId xmlns:p14="http://schemas.microsoft.com/office/powerpoint/2010/main" val="1245516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Programming &amp; Data Processing</a:t>
            </a:r>
          </a:p>
          <a:p>
            <a:pPr lvl="0"/>
            <a:r>
              <a:rPr lang="en-IN" b="1" dirty="0"/>
              <a:t>Python:</a:t>
            </a:r>
            <a:r>
              <a:rPr lang="en-IN" dirty="0"/>
              <a:t> Core language used to build the ETL pipeline and data-processing logic.</a:t>
            </a:r>
          </a:p>
          <a:p>
            <a:pPr lvl="0"/>
            <a:r>
              <a:rPr lang="en-IN" b="1" dirty="0"/>
              <a:t>Pandas:</a:t>
            </a:r>
            <a:r>
              <a:rPr lang="en-IN" dirty="0"/>
              <a:t> Cleans, transforms, and standardizes raw appointment records.</a:t>
            </a:r>
          </a:p>
          <a:p>
            <a:pPr lvl="0"/>
            <a:endParaRPr lang="en-IN" dirty="0"/>
          </a:p>
          <a:p>
            <a:r>
              <a:rPr lang="en-IN" b="1" dirty="0"/>
              <a:t>2. Database</a:t>
            </a:r>
          </a:p>
          <a:p>
            <a:pPr lvl="0"/>
            <a:r>
              <a:rPr lang="en-IN" b="1" dirty="0"/>
              <a:t>MongoDB:</a:t>
            </a:r>
            <a:r>
              <a:rPr lang="en-IN" dirty="0"/>
              <a:t> NoSQL database used to store Patients, Doctors, and Appointments as documents.</a:t>
            </a:r>
          </a:p>
          <a:p>
            <a:pPr lvl="0"/>
            <a:r>
              <a:rPr lang="en-IN" b="1" dirty="0"/>
              <a:t>PyMongo:</a:t>
            </a:r>
            <a:r>
              <a:rPr lang="en-IN" dirty="0"/>
              <a:t> Python driver used to connect the pipeline to the MongoDB database.</a:t>
            </a:r>
          </a:p>
          <a:p>
            <a:pPr lvl="0"/>
            <a:endParaRPr lang="en-IN" dirty="0"/>
          </a:p>
          <a:p>
            <a:r>
              <a:rPr lang="en-IN" b="1" dirty="0"/>
              <a:t>3. Visualization &amp; Dashboard</a:t>
            </a:r>
          </a:p>
          <a:p>
            <a:pPr lvl="0"/>
            <a:r>
              <a:rPr lang="en-IN" b="1" dirty="0"/>
              <a:t>Streamlit:</a:t>
            </a:r>
            <a:r>
              <a:rPr lang="en-IN" dirty="0"/>
              <a:t> Builds the interactive web dashboard used for appointment analytics.</a:t>
            </a:r>
          </a:p>
          <a:p>
            <a:pPr lvl="0"/>
            <a:r>
              <a:rPr lang="en-IN" b="1" dirty="0"/>
              <a:t>Plotly / Matplotlib:</a:t>
            </a:r>
            <a:r>
              <a:rPr lang="en-IN" dirty="0"/>
              <a:t> Generates charts for status, department-wise, and monthly trend visualizations.</a:t>
            </a:r>
          </a:p>
          <a:p>
            <a:pPr lvl="0"/>
            <a:endParaRPr lang="en-IN" dirty="0"/>
          </a:p>
          <a:p>
            <a:r>
              <a:rPr lang="en-IN" b="1" dirty="0"/>
              <a:t>4. Development Environment</a:t>
            </a:r>
          </a:p>
          <a:p>
            <a:pPr lvl="0"/>
            <a:r>
              <a:rPr lang="en-IN" b="1" dirty="0"/>
              <a:t>VS Code / Jupyter Notebook:</a:t>
            </a:r>
            <a:r>
              <a:rPr lang="en-IN" dirty="0"/>
              <a:t> Used to write and test the pipeline scripts.</a:t>
            </a:r>
          </a:p>
          <a:p>
            <a:pPr lvl="0"/>
            <a:r>
              <a:rPr lang="en-IN" b="1" dirty="0"/>
              <a:t>Git:</a:t>
            </a:r>
            <a:r>
              <a:rPr lang="en-IN" dirty="0"/>
              <a:t> Used for version control and collaboration among team members.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Tools and Technologies Used</a:t>
            </a:r>
          </a:p>
        </p:txBody>
      </p:sp>
    </p:spTree>
    <p:extLst>
      <p:ext uri="{BB962C8B-B14F-4D97-AF65-F5344CB8AC3E}">
        <p14:creationId xmlns:p14="http://schemas.microsoft.com/office/powerpoint/2010/main" val="1245516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B42103-EDEB-8D6E-F162-7D69ABC02B25}"/>
              </a:ext>
            </a:extLst>
          </p:cNvPr>
          <p:cNvPicPr>
            <a:picLocks noChangeAspect="1"/>
          </p:cNvPicPr>
          <p:nvPr/>
        </p:nvPicPr>
        <p:blipFill>
          <a:blip r:embed="rId2">
            <a:extLst>
              <a:ext uri="{28A0092B-C50C-407E-A947-70E740481C1C}">
                <a14:useLocalDpi xmlns:a14="http://schemas.microsoft.com/office/drawing/2010/main" val="0"/>
              </a:ext>
            </a:extLst>
          </a:blip>
          <a:srcRect r="40958"/>
          <a:stretch>
            <a:fillRect/>
          </a:stretch>
        </p:blipFill>
        <p:spPr>
          <a:xfrm>
            <a:off x="553222" y="496491"/>
            <a:ext cx="3406036" cy="2225233"/>
          </a:xfrm>
          <a:prstGeom prst="rect">
            <a:avLst/>
          </a:prstGeom>
        </p:spPr>
      </p:pic>
      <p:pic>
        <p:nvPicPr>
          <p:cNvPr id="7" name="Picture 6">
            <a:extLst>
              <a:ext uri="{FF2B5EF4-FFF2-40B4-BE49-F238E27FC236}">
                <a16:creationId xmlns:a16="http://schemas.microsoft.com/office/drawing/2014/main" id="{845C46F8-73AB-58D2-C0AC-F71BC65D8343}"/>
              </a:ext>
            </a:extLst>
          </p:cNvPr>
          <p:cNvPicPr>
            <a:picLocks noChangeAspect="1"/>
          </p:cNvPicPr>
          <p:nvPr/>
        </p:nvPicPr>
        <p:blipFill>
          <a:blip r:embed="rId3"/>
          <a:srcRect l="-268" r="8863" b="15571"/>
          <a:stretch>
            <a:fillRect/>
          </a:stretch>
        </p:blipFill>
        <p:spPr>
          <a:xfrm>
            <a:off x="5390280" y="70920"/>
            <a:ext cx="6432040" cy="2896639"/>
          </a:xfrm>
          <a:prstGeom prst="rect">
            <a:avLst/>
          </a:prstGeom>
        </p:spPr>
      </p:pic>
      <p:pic>
        <p:nvPicPr>
          <p:cNvPr id="9" name="Picture 8">
            <a:extLst>
              <a:ext uri="{FF2B5EF4-FFF2-40B4-BE49-F238E27FC236}">
                <a16:creationId xmlns:a16="http://schemas.microsoft.com/office/drawing/2014/main" id="{F7E4A17A-4446-6EA4-D8F2-9DF255BE9B5E}"/>
              </a:ext>
            </a:extLst>
          </p:cNvPr>
          <p:cNvPicPr>
            <a:picLocks noChangeAspect="1"/>
          </p:cNvPicPr>
          <p:nvPr/>
        </p:nvPicPr>
        <p:blipFill>
          <a:blip r:embed="rId4"/>
          <a:srcRect r="55123"/>
          <a:stretch>
            <a:fillRect/>
          </a:stretch>
        </p:blipFill>
        <p:spPr>
          <a:xfrm>
            <a:off x="232711" y="3622394"/>
            <a:ext cx="4603240" cy="2339543"/>
          </a:xfrm>
          <a:prstGeom prst="rect">
            <a:avLst/>
          </a:prstGeom>
        </p:spPr>
      </p:pic>
      <p:pic>
        <p:nvPicPr>
          <p:cNvPr id="11" name="Picture 10">
            <a:extLst>
              <a:ext uri="{FF2B5EF4-FFF2-40B4-BE49-F238E27FC236}">
                <a16:creationId xmlns:a16="http://schemas.microsoft.com/office/drawing/2014/main" id="{7609DDB2-C218-DF58-2D1C-322CD42F1CA8}"/>
              </a:ext>
            </a:extLst>
          </p:cNvPr>
          <p:cNvPicPr>
            <a:picLocks noChangeAspect="1"/>
          </p:cNvPicPr>
          <p:nvPr/>
        </p:nvPicPr>
        <p:blipFill>
          <a:blip r:embed="rId5"/>
          <a:stretch>
            <a:fillRect/>
          </a:stretch>
        </p:blipFill>
        <p:spPr>
          <a:xfrm>
            <a:off x="5390280" y="3572884"/>
            <a:ext cx="6569009" cy="2591025"/>
          </a:xfrm>
          <a:prstGeom prst="rect">
            <a:avLst/>
          </a:prstGeom>
        </p:spPr>
      </p:pic>
      <p:sp>
        <p:nvSpPr>
          <p:cNvPr id="13" name="TextBox 12">
            <a:extLst>
              <a:ext uri="{FF2B5EF4-FFF2-40B4-BE49-F238E27FC236}">
                <a16:creationId xmlns:a16="http://schemas.microsoft.com/office/drawing/2014/main" id="{3AEDD104-31BF-BFC7-BC83-975046F5D472}"/>
              </a:ext>
            </a:extLst>
          </p:cNvPr>
          <p:cNvSpPr txBox="1"/>
          <p:nvPr/>
        </p:nvSpPr>
        <p:spPr>
          <a:xfrm>
            <a:off x="361360" y="3002782"/>
            <a:ext cx="6094428" cy="338554"/>
          </a:xfrm>
          <a:prstGeom prst="rect">
            <a:avLst/>
          </a:prstGeom>
          <a:noFill/>
        </p:spPr>
        <p:txBody>
          <a:bodyPr wrap="square">
            <a:spAutoFit/>
          </a:bodyPr>
          <a:lstStyle/>
          <a:p>
            <a:r>
              <a:rPr lang="en-IN" sz="1600" dirty="0"/>
              <a:t>Figure 1: Project Structure and Source Files</a:t>
            </a:r>
          </a:p>
        </p:txBody>
      </p:sp>
      <p:sp>
        <p:nvSpPr>
          <p:cNvPr id="15" name="TextBox 14">
            <a:extLst>
              <a:ext uri="{FF2B5EF4-FFF2-40B4-BE49-F238E27FC236}">
                <a16:creationId xmlns:a16="http://schemas.microsoft.com/office/drawing/2014/main" id="{8A3361B2-31E5-0B07-0BE6-DDD1139E87B8}"/>
              </a:ext>
            </a:extLst>
          </p:cNvPr>
          <p:cNvSpPr txBox="1"/>
          <p:nvPr/>
        </p:nvSpPr>
        <p:spPr>
          <a:xfrm>
            <a:off x="6214622" y="3007227"/>
            <a:ext cx="6094428" cy="369332"/>
          </a:xfrm>
          <a:prstGeom prst="rect">
            <a:avLst/>
          </a:prstGeom>
          <a:noFill/>
        </p:spPr>
        <p:txBody>
          <a:bodyPr wrap="square">
            <a:spAutoFit/>
          </a:bodyPr>
          <a:lstStyle/>
          <a:p>
            <a:r>
              <a:rPr lang="en-US" dirty="0"/>
              <a:t>Figure 2: Raw Hospital Appointment Dataset</a:t>
            </a:r>
            <a:endParaRPr lang="en-IN" dirty="0"/>
          </a:p>
        </p:txBody>
      </p:sp>
      <p:sp>
        <p:nvSpPr>
          <p:cNvPr id="17" name="TextBox 16">
            <a:extLst>
              <a:ext uri="{FF2B5EF4-FFF2-40B4-BE49-F238E27FC236}">
                <a16:creationId xmlns:a16="http://schemas.microsoft.com/office/drawing/2014/main" id="{83BF2CCF-9F7A-37AE-7558-846D817031A2}"/>
              </a:ext>
            </a:extLst>
          </p:cNvPr>
          <p:cNvSpPr txBox="1"/>
          <p:nvPr/>
        </p:nvSpPr>
        <p:spPr>
          <a:xfrm>
            <a:off x="-59702" y="6260301"/>
            <a:ext cx="6155702" cy="369332"/>
          </a:xfrm>
          <a:prstGeom prst="rect">
            <a:avLst/>
          </a:prstGeom>
          <a:noFill/>
        </p:spPr>
        <p:txBody>
          <a:bodyPr wrap="square">
            <a:spAutoFit/>
          </a:bodyPr>
          <a:lstStyle/>
          <a:p>
            <a:r>
              <a:rPr lang="en-US" dirty="0"/>
              <a:t>Figure 3: Successful Execution of Data Processing Pipeline</a:t>
            </a:r>
            <a:endParaRPr lang="en-IN" dirty="0"/>
          </a:p>
        </p:txBody>
      </p:sp>
      <p:sp>
        <p:nvSpPr>
          <p:cNvPr id="19" name="TextBox 18">
            <a:extLst>
              <a:ext uri="{FF2B5EF4-FFF2-40B4-BE49-F238E27FC236}">
                <a16:creationId xmlns:a16="http://schemas.microsoft.com/office/drawing/2014/main" id="{A0EEC857-04C1-9C59-D9B6-BEE768EC1518}"/>
              </a:ext>
            </a:extLst>
          </p:cNvPr>
          <p:cNvSpPr txBox="1"/>
          <p:nvPr/>
        </p:nvSpPr>
        <p:spPr>
          <a:xfrm>
            <a:off x="6301354" y="6243614"/>
            <a:ext cx="6212264" cy="369332"/>
          </a:xfrm>
          <a:prstGeom prst="rect">
            <a:avLst/>
          </a:prstGeom>
          <a:noFill/>
        </p:spPr>
        <p:txBody>
          <a:bodyPr wrap="square">
            <a:spAutoFit/>
          </a:bodyPr>
          <a:lstStyle/>
          <a:p>
            <a:r>
              <a:rPr lang="en-IN" dirty="0"/>
              <a:t>Figure 4: Processed Data Stored in MongoDB</a:t>
            </a:r>
          </a:p>
        </p:txBody>
      </p:sp>
    </p:spTree>
    <p:extLst>
      <p:ext uri="{BB962C8B-B14F-4D97-AF65-F5344CB8AC3E}">
        <p14:creationId xmlns:p14="http://schemas.microsoft.com/office/powerpoint/2010/main" val="1013910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0E2AE-7D18-7891-8DB3-46374E04DD74}"/>
              </a:ext>
            </a:extLst>
          </p:cNvPr>
          <p:cNvPicPr>
            <a:picLocks noChangeAspect="1"/>
          </p:cNvPicPr>
          <p:nvPr/>
        </p:nvPicPr>
        <p:blipFill>
          <a:blip r:embed="rId2"/>
          <a:stretch>
            <a:fillRect/>
          </a:stretch>
        </p:blipFill>
        <p:spPr>
          <a:xfrm>
            <a:off x="0" y="1113233"/>
            <a:ext cx="12192000" cy="5574213"/>
          </a:xfrm>
          <a:prstGeom prst="rect">
            <a:avLst/>
          </a:prstGeom>
        </p:spPr>
      </p:pic>
      <p:sp>
        <p:nvSpPr>
          <p:cNvPr id="5" name="TextBox 4">
            <a:extLst>
              <a:ext uri="{FF2B5EF4-FFF2-40B4-BE49-F238E27FC236}">
                <a16:creationId xmlns:a16="http://schemas.microsoft.com/office/drawing/2014/main" id="{F1D36E3D-0B76-A7A0-BFE7-A7705B1A4F91}"/>
              </a:ext>
            </a:extLst>
          </p:cNvPr>
          <p:cNvSpPr txBox="1"/>
          <p:nvPr/>
        </p:nvSpPr>
        <p:spPr>
          <a:xfrm>
            <a:off x="2237688" y="170554"/>
            <a:ext cx="7716624"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Streamlit dashboard for hospital appointment analysis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96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TotalTime>
  <Words>2550</Words>
  <Application>Microsoft Office PowerPoint</Application>
  <PresentationFormat>Widescreen</PresentationFormat>
  <Paragraphs>247</Paragraphs>
  <Slides>20</Slides>
  <Notes>2</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Arial</vt:lpstr>
      <vt:lpstr>Arial Nova Light</vt:lpstr>
      <vt:lpstr>Calibri</vt:lpstr>
      <vt:lpstr>Calibri Light</vt:lpstr>
      <vt:lpstr>Times New Roman</vt:lpstr>
      <vt:lpstr>Office Theme</vt:lpstr>
      <vt:lpstr>Dark Gradient</vt:lpstr>
      <vt:lpstr>Hospital Appointment Data Pipeline</vt:lpstr>
      <vt:lpstr>Abstract</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sanjay bhaargav</cp:lastModifiedBy>
  <cp:revision>13</cp:revision>
  <dcterms:created xsi:type="dcterms:W3CDTF">2026-08-14T04:59:55Z</dcterms:created>
  <dcterms:modified xsi:type="dcterms:W3CDTF">2026-09-18T06:00:45Z</dcterms:modified>
</cp:coreProperties>
</file>