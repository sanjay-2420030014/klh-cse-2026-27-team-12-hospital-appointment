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Lst>
  <p:notesMasterIdLst>
    <p:notesMasterId r:id="rId11"/>
  </p:notesMasterIdLst>
  <p:sldIdLst>
    <p:sldId id="256" r:id="rId2"/>
    <p:sldId id="259" r:id="rId3"/>
    <p:sldId id="257" r:id="rId4"/>
    <p:sldId id="261" r:id="rId5"/>
    <p:sldId id="262" r:id="rId6"/>
    <p:sldId id="263" r:id="rId7"/>
    <p:sldId id="264" r:id="rId8"/>
    <p:sldId id="265" r:id="rId9"/>
    <p:sldId id="260"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0207DF1-AC21-40A4-9C9B-DDCC262FEF00}" v="19" dt="2026-08-24T08:59:12.23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81" d="100"/>
          <a:sy n="81" d="100"/>
        </p:scale>
        <p:origin x="754"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2110030242 Ananya" userId="50fcf2389d656781" providerId="LiveId" clId="{CBF0972F-2ACF-47F5-B678-92543E83982F}"/>
    <pc:docChg chg="undo custSel addSld delSld modSld">
      <pc:chgData name="2110030242 Ananya" userId="50fcf2389d656781" providerId="LiveId" clId="{CBF0972F-2ACF-47F5-B678-92543E83982F}" dt="2026-08-24T09:05:06.757" v="498" actId="1076"/>
      <pc:docMkLst>
        <pc:docMk/>
      </pc:docMkLst>
      <pc:sldChg chg="modSp mod">
        <pc:chgData name="2110030242 Ananya" userId="50fcf2389d656781" providerId="LiveId" clId="{CBF0972F-2ACF-47F5-B678-92543E83982F}" dt="2026-08-16T05:46:15.091" v="297" actId="255"/>
        <pc:sldMkLst>
          <pc:docMk/>
          <pc:sldMk cId="2238361140" sldId="256"/>
        </pc:sldMkLst>
        <pc:spChg chg="mod">
          <ac:chgData name="2110030242 Ananya" userId="50fcf2389d656781" providerId="LiveId" clId="{CBF0972F-2ACF-47F5-B678-92543E83982F}" dt="2026-08-16T05:33:49.086" v="213" actId="113"/>
          <ac:spMkLst>
            <pc:docMk/>
            <pc:sldMk cId="2238361140" sldId="256"/>
            <ac:spMk id="2" creationId="{3EE8C44D-07F6-2139-4825-B0704A79E5BC}"/>
          </ac:spMkLst>
        </pc:spChg>
        <pc:spChg chg="mod">
          <ac:chgData name="2110030242 Ananya" userId="50fcf2389d656781" providerId="LiveId" clId="{CBF0972F-2ACF-47F5-B678-92543E83982F}" dt="2026-08-16T05:40:12.615" v="248" actId="27636"/>
          <ac:spMkLst>
            <pc:docMk/>
            <pc:sldMk cId="2238361140" sldId="256"/>
            <ac:spMk id="3" creationId="{7F2CB2C9-E71C-2C95-7A04-0F332A646EF7}"/>
          </ac:spMkLst>
        </pc:spChg>
        <pc:spChg chg="mod">
          <ac:chgData name="2110030242 Ananya" userId="50fcf2389d656781" providerId="LiveId" clId="{CBF0972F-2ACF-47F5-B678-92543E83982F}" dt="2026-08-16T05:45:50.443" v="294" actId="1076"/>
          <ac:spMkLst>
            <pc:docMk/>
            <pc:sldMk cId="2238361140" sldId="256"/>
            <ac:spMk id="4" creationId="{77EFDB6A-63BF-5E0F-38DD-188908F2256C}"/>
          </ac:spMkLst>
        </pc:spChg>
        <pc:spChg chg="mod">
          <ac:chgData name="2110030242 Ananya" userId="50fcf2389d656781" providerId="LiveId" clId="{CBF0972F-2ACF-47F5-B678-92543E83982F}" dt="2026-08-16T05:46:15.091" v="297" actId="255"/>
          <ac:spMkLst>
            <pc:docMk/>
            <pc:sldMk cId="2238361140" sldId="256"/>
            <ac:spMk id="7" creationId="{129AF124-1DAD-7C95-8D54-3CA1A9A36AF2}"/>
          </ac:spMkLst>
        </pc:spChg>
        <pc:picChg chg="mod">
          <ac:chgData name="2110030242 Ananya" userId="50fcf2389d656781" providerId="LiveId" clId="{CBF0972F-2ACF-47F5-B678-92543E83982F}" dt="2026-08-14T05:26:44.279" v="153" actId="14100"/>
          <ac:picMkLst>
            <pc:docMk/>
            <pc:sldMk cId="2238361140" sldId="256"/>
            <ac:picMk id="9" creationId="{4A7AED1E-C953-B10C-3AD9-5B430858FFCE}"/>
          </ac:picMkLst>
        </pc:picChg>
      </pc:sldChg>
      <pc:sldChg chg="modSp mod">
        <pc:chgData name="2110030242 Ananya" userId="50fcf2389d656781" providerId="LiveId" clId="{CBF0972F-2ACF-47F5-B678-92543E83982F}" dt="2026-08-16T05:38:30.647" v="241" actId="1076"/>
        <pc:sldMkLst>
          <pc:docMk/>
          <pc:sldMk cId="3145166466" sldId="257"/>
        </pc:sldMkLst>
        <pc:spChg chg="mod">
          <ac:chgData name="2110030242 Ananya" userId="50fcf2389d656781" providerId="LiveId" clId="{CBF0972F-2ACF-47F5-B678-92543E83982F}" dt="2026-08-16T05:38:30.647" v="241" actId="1076"/>
          <ac:spMkLst>
            <pc:docMk/>
            <pc:sldMk cId="3145166466" sldId="257"/>
            <ac:spMk id="3" creationId="{54864691-DFD5-4BFF-65DF-5CFD5C1742F7}"/>
          </ac:spMkLst>
        </pc:spChg>
      </pc:sldChg>
      <pc:sldChg chg="modSp mod">
        <pc:chgData name="2110030242 Ananya" userId="50fcf2389d656781" providerId="LiveId" clId="{CBF0972F-2ACF-47F5-B678-92543E83982F}" dt="2026-08-16T05:38:49.618" v="244" actId="1076"/>
        <pc:sldMkLst>
          <pc:docMk/>
          <pc:sldMk cId="2406600271" sldId="259"/>
        </pc:sldMkLst>
        <pc:spChg chg="mod">
          <ac:chgData name="2110030242 Ananya" userId="50fcf2389d656781" providerId="LiveId" clId="{CBF0972F-2ACF-47F5-B678-92543E83982F}" dt="2026-08-16T05:38:49.618" v="244" actId="1076"/>
          <ac:spMkLst>
            <pc:docMk/>
            <pc:sldMk cId="2406600271" sldId="259"/>
            <ac:spMk id="2" creationId="{7CC60BCF-E5E6-1DA2-F4EC-59CC25006718}"/>
          </ac:spMkLst>
        </pc:spChg>
        <pc:spChg chg="mod">
          <ac:chgData name="2110030242 Ananya" userId="50fcf2389d656781" providerId="LiveId" clId="{CBF0972F-2ACF-47F5-B678-92543E83982F}" dt="2026-08-16T05:38:40.283" v="242" actId="1076"/>
          <ac:spMkLst>
            <pc:docMk/>
            <pc:sldMk cId="2406600271" sldId="259"/>
            <ac:spMk id="3" creationId="{EAAE00DE-3424-5000-0596-04CB75C97CD1}"/>
          </ac:spMkLst>
        </pc:spChg>
      </pc:sldChg>
      <pc:sldChg chg="modSp">
        <pc:chgData name="2110030242 Ananya" userId="50fcf2389d656781" providerId="LiveId" clId="{CBF0972F-2ACF-47F5-B678-92543E83982F}" dt="2026-08-16T05:40:14.439" v="249"/>
        <pc:sldMkLst>
          <pc:docMk/>
          <pc:sldMk cId="4191421029" sldId="260"/>
        </pc:sldMkLst>
        <pc:spChg chg="mod">
          <ac:chgData name="2110030242 Ananya" userId="50fcf2389d656781" providerId="LiveId" clId="{CBF0972F-2ACF-47F5-B678-92543E83982F}" dt="2026-08-16T05:40:14.439" v="249"/>
          <ac:spMkLst>
            <pc:docMk/>
            <pc:sldMk cId="4191421029" sldId="260"/>
            <ac:spMk id="2" creationId="{35768181-208F-D10F-C6C9-E4A5FDAE4075}"/>
          </ac:spMkLst>
        </pc:spChg>
      </pc:sldChg>
      <pc:sldChg chg="addSp modSp new mod">
        <pc:chgData name="2110030242 Ananya" userId="50fcf2389d656781" providerId="LiveId" clId="{CBF0972F-2ACF-47F5-B678-92543E83982F}" dt="2026-08-16T05:47:07.324" v="301" actId="255"/>
        <pc:sldMkLst>
          <pc:docMk/>
          <pc:sldMk cId="989871012" sldId="261"/>
        </pc:sldMkLst>
        <pc:spChg chg="add mod">
          <ac:chgData name="2110030242 Ananya" userId="50fcf2389d656781" providerId="LiveId" clId="{CBF0972F-2ACF-47F5-B678-92543E83982F}" dt="2026-08-16T05:44:54.645" v="277" actId="1076"/>
          <ac:spMkLst>
            <pc:docMk/>
            <pc:sldMk cId="989871012" sldId="261"/>
            <ac:spMk id="2" creationId="{B4492E42-7EA8-E8D1-D175-ABDC9201B079}"/>
          </ac:spMkLst>
        </pc:spChg>
        <pc:spChg chg="add mod">
          <ac:chgData name="2110030242 Ananya" userId="50fcf2389d656781" providerId="LiveId" clId="{CBF0972F-2ACF-47F5-B678-92543E83982F}" dt="2026-08-16T05:47:07.324" v="301" actId="255"/>
          <ac:spMkLst>
            <pc:docMk/>
            <pc:sldMk cId="989871012" sldId="261"/>
            <ac:spMk id="3" creationId="{106ED87A-43B3-DCC0-82A6-4DA6114313FB}"/>
          </ac:spMkLst>
        </pc:spChg>
      </pc:sldChg>
      <pc:sldChg chg="addSp modSp new mod">
        <pc:chgData name="2110030242 Ananya" userId="50fcf2389d656781" providerId="LiveId" clId="{CBF0972F-2ACF-47F5-B678-92543E83982F}" dt="2026-08-24T08:45:31.429" v="424" actId="123"/>
        <pc:sldMkLst>
          <pc:docMk/>
          <pc:sldMk cId="1556977460" sldId="262"/>
        </pc:sldMkLst>
        <pc:spChg chg="add mod">
          <ac:chgData name="2110030242 Ananya" userId="50fcf2389d656781" providerId="LiveId" clId="{CBF0972F-2ACF-47F5-B678-92543E83982F}" dt="2026-08-24T08:45:31.429" v="424" actId="123"/>
          <ac:spMkLst>
            <pc:docMk/>
            <pc:sldMk cId="1556977460" sldId="262"/>
            <ac:spMk id="2" creationId="{E214D4BB-587C-5148-053A-7FF552849199}"/>
          </ac:spMkLst>
        </pc:spChg>
        <pc:spChg chg="add mod">
          <ac:chgData name="2110030242 Ananya" userId="50fcf2389d656781" providerId="LiveId" clId="{CBF0972F-2ACF-47F5-B678-92543E83982F}" dt="2026-08-24T08:37:04.979" v="349" actId="14100"/>
          <ac:spMkLst>
            <pc:docMk/>
            <pc:sldMk cId="1556977460" sldId="262"/>
            <ac:spMk id="3" creationId="{369F6171-827C-FFFA-2D85-CC3E3CB3343E}"/>
          </ac:spMkLst>
        </pc:spChg>
      </pc:sldChg>
      <pc:sldChg chg="addSp modSp new mod">
        <pc:chgData name="2110030242 Ananya" userId="50fcf2389d656781" providerId="LiveId" clId="{CBF0972F-2ACF-47F5-B678-92543E83982F}" dt="2026-08-24T08:45:48.326" v="427" actId="123"/>
        <pc:sldMkLst>
          <pc:docMk/>
          <pc:sldMk cId="1931128913" sldId="263"/>
        </pc:sldMkLst>
        <pc:spChg chg="add mod">
          <ac:chgData name="2110030242 Ananya" userId="50fcf2389d656781" providerId="LiveId" clId="{CBF0972F-2ACF-47F5-B678-92543E83982F}" dt="2026-08-24T08:45:48.326" v="427" actId="123"/>
          <ac:spMkLst>
            <pc:docMk/>
            <pc:sldMk cId="1931128913" sldId="263"/>
            <ac:spMk id="2" creationId="{4F27FDDE-676C-3FF7-2A57-D80F08DC1066}"/>
          </ac:spMkLst>
        </pc:spChg>
      </pc:sldChg>
      <pc:sldChg chg="addSp modSp new mod">
        <pc:chgData name="2110030242 Ananya" userId="50fcf2389d656781" providerId="LiveId" clId="{CBF0972F-2ACF-47F5-B678-92543E83982F}" dt="2026-08-24T09:05:06.757" v="498" actId="1076"/>
        <pc:sldMkLst>
          <pc:docMk/>
          <pc:sldMk cId="1245516540" sldId="264"/>
        </pc:sldMkLst>
        <pc:spChg chg="add mod">
          <ac:chgData name="2110030242 Ananya" userId="50fcf2389d656781" providerId="LiveId" clId="{CBF0972F-2ACF-47F5-B678-92543E83982F}" dt="2026-08-24T09:04:30.289" v="492" actId="1076"/>
          <ac:spMkLst>
            <pc:docMk/>
            <pc:sldMk cId="1245516540" sldId="264"/>
            <ac:spMk id="2" creationId="{D94F9F2D-BDA4-8D8E-226C-627944DDFA1C}"/>
          </ac:spMkLst>
        </pc:spChg>
        <pc:spChg chg="add mod">
          <ac:chgData name="2110030242 Ananya" userId="50fcf2389d656781" providerId="LiveId" clId="{CBF0972F-2ACF-47F5-B678-92543E83982F}" dt="2026-08-24T09:05:06.757" v="498" actId="1076"/>
          <ac:spMkLst>
            <pc:docMk/>
            <pc:sldMk cId="1245516540" sldId="264"/>
            <ac:spMk id="3" creationId="{57318D77-E13B-9C50-C10D-B5831FF5D497}"/>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F99AAAE-C9C6-43A8-992C-C94AED90C3A7}" type="datetimeFigureOut">
              <a:rPr lang="en-IN" smtClean="0"/>
              <a:t>26-08-2026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C826D45-EE60-476C-B65B-4CC468AC9F5E}" type="slidenum">
              <a:rPr lang="en-IN" smtClean="0"/>
              <a:t>‹#›</a:t>
            </a:fld>
            <a:endParaRPr lang="en-IN"/>
          </a:p>
        </p:txBody>
      </p:sp>
    </p:spTree>
    <p:extLst>
      <p:ext uri="{BB962C8B-B14F-4D97-AF65-F5344CB8AC3E}">
        <p14:creationId xmlns:p14="http://schemas.microsoft.com/office/powerpoint/2010/main" val="29339419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C826D45-EE60-476C-B65B-4CC468AC9F5E}" type="slidenum">
              <a:rPr lang="en-IN" smtClean="0"/>
              <a:t>3</a:t>
            </a:fld>
            <a:endParaRPr lang="en-IN"/>
          </a:p>
        </p:txBody>
      </p:sp>
    </p:spTree>
    <p:extLst>
      <p:ext uri="{BB962C8B-B14F-4D97-AF65-F5344CB8AC3E}">
        <p14:creationId xmlns:p14="http://schemas.microsoft.com/office/powerpoint/2010/main" val="24754872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3D3DEE-0E83-BCE7-AE4F-AF35DC863A1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64CFE2F-0D83-7EE9-763B-5761BEB35C5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AF4D228-4113-D561-2307-5557FE95500A}"/>
              </a:ext>
            </a:extLst>
          </p:cNvPr>
          <p:cNvSpPr>
            <a:spLocks noGrp="1"/>
          </p:cNvSpPr>
          <p:nvPr>
            <p:ph type="dt" sz="half" idx="10"/>
          </p:nvPr>
        </p:nvSpPr>
        <p:spPr/>
        <p:txBody>
          <a:bodyPr/>
          <a:lstStyle/>
          <a:p>
            <a:fld id="{0ACF763B-263D-409D-A453-2B5282B351C8}" type="datetimeFigureOut">
              <a:rPr lang="en-IN" smtClean="0"/>
              <a:t>26-08-2026</a:t>
            </a:fld>
            <a:endParaRPr lang="en-IN"/>
          </a:p>
        </p:txBody>
      </p:sp>
      <p:sp>
        <p:nvSpPr>
          <p:cNvPr id="5" name="Footer Placeholder 4">
            <a:extLst>
              <a:ext uri="{FF2B5EF4-FFF2-40B4-BE49-F238E27FC236}">
                <a16:creationId xmlns:a16="http://schemas.microsoft.com/office/drawing/2014/main" id="{B790C51E-BE07-F618-585A-EECD8A2960E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6C655EA-7B94-66E5-D599-6916EE6AF4E6}"/>
              </a:ext>
            </a:extLst>
          </p:cNvPr>
          <p:cNvSpPr>
            <a:spLocks noGrp="1"/>
          </p:cNvSpPr>
          <p:nvPr>
            <p:ph type="sldNum" sz="quarter" idx="12"/>
          </p:nvPr>
        </p:nvSpPr>
        <p:spPr/>
        <p:txBody>
          <a:bodyPr/>
          <a:lstStyle/>
          <a:p>
            <a:fld id="{C350999E-6DD2-4581-9D5E-2340E3133505}" type="slidenum">
              <a:rPr lang="en-IN" smtClean="0"/>
              <a:t>‹#›</a:t>
            </a:fld>
            <a:endParaRPr lang="en-IN"/>
          </a:p>
        </p:txBody>
      </p:sp>
    </p:spTree>
    <p:extLst>
      <p:ext uri="{BB962C8B-B14F-4D97-AF65-F5344CB8AC3E}">
        <p14:creationId xmlns:p14="http://schemas.microsoft.com/office/powerpoint/2010/main" val="5982284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9AADA-9C14-C7C4-B801-33305EF1807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65DAFD8-4777-4190-5E7B-41633725B5D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2226A00-20B6-A29A-2DB7-170C865924F9}"/>
              </a:ext>
            </a:extLst>
          </p:cNvPr>
          <p:cNvSpPr>
            <a:spLocks noGrp="1"/>
          </p:cNvSpPr>
          <p:nvPr>
            <p:ph type="dt" sz="half" idx="10"/>
          </p:nvPr>
        </p:nvSpPr>
        <p:spPr/>
        <p:txBody>
          <a:bodyPr/>
          <a:lstStyle/>
          <a:p>
            <a:fld id="{0ACF763B-263D-409D-A453-2B5282B351C8}" type="datetimeFigureOut">
              <a:rPr lang="en-IN" smtClean="0"/>
              <a:t>26-08-2026</a:t>
            </a:fld>
            <a:endParaRPr lang="en-IN"/>
          </a:p>
        </p:txBody>
      </p:sp>
      <p:sp>
        <p:nvSpPr>
          <p:cNvPr id="5" name="Footer Placeholder 4">
            <a:extLst>
              <a:ext uri="{FF2B5EF4-FFF2-40B4-BE49-F238E27FC236}">
                <a16:creationId xmlns:a16="http://schemas.microsoft.com/office/drawing/2014/main" id="{839175BD-4837-FE36-717D-D568384E9CD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C922D12-963D-2917-7B22-2D1DA80C3A85}"/>
              </a:ext>
            </a:extLst>
          </p:cNvPr>
          <p:cNvSpPr>
            <a:spLocks noGrp="1"/>
          </p:cNvSpPr>
          <p:nvPr>
            <p:ph type="sldNum" sz="quarter" idx="12"/>
          </p:nvPr>
        </p:nvSpPr>
        <p:spPr/>
        <p:txBody>
          <a:bodyPr/>
          <a:lstStyle/>
          <a:p>
            <a:fld id="{C350999E-6DD2-4581-9D5E-2340E3133505}" type="slidenum">
              <a:rPr lang="en-IN" smtClean="0"/>
              <a:t>‹#›</a:t>
            </a:fld>
            <a:endParaRPr lang="en-IN"/>
          </a:p>
        </p:txBody>
      </p:sp>
    </p:spTree>
    <p:extLst>
      <p:ext uri="{BB962C8B-B14F-4D97-AF65-F5344CB8AC3E}">
        <p14:creationId xmlns:p14="http://schemas.microsoft.com/office/powerpoint/2010/main" val="11953051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44158-8985-ECD8-83D4-A858375D011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CCC3CC6-7A26-F323-2195-4B4CA1915B8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AC1C696-B35B-C1BC-71A1-34964560D8CC}"/>
              </a:ext>
            </a:extLst>
          </p:cNvPr>
          <p:cNvSpPr>
            <a:spLocks noGrp="1"/>
          </p:cNvSpPr>
          <p:nvPr>
            <p:ph type="dt" sz="half" idx="10"/>
          </p:nvPr>
        </p:nvSpPr>
        <p:spPr/>
        <p:txBody>
          <a:bodyPr/>
          <a:lstStyle/>
          <a:p>
            <a:fld id="{0ACF763B-263D-409D-A453-2B5282B351C8}" type="datetimeFigureOut">
              <a:rPr lang="en-IN" smtClean="0"/>
              <a:t>26-08-2026</a:t>
            </a:fld>
            <a:endParaRPr lang="en-IN"/>
          </a:p>
        </p:txBody>
      </p:sp>
      <p:sp>
        <p:nvSpPr>
          <p:cNvPr id="5" name="Footer Placeholder 4">
            <a:extLst>
              <a:ext uri="{FF2B5EF4-FFF2-40B4-BE49-F238E27FC236}">
                <a16:creationId xmlns:a16="http://schemas.microsoft.com/office/drawing/2014/main" id="{4D4324E2-1A70-84AB-6F4C-C62DBA768E5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BEEBA36-1C2A-C67C-6012-FFDF3C6DCD96}"/>
              </a:ext>
            </a:extLst>
          </p:cNvPr>
          <p:cNvSpPr>
            <a:spLocks noGrp="1"/>
          </p:cNvSpPr>
          <p:nvPr>
            <p:ph type="sldNum" sz="quarter" idx="12"/>
          </p:nvPr>
        </p:nvSpPr>
        <p:spPr/>
        <p:txBody>
          <a:bodyPr/>
          <a:lstStyle/>
          <a:p>
            <a:fld id="{C350999E-6DD2-4581-9D5E-2340E3133505}" type="slidenum">
              <a:rPr lang="en-IN" smtClean="0"/>
              <a:t>‹#›</a:t>
            </a:fld>
            <a:endParaRPr lang="en-IN"/>
          </a:p>
        </p:txBody>
      </p:sp>
    </p:spTree>
    <p:extLst>
      <p:ext uri="{BB962C8B-B14F-4D97-AF65-F5344CB8AC3E}">
        <p14:creationId xmlns:p14="http://schemas.microsoft.com/office/powerpoint/2010/main" val="17809929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0AC506-4477-DED5-986E-F2BA5226B77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D8ABB09-05E3-46BB-26A3-ED46677C0FC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8E8F490-3593-59C5-71D0-959A4DE8839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74DF412-7CEE-F590-A1BA-3F2893F78062}"/>
              </a:ext>
            </a:extLst>
          </p:cNvPr>
          <p:cNvSpPr>
            <a:spLocks noGrp="1"/>
          </p:cNvSpPr>
          <p:nvPr>
            <p:ph type="dt" sz="half" idx="10"/>
          </p:nvPr>
        </p:nvSpPr>
        <p:spPr/>
        <p:txBody>
          <a:bodyPr/>
          <a:lstStyle/>
          <a:p>
            <a:fld id="{0ACF763B-263D-409D-A453-2B5282B351C8}" type="datetimeFigureOut">
              <a:rPr lang="en-IN" smtClean="0"/>
              <a:t>26-08-2026</a:t>
            </a:fld>
            <a:endParaRPr lang="en-IN"/>
          </a:p>
        </p:txBody>
      </p:sp>
      <p:sp>
        <p:nvSpPr>
          <p:cNvPr id="6" name="Footer Placeholder 5">
            <a:extLst>
              <a:ext uri="{FF2B5EF4-FFF2-40B4-BE49-F238E27FC236}">
                <a16:creationId xmlns:a16="http://schemas.microsoft.com/office/drawing/2014/main" id="{20CD5077-D4FD-9420-FF6F-E4A0618D5DC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F0AF282-27A9-02F0-87F9-368284792CD2}"/>
              </a:ext>
            </a:extLst>
          </p:cNvPr>
          <p:cNvSpPr>
            <a:spLocks noGrp="1"/>
          </p:cNvSpPr>
          <p:nvPr>
            <p:ph type="sldNum" sz="quarter" idx="12"/>
          </p:nvPr>
        </p:nvSpPr>
        <p:spPr/>
        <p:txBody>
          <a:bodyPr/>
          <a:lstStyle/>
          <a:p>
            <a:fld id="{C350999E-6DD2-4581-9D5E-2340E3133505}" type="slidenum">
              <a:rPr lang="en-IN" smtClean="0"/>
              <a:t>‹#›</a:t>
            </a:fld>
            <a:endParaRPr lang="en-IN"/>
          </a:p>
        </p:txBody>
      </p:sp>
    </p:spTree>
    <p:extLst>
      <p:ext uri="{BB962C8B-B14F-4D97-AF65-F5344CB8AC3E}">
        <p14:creationId xmlns:p14="http://schemas.microsoft.com/office/powerpoint/2010/main" val="15229770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9AF54C-D5B5-7530-3690-F9EE4A9B3D7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CE42DF2-21DE-FB18-7DDB-C1857DEBED2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01F8F8-978D-F2C2-19CC-F1EB8B128A1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AD6082C-8143-11A9-6A6A-8D3B5368792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D9EE8FF-510D-DADA-738D-BD7669FFED9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8197BA2-0D7F-7B1E-A375-339D409724B7}"/>
              </a:ext>
            </a:extLst>
          </p:cNvPr>
          <p:cNvSpPr>
            <a:spLocks noGrp="1"/>
          </p:cNvSpPr>
          <p:nvPr>
            <p:ph type="dt" sz="half" idx="10"/>
          </p:nvPr>
        </p:nvSpPr>
        <p:spPr/>
        <p:txBody>
          <a:bodyPr/>
          <a:lstStyle/>
          <a:p>
            <a:fld id="{0ACF763B-263D-409D-A453-2B5282B351C8}" type="datetimeFigureOut">
              <a:rPr lang="en-IN" smtClean="0"/>
              <a:t>26-08-2026</a:t>
            </a:fld>
            <a:endParaRPr lang="en-IN"/>
          </a:p>
        </p:txBody>
      </p:sp>
      <p:sp>
        <p:nvSpPr>
          <p:cNvPr id="8" name="Footer Placeholder 7">
            <a:extLst>
              <a:ext uri="{FF2B5EF4-FFF2-40B4-BE49-F238E27FC236}">
                <a16:creationId xmlns:a16="http://schemas.microsoft.com/office/drawing/2014/main" id="{272D005A-3103-68B9-B10F-A30DF35E663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2041531-E1BD-D64B-A37C-0F181DD8FFB1}"/>
              </a:ext>
            </a:extLst>
          </p:cNvPr>
          <p:cNvSpPr>
            <a:spLocks noGrp="1"/>
          </p:cNvSpPr>
          <p:nvPr>
            <p:ph type="sldNum" sz="quarter" idx="12"/>
          </p:nvPr>
        </p:nvSpPr>
        <p:spPr/>
        <p:txBody>
          <a:bodyPr/>
          <a:lstStyle/>
          <a:p>
            <a:fld id="{C350999E-6DD2-4581-9D5E-2340E3133505}" type="slidenum">
              <a:rPr lang="en-IN" smtClean="0"/>
              <a:t>‹#›</a:t>
            </a:fld>
            <a:endParaRPr lang="en-IN"/>
          </a:p>
        </p:txBody>
      </p:sp>
    </p:spTree>
    <p:extLst>
      <p:ext uri="{BB962C8B-B14F-4D97-AF65-F5344CB8AC3E}">
        <p14:creationId xmlns:p14="http://schemas.microsoft.com/office/powerpoint/2010/main" val="13896766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965690-AA0F-4909-069C-F1D08778F68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E3FD268-FAED-D321-C81C-EFB02DEC71EA}"/>
              </a:ext>
            </a:extLst>
          </p:cNvPr>
          <p:cNvSpPr>
            <a:spLocks noGrp="1"/>
          </p:cNvSpPr>
          <p:nvPr>
            <p:ph type="dt" sz="half" idx="10"/>
          </p:nvPr>
        </p:nvSpPr>
        <p:spPr/>
        <p:txBody>
          <a:bodyPr/>
          <a:lstStyle/>
          <a:p>
            <a:fld id="{0ACF763B-263D-409D-A453-2B5282B351C8}" type="datetimeFigureOut">
              <a:rPr lang="en-IN" smtClean="0"/>
              <a:t>26-08-2026</a:t>
            </a:fld>
            <a:endParaRPr lang="en-IN"/>
          </a:p>
        </p:txBody>
      </p:sp>
      <p:sp>
        <p:nvSpPr>
          <p:cNvPr id="4" name="Footer Placeholder 3">
            <a:extLst>
              <a:ext uri="{FF2B5EF4-FFF2-40B4-BE49-F238E27FC236}">
                <a16:creationId xmlns:a16="http://schemas.microsoft.com/office/drawing/2014/main" id="{BFCECCE5-34F5-34FA-B1AF-9F11165F7EC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016559B-31D9-1D1C-EA52-DD1B5F55CCA6}"/>
              </a:ext>
            </a:extLst>
          </p:cNvPr>
          <p:cNvSpPr>
            <a:spLocks noGrp="1"/>
          </p:cNvSpPr>
          <p:nvPr>
            <p:ph type="sldNum" sz="quarter" idx="12"/>
          </p:nvPr>
        </p:nvSpPr>
        <p:spPr/>
        <p:txBody>
          <a:bodyPr/>
          <a:lstStyle/>
          <a:p>
            <a:fld id="{C350999E-6DD2-4581-9D5E-2340E3133505}" type="slidenum">
              <a:rPr lang="en-IN" smtClean="0"/>
              <a:t>‹#›</a:t>
            </a:fld>
            <a:endParaRPr lang="en-IN"/>
          </a:p>
        </p:txBody>
      </p:sp>
    </p:spTree>
    <p:extLst>
      <p:ext uri="{BB962C8B-B14F-4D97-AF65-F5344CB8AC3E}">
        <p14:creationId xmlns:p14="http://schemas.microsoft.com/office/powerpoint/2010/main" val="22773221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5F2CCE5-30EF-2585-F31A-24A56E3C0C42}"/>
              </a:ext>
            </a:extLst>
          </p:cNvPr>
          <p:cNvSpPr>
            <a:spLocks noGrp="1"/>
          </p:cNvSpPr>
          <p:nvPr>
            <p:ph type="dt" sz="half" idx="10"/>
          </p:nvPr>
        </p:nvSpPr>
        <p:spPr/>
        <p:txBody>
          <a:bodyPr/>
          <a:lstStyle/>
          <a:p>
            <a:fld id="{0ACF763B-263D-409D-A453-2B5282B351C8}" type="datetimeFigureOut">
              <a:rPr lang="en-IN" smtClean="0"/>
              <a:t>26-08-2026</a:t>
            </a:fld>
            <a:endParaRPr lang="en-IN"/>
          </a:p>
        </p:txBody>
      </p:sp>
      <p:sp>
        <p:nvSpPr>
          <p:cNvPr id="3" name="Footer Placeholder 2">
            <a:extLst>
              <a:ext uri="{FF2B5EF4-FFF2-40B4-BE49-F238E27FC236}">
                <a16:creationId xmlns:a16="http://schemas.microsoft.com/office/drawing/2014/main" id="{0DDC8AAD-D9CC-C562-88EE-6CFA34B4E50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24E97D0-95E7-D2CD-E5FD-0AF13C980149}"/>
              </a:ext>
            </a:extLst>
          </p:cNvPr>
          <p:cNvSpPr>
            <a:spLocks noGrp="1"/>
          </p:cNvSpPr>
          <p:nvPr>
            <p:ph type="sldNum" sz="quarter" idx="12"/>
          </p:nvPr>
        </p:nvSpPr>
        <p:spPr/>
        <p:txBody>
          <a:bodyPr/>
          <a:lstStyle/>
          <a:p>
            <a:fld id="{C350999E-6DD2-4581-9D5E-2340E3133505}" type="slidenum">
              <a:rPr lang="en-IN" smtClean="0"/>
              <a:t>‹#›</a:t>
            </a:fld>
            <a:endParaRPr lang="en-IN"/>
          </a:p>
        </p:txBody>
      </p:sp>
    </p:spTree>
    <p:extLst>
      <p:ext uri="{BB962C8B-B14F-4D97-AF65-F5344CB8AC3E}">
        <p14:creationId xmlns:p14="http://schemas.microsoft.com/office/powerpoint/2010/main" val="1846673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EFE8E8-F5B1-4812-6477-5EC95B971D4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E9DE7F2-86E6-13E8-C87D-CADAB3951F7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6844E69-7795-8DC2-EE6F-02055307902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EAEFB27-5E81-0328-3C05-9E00CC48EAD3}"/>
              </a:ext>
            </a:extLst>
          </p:cNvPr>
          <p:cNvSpPr>
            <a:spLocks noGrp="1"/>
          </p:cNvSpPr>
          <p:nvPr>
            <p:ph type="dt" sz="half" idx="10"/>
          </p:nvPr>
        </p:nvSpPr>
        <p:spPr/>
        <p:txBody>
          <a:bodyPr/>
          <a:lstStyle/>
          <a:p>
            <a:fld id="{0ACF763B-263D-409D-A453-2B5282B351C8}" type="datetimeFigureOut">
              <a:rPr lang="en-IN" smtClean="0"/>
              <a:t>26-08-2026</a:t>
            </a:fld>
            <a:endParaRPr lang="en-IN"/>
          </a:p>
        </p:txBody>
      </p:sp>
      <p:sp>
        <p:nvSpPr>
          <p:cNvPr id="6" name="Footer Placeholder 5">
            <a:extLst>
              <a:ext uri="{FF2B5EF4-FFF2-40B4-BE49-F238E27FC236}">
                <a16:creationId xmlns:a16="http://schemas.microsoft.com/office/drawing/2014/main" id="{ADBBA751-B28E-5C33-9CF7-9FA972A94E9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367CE7B-A108-53D7-7762-C5E387B59F3F}"/>
              </a:ext>
            </a:extLst>
          </p:cNvPr>
          <p:cNvSpPr>
            <a:spLocks noGrp="1"/>
          </p:cNvSpPr>
          <p:nvPr>
            <p:ph type="sldNum" sz="quarter" idx="12"/>
          </p:nvPr>
        </p:nvSpPr>
        <p:spPr/>
        <p:txBody>
          <a:bodyPr/>
          <a:lstStyle/>
          <a:p>
            <a:fld id="{C350999E-6DD2-4581-9D5E-2340E3133505}" type="slidenum">
              <a:rPr lang="en-IN" smtClean="0"/>
              <a:t>‹#›</a:t>
            </a:fld>
            <a:endParaRPr lang="en-IN"/>
          </a:p>
        </p:txBody>
      </p:sp>
    </p:spTree>
    <p:extLst>
      <p:ext uri="{BB962C8B-B14F-4D97-AF65-F5344CB8AC3E}">
        <p14:creationId xmlns:p14="http://schemas.microsoft.com/office/powerpoint/2010/main" val="23272446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A42C8C-F106-CD23-AC93-9FD87A11B33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98BEFF9-31AF-FAF9-159E-FA9A3A5860B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2998EA3-448E-9D6A-2C69-80ACF8B9012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0DD9D0A-35B4-9CC6-484D-C4201CC3FA60}"/>
              </a:ext>
            </a:extLst>
          </p:cNvPr>
          <p:cNvSpPr>
            <a:spLocks noGrp="1"/>
          </p:cNvSpPr>
          <p:nvPr>
            <p:ph type="dt" sz="half" idx="10"/>
          </p:nvPr>
        </p:nvSpPr>
        <p:spPr/>
        <p:txBody>
          <a:bodyPr/>
          <a:lstStyle/>
          <a:p>
            <a:fld id="{0ACF763B-263D-409D-A453-2B5282B351C8}" type="datetimeFigureOut">
              <a:rPr lang="en-IN" smtClean="0"/>
              <a:t>26-08-2026</a:t>
            </a:fld>
            <a:endParaRPr lang="en-IN"/>
          </a:p>
        </p:txBody>
      </p:sp>
      <p:sp>
        <p:nvSpPr>
          <p:cNvPr id="6" name="Footer Placeholder 5">
            <a:extLst>
              <a:ext uri="{FF2B5EF4-FFF2-40B4-BE49-F238E27FC236}">
                <a16:creationId xmlns:a16="http://schemas.microsoft.com/office/drawing/2014/main" id="{A640E2C9-87A1-3352-A9EA-4C72A2A2D30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5BC8EB1-F656-BF46-5D18-0AA3DFE9B91A}"/>
              </a:ext>
            </a:extLst>
          </p:cNvPr>
          <p:cNvSpPr>
            <a:spLocks noGrp="1"/>
          </p:cNvSpPr>
          <p:nvPr>
            <p:ph type="sldNum" sz="quarter" idx="12"/>
          </p:nvPr>
        </p:nvSpPr>
        <p:spPr/>
        <p:txBody>
          <a:bodyPr/>
          <a:lstStyle/>
          <a:p>
            <a:fld id="{C350999E-6DD2-4581-9D5E-2340E3133505}" type="slidenum">
              <a:rPr lang="en-IN" smtClean="0"/>
              <a:t>‹#›</a:t>
            </a:fld>
            <a:endParaRPr lang="en-IN"/>
          </a:p>
        </p:txBody>
      </p:sp>
    </p:spTree>
    <p:extLst>
      <p:ext uri="{BB962C8B-B14F-4D97-AF65-F5344CB8AC3E}">
        <p14:creationId xmlns:p14="http://schemas.microsoft.com/office/powerpoint/2010/main" val="10462200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25945D-1E42-9BAE-4180-DB8F7E48F7A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AF4AB17-5539-DBD1-5396-19B49C7C4D0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2C553A5-C76C-995B-DEAD-8B36E35D1CE2}"/>
              </a:ext>
            </a:extLst>
          </p:cNvPr>
          <p:cNvSpPr>
            <a:spLocks noGrp="1"/>
          </p:cNvSpPr>
          <p:nvPr>
            <p:ph type="dt" sz="half" idx="10"/>
          </p:nvPr>
        </p:nvSpPr>
        <p:spPr/>
        <p:txBody>
          <a:bodyPr/>
          <a:lstStyle/>
          <a:p>
            <a:fld id="{0ACF763B-263D-409D-A453-2B5282B351C8}" type="datetimeFigureOut">
              <a:rPr lang="en-IN" smtClean="0"/>
              <a:t>26-08-2026</a:t>
            </a:fld>
            <a:endParaRPr lang="en-IN"/>
          </a:p>
        </p:txBody>
      </p:sp>
      <p:sp>
        <p:nvSpPr>
          <p:cNvPr id="5" name="Footer Placeholder 4">
            <a:extLst>
              <a:ext uri="{FF2B5EF4-FFF2-40B4-BE49-F238E27FC236}">
                <a16:creationId xmlns:a16="http://schemas.microsoft.com/office/drawing/2014/main" id="{F565BB52-6D7F-32E3-4403-30EEDAA87DB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BD16AD3-1F8C-5357-137F-CAAB2FDCC306}"/>
              </a:ext>
            </a:extLst>
          </p:cNvPr>
          <p:cNvSpPr>
            <a:spLocks noGrp="1"/>
          </p:cNvSpPr>
          <p:nvPr>
            <p:ph type="sldNum" sz="quarter" idx="12"/>
          </p:nvPr>
        </p:nvSpPr>
        <p:spPr/>
        <p:txBody>
          <a:bodyPr/>
          <a:lstStyle/>
          <a:p>
            <a:fld id="{C350999E-6DD2-4581-9D5E-2340E3133505}" type="slidenum">
              <a:rPr lang="en-IN" smtClean="0"/>
              <a:t>‹#›</a:t>
            </a:fld>
            <a:endParaRPr lang="en-IN"/>
          </a:p>
        </p:txBody>
      </p:sp>
    </p:spTree>
    <p:extLst>
      <p:ext uri="{BB962C8B-B14F-4D97-AF65-F5344CB8AC3E}">
        <p14:creationId xmlns:p14="http://schemas.microsoft.com/office/powerpoint/2010/main" val="9002121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B6E1C27-9924-06F4-1485-A34556B8512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8F9BAF9-81AD-C78A-A874-B9EF727970F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D268C9D-9218-5630-A22B-395490947D8D}"/>
              </a:ext>
            </a:extLst>
          </p:cNvPr>
          <p:cNvSpPr>
            <a:spLocks noGrp="1"/>
          </p:cNvSpPr>
          <p:nvPr>
            <p:ph type="dt" sz="half" idx="10"/>
          </p:nvPr>
        </p:nvSpPr>
        <p:spPr/>
        <p:txBody>
          <a:bodyPr/>
          <a:lstStyle/>
          <a:p>
            <a:fld id="{0ACF763B-263D-409D-A453-2B5282B351C8}" type="datetimeFigureOut">
              <a:rPr lang="en-IN" smtClean="0"/>
              <a:t>26-08-2026</a:t>
            </a:fld>
            <a:endParaRPr lang="en-IN"/>
          </a:p>
        </p:txBody>
      </p:sp>
      <p:sp>
        <p:nvSpPr>
          <p:cNvPr id="5" name="Footer Placeholder 4">
            <a:extLst>
              <a:ext uri="{FF2B5EF4-FFF2-40B4-BE49-F238E27FC236}">
                <a16:creationId xmlns:a16="http://schemas.microsoft.com/office/drawing/2014/main" id="{5EC7772B-3792-4DE7-E15C-BEC8A32382B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D996D09-2C7E-FD29-2BD2-AA74D1E7C2E4}"/>
              </a:ext>
            </a:extLst>
          </p:cNvPr>
          <p:cNvSpPr>
            <a:spLocks noGrp="1"/>
          </p:cNvSpPr>
          <p:nvPr>
            <p:ph type="sldNum" sz="quarter" idx="12"/>
          </p:nvPr>
        </p:nvSpPr>
        <p:spPr/>
        <p:txBody>
          <a:bodyPr/>
          <a:lstStyle/>
          <a:p>
            <a:fld id="{C350999E-6DD2-4581-9D5E-2340E3133505}" type="slidenum">
              <a:rPr lang="en-IN" smtClean="0"/>
              <a:t>‹#›</a:t>
            </a:fld>
            <a:endParaRPr lang="en-IN"/>
          </a:p>
        </p:txBody>
      </p:sp>
    </p:spTree>
    <p:extLst>
      <p:ext uri="{BB962C8B-B14F-4D97-AF65-F5344CB8AC3E}">
        <p14:creationId xmlns:p14="http://schemas.microsoft.com/office/powerpoint/2010/main" val="8501593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0DA5D93-A4EB-6CDD-6D8B-EE8351753E7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D4B0AB6-215E-353E-C1E7-7ED82277AC3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A9099B6-DC47-BB65-8FD7-BF0FB8A4A70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ACF763B-263D-409D-A453-2B5282B351C8}" type="datetimeFigureOut">
              <a:rPr lang="en-IN" smtClean="0"/>
              <a:t>26-08-2026</a:t>
            </a:fld>
            <a:endParaRPr lang="en-IN"/>
          </a:p>
        </p:txBody>
      </p:sp>
      <p:sp>
        <p:nvSpPr>
          <p:cNvPr id="5" name="Footer Placeholder 4">
            <a:extLst>
              <a:ext uri="{FF2B5EF4-FFF2-40B4-BE49-F238E27FC236}">
                <a16:creationId xmlns:a16="http://schemas.microsoft.com/office/drawing/2014/main" id="{07EDC906-742E-E0BB-47CF-BEED6D2242F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8B4817D-9704-957A-C3F8-F82FFFB0814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350999E-6DD2-4581-9D5E-2340E3133505}" type="slidenum">
              <a:rPr lang="en-IN" smtClean="0"/>
              <a:t>‹#›</a:t>
            </a:fld>
            <a:endParaRPr lang="en-IN"/>
          </a:p>
        </p:txBody>
      </p:sp>
    </p:spTree>
    <p:extLst>
      <p:ext uri="{BB962C8B-B14F-4D97-AF65-F5344CB8AC3E}">
        <p14:creationId xmlns:p14="http://schemas.microsoft.com/office/powerpoint/2010/main" val="535400360"/>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hyperlink" Target="https://doi.org/10.1016/j.amjmed.2009.11.022" TargetMode="External"/><Relationship Id="rId2" Type="http://schemas.openxmlformats.org/officeDocument/2006/relationships/hyperlink" Target="https://doi.org/10.1111/j.1937-5956.2003.tb00218.x" TargetMode="External"/><Relationship Id="rId1" Type="http://schemas.openxmlformats.org/officeDocument/2006/relationships/slideLayout" Target="../slideLayouts/slideLayout7.xml"/><Relationship Id="rId6" Type="http://schemas.openxmlformats.org/officeDocument/2006/relationships/hyperlink" Target="https://doi.org/10.1016/j.healthpol.2018.02.002" TargetMode="External"/><Relationship Id="rId5" Type="http://schemas.openxmlformats.org/officeDocument/2006/relationships/hyperlink" Target="https://doi.org/10.1016/j.ejor.2016.06.064" TargetMode="External"/><Relationship Id="rId4" Type="http://schemas.openxmlformats.org/officeDocument/2006/relationships/hyperlink" Target="https://doi.org/10.1136/amiajnl-2011-000681"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doi.org/10.13063/2327-9214.1244" TargetMode="External"/><Relationship Id="rId2" Type="http://schemas.openxmlformats.org/officeDocument/2006/relationships/hyperlink" Target="https://doi.org/10.3390/e22060675" TargetMode="External"/><Relationship Id="rId1" Type="http://schemas.openxmlformats.org/officeDocument/2006/relationships/slideLayout" Target="../slideLayouts/slideLayout7.xml"/><Relationship Id="rId6" Type="http://schemas.openxmlformats.org/officeDocument/2006/relationships/hyperlink" Target="https://doi.org/10.1016/j.ibmed.2025.100229" TargetMode="External"/><Relationship Id="rId5" Type="http://schemas.openxmlformats.org/officeDocument/2006/relationships/hyperlink" Target="https://doi.org/10.3390/info13110507" TargetMode="External"/><Relationship Id="rId4" Type="http://schemas.openxmlformats.org/officeDocument/2006/relationships/hyperlink" Target="https://doi.org/10.3233/SHTI220974"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E8C44D-07F6-2139-4825-B0704A79E5BC}"/>
              </a:ext>
            </a:extLst>
          </p:cNvPr>
          <p:cNvSpPr>
            <a:spLocks noGrp="1"/>
          </p:cNvSpPr>
          <p:nvPr>
            <p:ph type="ctrTitle"/>
          </p:nvPr>
        </p:nvSpPr>
        <p:spPr>
          <a:xfrm>
            <a:off x="2487561" y="847980"/>
            <a:ext cx="7957457" cy="772885"/>
          </a:xfrm>
        </p:spPr>
        <p:txBody>
          <a:bodyPr>
            <a:normAutofit fontScale="90000"/>
          </a:bodyPr>
          <a:lstStyle/>
          <a:p>
            <a:r>
              <a:rPr b="1" dirty="0">
                <a:solidFill>
                  <a:schemeClr val="accent1">
                    <a:lumMod val="50000"/>
                  </a:schemeClr>
                </a:solidFill>
                <a:latin typeface="Times New Roman" panose="02020603050405020304" pitchFamily="18" charset="0"/>
                <a:cs typeface="Times New Roman" panose="02020603050405020304" pitchFamily="18" charset="0"/>
              </a:rPr>
              <a:t>Hospital Appointment Data Pipeline</a:t>
            </a:r>
          </a:p>
        </p:txBody>
      </p:sp>
      <p:sp>
        <p:nvSpPr>
          <p:cNvPr id="3" name="Subtitle 2">
            <a:extLst>
              <a:ext uri="{FF2B5EF4-FFF2-40B4-BE49-F238E27FC236}">
                <a16:creationId xmlns:a16="http://schemas.microsoft.com/office/drawing/2014/main" id="{7F2CB2C9-E71C-2C95-7A04-0F332A646EF7}"/>
              </a:ext>
            </a:extLst>
          </p:cNvPr>
          <p:cNvSpPr>
            <a:spLocks noGrp="1"/>
          </p:cNvSpPr>
          <p:nvPr>
            <p:ph type="subTitle" idx="1"/>
          </p:nvPr>
        </p:nvSpPr>
        <p:spPr>
          <a:xfrm>
            <a:off x="1900873" y="1734841"/>
            <a:ext cx="8390253" cy="437010"/>
          </a:xfrm>
        </p:spPr>
        <p:txBody>
          <a:bodyPr>
            <a:normAutofit/>
          </a:bodyPr>
          <a:lstStyle/>
          <a:p>
            <a:r>
              <a:rPr b="1" dirty="0"/>
              <a:t>Team No. :- 12</a:t>
            </a:r>
          </a:p>
        </p:txBody>
      </p:sp>
      <p:sp>
        <p:nvSpPr>
          <p:cNvPr id="4" name="Subtitle 2">
            <a:extLst>
              <a:ext uri="{FF2B5EF4-FFF2-40B4-BE49-F238E27FC236}">
                <a16:creationId xmlns:a16="http://schemas.microsoft.com/office/drawing/2014/main" id="{77EFDB6A-63BF-5E0F-38DD-188908F2256C}"/>
              </a:ext>
            </a:extLst>
          </p:cNvPr>
          <p:cNvSpPr txBox="1">
            <a:spLocks/>
          </p:cNvSpPr>
          <p:nvPr/>
        </p:nvSpPr>
        <p:spPr>
          <a:xfrm>
            <a:off x="2045109" y="2357444"/>
            <a:ext cx="7620001" cy="3041678"/>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IN" sz="2800" dirty="0">
                <a:latin typeface="Times New Roman" panose="02020603050405020304" pitchFamily="18" charset="0"/>
                <a:cs typeface="Times New Roman" panose="02020603050405020304" pitchFamily="18" charset="0"/>
              </a:rPr>
              <a:t>  2420030014   :-    V.Sanjay</a:t>
            </a:r>
          </a:p>
          <a:p>
            <a:r>
              <a:rPr lang="en-IN" sz="2800" dirty="0">
                <a:latin typeface="Times New Roman" panose="02020603050405020304" pitchFamily="18" charset="0"/>
                <a:cs typeface="Times New Roman" panose="02020603050405020304" pitchFamily="18" charset="0"/>
              </a:rPr>
              <a:t>2420030368    :-    P.Rahul</a:t>
            </a:r>
          </a:p>
          <a:p>
            <a:r>
              <a:rPr lang="en-IN" sz="280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2420030573  </a:t>
            </a:r>
            <a:r>
              <a:rPr lang="en-IN" sz="2800" dirty="0">
                <a:latin typeface="Times New Roman" panose="02020603050405020304" pitchFamily="18" charset="0"/>
                <a:cs typeface="Times New Roman" panose="02020603050405020304" pitchFamily="18" charset="0"/>
              </a:rPr>
              <a:t>:-</a:t>
            </a:r>
            <a:r>
              <a:rPr sz="2800"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M.</a:t>
            </a:r>
            <a:r>
              <a:rPr sz="2800" dirty="0">
                <a:latin typeface="Times New Roman" panose="02020603050405020304" pitchFamily="18" charset="0"/>
                <a:cs typeface="Times New Roman" panose="02020603050405020304" pitchFamily="18" charset="0"/>
              </a:rPr>
              <a:t>Aasrith</a:t>
            </a:r>
            <a:endParaRPr lang="en-IN" sz="2800" dirty="0">
              <a:latin typeface="Times New Roman" panose="02020603050405020304" pitchFamily="18" charset="0"/>
              <a:cs typeface="Times New Roman" panose="02020603050405020304" pitchFamily="18" charset="0"/>
            </a:endParaRPr>
          </a:p>
          <a:p>
            <a:endParaRPr lang="en-IN" sz="2800" dirty="0">
              <a:latin typeface="Times New Roman" panose="02020603050405020304" pitchFamily="18" charset="0"/>
              <a:cs typeface="Times New Roman" panose="02020603050405020304" pitchFamily="18" charset="0"/>
            </a:endParaRPr>
          </a:p>
          <a:p>
            <a:r>
              <a:rPr lang="en-IN" sz="2800" dirty="0">
                <a:latin typeface="Times New Roman" panose="02020603050405020304" pitchFamily="18" charset="0"/>
                <a:cs typeface="Times New Roman" panose="02020603050405020304" pitchFamily="18" charset="0"/>
              </a:rPr>
              <a:t>Under the Guidance of :-</a:t>
            </a:r>
          </a:p>
          <a:p>
            <a:r>
              <a:rPr lang="en-IN" sz="2800" b="1" dirty="0" err="1">
                <a:solidFill>
                  <a:srgbClr val="FF0000"/>
                </a:solidFill>
                <a:latin typeface="Times New Roman" panose="02020603050405020304" pitchFamily="18" charset="0"/>
                <a:cs typeface="Times New Roman" panose="02020603050405020304" pitchFamily="18" charset="0"/>
              </a:rPr>
              <a:t>Dr.N.Shirisha,</a:t>
            </a:r>
            <a:r>
              <a:rPr lang="en-IN" b="1" dirty="0" err="1">
                <a:solidFill>
                  <a:srgbClr val="FF0000"/>
                </a:solidFill>
                <a:latin typeface="Times New Roman" panose="02020603050405020304" pitchFamily="18" charset="0"/>
                <a:cs typeface="Times New Roman" panose="02020603050405020304" pitchFamily="18" charset="0"/>
              </a:rPr>
              <a:t>Associate</a:t>
            </a:r>
            <a:r>
              <a:rPr lang="en-IN" b="1" dirty="0">
                <a:solidFill>
                  <a:srgbClr val="FF0000"/>
                </a:solidFill>
                <a:latin typeface="Times New Roman" panose="02020603050405020304" pitchFamily="18" charset="0"/>
                <a:cs typeface="Times New Roman" panose="02020603050405020304" pitchFamily="18" charset="0"/>
              </a:rPr>
              <a:t> Professor</a:t>
            </a:r>
            <a:endParaRPr sz="2800" b="1" dirty="0">
              <a:solidFill>
                <a:srgbClr val="FF0000"/>
              </a:solidFill>
              <a:latin typeface="Times New Roman" panose="02020603050405020304" pitchFamily="18" charset="0"/>
              <a:cs typeface="Times New Roman" panose="02020603050405020304" pitchFamily="18" charset="0"/>
            </a:endParaRPr>
          </a:p>
        </p:txBody>
      </p:sp>
      <p:sp>
        <p:nvSpPr>
          <p:cNvPr id="7" name="Subtitle 2">
            <a:extLst>
              <a:ext uri="{FF2B5EF4-FFF2-40B4-BE49-F238E27FC236}">
                <a16:creationId xmlns:a16="http://schemas.microsoft.com/office/drawing/2014/main" id="{129AF124-1DAD-7C95-8D54-3CA1A9A36AF2}"/>
              </a:ext>
            </a:extLst>
          </p:cNvPr>
          <p:cNvSpPr txBox="1">
            <a:spLocks/>
          </p:cNvSpPr>
          <p:nvPr/>
        </p:nvSpPr>
        <p:spPr>
          <a:xfrm>
            <a:off x="1235831" y="5399122"/>
            <a:ext cx="9671782" cy="59452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IN" sz="3200" dirty="0">
                <a:solidFill>
                  <a:schemeClr val="accent6"/>
                </a:solidFill>
                <a:latin typeface="Times New Roman" panose="02020603050405020304" pitchFamily="18" charset="0"/>
                <a:cs typeface="Times New Roman" panose="02020603050405020304" pitchFamily="18" charset="0"/>
              </a:rPr>
              <a:t>Department of Computer Science</a:t>
            </a:r>
          </a:p>
        </p:txBody>
      </p:sp>
      <p:pic>
        <p:nvPicPr>
          <p:cNvPr id="9" name="Picture 8">
            <a:extLst>
              <a:ext uri="{FF2B5EF4-FFF2-40B4-BE49-F238E27FC236}">
                <a16:creationId xmlns:a16="http://schemas.microsoft.com/office/drawing/2014/main" id="{4A7AED1E-C953-B10C-3AD9-5B430858FFCE}"/>
              </a:ext>
            </a:extLst>
          </p:cNvPr>
          <p:cNvPicPr>
            <a:picLocks noChangeAspect="1"/>
          </p:cNvPicPr>
          <p:nvPr/>
        </p:nvPicPr>
        <p:blipFill>
          <a:blip r:embed="rId2"/>
          <a:stretch>
            <a:fillRect/>
          </a:stretch>
        </p:blipFill>
        <p:spPr>
          <a:xfrm>
            <a:off x="4935794" y="5806626"/>
            <a:ext cx="2570023" cy="1051373"/>
          </a:xfrm>
          <a:prstGeom prst="rect">
            <a:avLst/>
          </a:prstGeom>
        </p:spPr>
      </p:pic>
      <p:pic>
        <p:nvPicPr>
          <p:cNvPr id="11" name="Picture 10">
            <a:extLst>
              <a:ext uri="{FF2B5EF4-FFF2-40B4-BE49-F238E27FC236}">
                <a16:creationId xmlns:a16="http://schemas.microsoft.com/office/drawing/2014/main" id="{215E5FD0-FF73-A7C7-3A35-57160C650B39}"/>
              </a:ext>
            </a:extLst>
          </p:cNvPr>
          <p:cNvPicPr>
            <a:picLocks noChangeAspect="1"/>
          </p:cNvPicPr>
          <p:nvPr/>
        </p:nvPicPr>
        <p:blipFill>
          <a:blip r:embed="rId2"/>
          <a:stretch>
            <a:fillRect/>
          </a:stretch>
        </p:blipFill>
        <p:spPr>
          <a:xfrm>
            <a:off x="58662" y="30536"/>
            <a:ext cx="2354338" cy="963138"/>
          </a:xfrm>
          <a:prstGeom prst="rect">
            <a:avLst/>
          </a:prstGeom>
        </p:spPr>
      </p:pic>
    </p:spTree>
    <p:extLst>
      <p:ext uri="{BB962C8B-B14F-4D97-AF65-F5344CB8AC3E}">
        <p14:creationId xmlns:p14="http://schemas.microsoft.com/office/powerpoint/2010/main" val="22383611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C60BCF-E5E6-1DA2-F4EC-59CC25006718}"/>
              </a:ext>
            </a:extLst>
          </p:cNvPr>
          <p:cNvSpPr>
            <a:spLocks noGrp="1"/>
          </p:cNvSpPr>
          <p:nvPr>
            <p:ph type="title"/>
          </p:nvPr>
        </p:nvSpPr>
        <p:spPr>
          <a:xfrm>
            <a:off x="4422058" y="155839"/>
            <a:ext cx="3347884" cy="963138"/>
          </a:xfrm>
        </p:spPr>
        <p:txBody>
          <a:bodyPr>
            <a:normAutofit fontScale="90000"/>
          </a:bodyPr>
          <a:lstStyle/>
          <a:p>
            <a:r>
              <a:rPr lang="en-IN" sz="8000" dirty="0">
                <a:latin typeface="Times New Roman" panose="02020603050405020304" pitchFamily="18" charset="0"/>
                <a:cs typeface="Times New Roman" panose="02020603050405020304" pitchFamily="18" charset="0"/>
              </a:rPr>
              <a:t>Abstract</a:t>
            </a:r>
          </a:p>
        </p:txBody>
      </p:sp>
      <p:sp>
        <p:nvSpPr>
          <p:cNvPr id="3" name="Content Placeholder 2">
            <a:extLst>
              <a:ext uri="{FF2B5EF4-FFF2-40B4-BE49-F238E27FC236}">
                <a16:creationId xmlns:a16="http://schemas.microsoft.com/office/drawing/2014/main" id="{EAAE00DE-3424-5000-0596-04CB75C97CD1}"/>
              </a:ext>
            </a:extLst>
          </p:cNvPr>
          <p:cNvSpPr>
            <a:spLocks noGrp="1"/>
          </p:cNvSpPr>
          <p:nvPr>
            <p:ph idx="1"/>
          </p:nvPr>
        </p:nvSpPr>
        <p:spPr>
          <a:xfrm>
            <a:off x="838200" y="1565085"/>
            <a:ext cx="10515600" cy="4471922"/>
          </a:xfrm>
        </p:spPr>
        <p:txBody>
          <a:bodyPr>
            <a:noAutofit/>
          </a:bodyPr>
          <a:lstStyle/>
          <a:p>
            <a:pPr algn="just"/>
            <a:r>
              <a:rPr dirty="0">
                <a:latin typeface="Times New Roman" panose="02020603050405020304" pitchFamily="18" charset="0"/>
                <a:cs typeface="Times New Roman" panose="02020603050405020304" pitchFamily="18" charset="0"/>
              </a:rPr>
              <a:t>The Hospital Appointment Data Pipeline is a data-driven solution designed to organize, process, and analyze hospital appointment records. The system collects appointment records from structured sources such as CSV or Excel files and processes them through an ETL pipeline using Python. The data is cleaned, transformed, and stored in a structured MySQL database for efficient analysis. SQL-based analytics are used to calculate appointment statistics and identify patient, department-wise, doctor-wise, and monthly appointment patterns. Reports and visualizations provide clear insights into appointment metrics and trends. Appointment trends can support better hospital monitoring and decision-making. The proposed system demonstrates the fundamental stages of data engineering from data ingestion and cleaning to storage and analysis.</a:t>
            </a:r>
          </a:p>
        </p:txBody>
      </p:sp>
      <p:pic>
        <p:nvPicPr>
          <p:cNvPr id="5" name="Picture 4">
            <a:extLst>
              <a:ext uri="{FF2B5EF4-FFF2-40B4-BE49-F238E27FC236}">
                <a16:creationId xmlns:a16="http://schemas.microsoft.com/office/drawing/2014/main" id="{9CD7DCAB-D799-64C3-D7A8-B53B0B42A569}"/>
              </a:ext>
            </a:extLst>
          </p:cNvPr>
          <p:cNvPicPr>
            <a:picLocks noChangeAspect="1"/>
          </p:cNvPicPr>
          <p:nvPr/>
        </p:nvPicPr>
        <p:blipFill>
          <a:blip r:embed="rId2"/>
          <a:stretch>
            <a:fillRect/>
          </a:stretch>
        </p:blipFill>
        <p:spPr>
          <a:xfrm>
            <a:off x="58662" y="30536"/>
            <a:ext cx="2354338" cy="963138"/>
          </a:xfrm>
          <a:prstGeom prst="rect">
            <a:avLst/>
          </a:prstGeom>
        </p:spPr>
      </p:pic>
    </p:spTree>
    <p:extLst>
      <p:ext uri="{BB962C8B-B14F-4D97-AF65-F5344CB8AC3E}">
        <p14:creationId xmlns:p14="http://schemas.microsoft.com/office/powerpoint/2010/main" val="24066002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45A99C-BB1F-C9C3-7151-AC6BF6273B48}"/>
              </a:ext>
            </a:extLst>
          </p:cNvPr>
          <p:cNvSpPr>
            <a:spLocks noGrp="1"/>
          </p:cNvSpPr>
          <p:nvPr>
            <p:ph type="title"/>
          </p:nvPr>
        </p:nvSpPr>
        <p:spPr>
          <a:xfrm>
            <a:off x="3679370" y="365125"/>
            <a:ext cx="7674429" cy="1322161"/>
          </a:xfrm>
        </p:spPr>
        <p:txBody>
          <a:bodyPr>
            <a:noAutofit/>
          </a:bodyPr>
          <a:lstStyle/>
          <a:p>
            <a:r>
              <a:rPr lang="en-IN" sz="8000" dirty="0">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54864691-DFD5-4BFF-65DF-5CFD5C1742F7}"/>
              </a:ext>
            </a:extLst>
          </p:cNvPr>
          <p:cNvSpPr>
            <a:spLocks noGrp="1"/>
          </p:cNvSpPr>
          <p:nvPr>
            <p:ph idx="1"/>
          </p:nvPr>
        </p:nvSpPr>
        <p:spPr>
          <a:xfrm>
            <a:off x="838200" y="1893765"/>
            <a:ext cx="10515599" cy="4025256"/>
          </a:xfrm>
        </p:spPr>
        <p:txBody>
          <a:bodyPr>
            <a:normAutofit/>
          </a:bodyPr>
          <a:lstStyle/>
          <a:p>
            <a:pPr algn="just"/>
            <a:r>
              <a:rPr dirty="0">
                <a:latin typeface="Times New Roman" panose="02020603050405020304" pitchFamily="18" charset="0"/>
                <a:cs typeface="Times New Roman" panose="02020603050405020304" pitchFamily="18" charset="0"/>
              </a:rPr>
              <a:t>Hospital appointments are an important part of healthcare service management. Appointment records are often maintained across different systems or files, making data cleaning, storage, and analysis difficult. Raw appointment records may contain missing or duplicate entries and can be time-consuming to process. There is a need for a simple data-driven system that can collect, process, and analyze appointment data. Our project uses Data Engineering techniques to transform raw appointment data into meaningful insights. The system helps monitor appointment patterns, identify cancellations and no-shows, and support efficient hospital record management.</a:t>
            </a:r>
          </a:p>
        </p:txBody>
      </p:sp>
      <p:pic>
        <p:nvPicPr>
          <p:cNvPr id="5" name="Picture 4">
            <a:extLst>
              <a:ext uri="{FF2B5EF4-FFF2-40B4-BE49-F238E27FC236}">
                <a16:creationId xmlns:a16="http://schemas.microsoft.com/office/drawing/2014/main" id="{F6E1522A-CD7D-C307-6926-538EA295E42F}"/>
              </a:ext>
            </a:extLst>
          </p:cNvPr>
          <p:cNvPicPr>
            <a:picLocks noChangeAspect="1"/>
          </p:cNvPicPr>
          <p:nvPr/>
        </p:nvPicPr>
        <p:blipFill>
          <a:blip r:embed="rId3"/>
          <a:stretch>
            <a:fillRect/>
          </a:stretch>
        </p:blipFill>
        <p:spPr>
          <a:xfrm>
            <a:off x="58662" y="30536"/>
            <a:ext cx="2354338" cy="963138"/>
          </a:xfrm>
          <a:prstGeom prst="rect">
            <a:avLst/>
          </a:prstGeom>
        </p:spPr>
      </p:pic>
    </p:spTree>
    <p:extLst>
      <p:ext uri="{BB962C8B-B14F-4D97-AF65-F5344CB8AC3E}">
        <p14:creationId xmlns:p14="http://schemas.microsoft.com/office/powerpoint/2010/main" val="31451664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4492E42-7EA8-E8D1-D175-ABDC9201B079}"/>
              </a:ext>
            </a:extLst>
          </p:cNvPr>
          <p:cNvSpPr txBox="1"/>
          <p:nvPr/>
        </p:nvSpPr>
        <p:spPr>
          <a:xfrm>
            <a:off x="614515" y="1431484"/>
            <a:ext cx="10962969" cy="5509200"/>
          </a:xfrm>
          <a:prstGeom prst="rect">
            <a:avLst/>
          </a:prstGeom>
          <a:noFill/>
        </p:spPr>
        <p:txBody>
          <a:bodyPr wrap="square" rtlCol="0">
            <a:spAutoFit/>
          </a:bodyPr>
          <a:lstStyle/>
          <a:p>
            <a:pPr marL="457200" lvl="0" indent="-457200" algn="just">
              <a:buFont typeface="Arial" panose="020B0604020202020204" pitchFamily="34" charset="0"/>
              <a:buChar char="•"/>
            </a:pPr>
            <a:r>
              <a:rPr lang="en-IN" sz="3200" dirty="0">
                <a:latin typeface="Times New Roman" panose="02020603050405020304" pitchFamily="18" charset="0"/>
                <a:cs typeface="Times New Roman" panose="02020603050405020304" pitchFamily="18" charset="0"/>
              </a:rPr>
              <a:t>To collect hospital appointment data from structured sources such as CSV or Excel files. </a:t>
            </a:r>
          </a:p>
          <a:p>
            <a:pPr marL="457200" lvl="0" indent="-457200" algn="just">
              <a:buFont typeface="Arial" panose="020B0604020202020204" pitchFamily="34" charset="0"/>
              <a:buChar char="•"/>
            </a:pPr>
            <a:r>
              <a:rPr lang="en-IN" sz="3200" dirty="0">
                <a:latin typeface="Times New Roman" panose="02020603050405020304" pitchFamily="18" charset="0"/>
                <a:cs typeface="Times New Roman" panose="02020603050405020304" pitchFamily="18" charset="0"/>
              </a:rPr>
              <a:t>To clean and transform raw appointment data using Python. </a:t>
            </a:r>
          </a:p>
          <a:p>
            <a:pPr marL="457200" lvl="0" indent="-457200" algn="just">
              <a:buFont typeface="Arial" panose="020B0604020202020204" pitchFamily="34" charset="0"/>
              <a:buChar char="•"/>
            </a:pPr>
            <a:r>
              <a:rPr lang="en-IN" sz="3200" dirty="0">
                <a:latin typeface="Times New Roman" panose="02020603050405020304" pitchFamily="18" charset="0"/>
                <a:cs typeface="Times New Roman" panose="02020603050405020304" pitchFamily="18" charset="0"/>
              </a:rPr>
              <a:t>To remove duplicate records and handle missing or inconsistent values. </a:t>
            </a:r>
          </a:p>
          <a:p>
            <a:pPr marL="457200" lvl="0" indent="-457200" algn="just">
              <a:buFont typeface="Arial" panose="020B0604020202020204" pitchFamily="34" charset="0"/>
              <a:buChar char="•"/>
            </a:pPr>
            <a:r>
              <a:rPr lang="en-IN" sz="3200" dirty="0">
                <a:latin typeface="Times New Roman" panose="02020603050405020304" pitchFamily="18" charset="0"/>
                <a:cs typeface="Times New Roman" panose="02020603050405020304" pitchFamily="18" charset="0"/>
              </a:rPr>
              <a:t>To store the processed data in a structured NoSQL database. </a:t>
            </a:r>
          </a:p>
          <a:p>
            <a:pPr marL="457200" lvl="0" indent="-457200" algn="just">
              <a:buFont typeface="Arial" panose="020B0604020202020204" pitchFamily="34" charset="0"/>
              <a:buChar char="•"/>
            </a:pPr>
            <a:r>
              <a:rPr lang="en-IN" sz="3200" dirty="0">
                <a:latin typeface="Times New Roman" panose="02020603050405020304" pitchFamily="18" charset="0"/>
                <a:cs typeface="Times New Roman" panose="02020603050405020304" pitchFamily="18" charset="0"/>
              </a:rPr>
              <a:t>To </a:t>
            </a:r>
            <a:r>
              <a:rPr lang="en-IN" sz="3200" dirty="0" err="1">
                <a:latin typeface="Times New Roman" panose="02020603050405020304" pitchFamily="18" charset="0"/>
                <a:cs typeface="Times New Roman" panose="02020603050405020304" pitchFamily="18" charset="0"/>
              </a:rPr>
              <a:t>analyze</a:t>
            </a:r>
            <a:r>
              <a:rPr lang="en-IN" sz="3200" dirty="0">
                <a:latin typeface="Times New Roman" panose="02020603050405020304" pitchFamily="18" charset="0"/>
                <a:cs typeface="Times New Roman" panose="02020603050405020304" pitchFamily="18" charset="0"/>
              </a:rPr>
              <a:t> appointment patterns using SQL queries. </a:t>
            </a:r>
          </a:p>
          <a:p>
            <a:pPr marL="457200" lvl="0" indent="-457200" algn="just">
              <a:buFont typeface="Arial" panose="020B0604020202020204" pitchFamily="34" charset="0"/>
              <a:buChar char="•"/>
            </a:pPr>
            <a:r>
              <a:rPr lang="en-IN" sz="3200" dirty="0">
                <a:latin typeface="Times New Roman" panose="02020603050405020304" pitchFamily="18" charset="0"/>
                <a:cs typeface="Times New Roman" panose="02020603050405020304" pitchFamily="18" charset="0"/>
              </a:rPr>
              <a:t>To identify completed, cancelled, and no-show appointments. </a:t>
            </a:r>
          </a:p>
          <a:p>
            <a:pPr marL="457200" lvl="0" indent="-457200" algn="just">
              <a:buFont typeface="Arial" panose="020B0604020202020204" pitchFamily="34" charset="0"/>
              <a:buChar char="•"/>
            </a:pPr>
            <a:r>
              <a:rPr lang="en-IN" sz="3200" dirty="0">
                <a:latin typeface="Times New Roman" panose="02020603050405020304" pitchFamily="18" charset="0"/>
                <a:cs typeface="Times New Roman" panose="02020603050405020304" pitchFamily="18" charset="0"/>
              </a:rPr>
              <a:t>To generate useful reports and visualizations for hospital staff and administrators.</a:t>
            </a:r>
          </a:p>
          <a:p>
            <a:pPr algn="just"/>
            <a:endParaRPr lang="en-IN" sz="32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106ED87A-43B3-DCC0-82A6-4DA6114313FB}"/>
              </a:ext>
            </a:extLst>
          </p:cNvPr>
          <p:cNvSpPr txBox="1"/>
          <p:nvPr/>
        </p:nvSpPr>
        <p:spPr>
          <a:xfrm>
            <a:off x="4273224" y="186814"/>
            <a:ext cx="3300904" cy="923330"/>
          </a:xfrm>
          <a:prstGeom prst="rect">
            <a:avLst/>
          </a:prstGeom>
          <a:noFill/>
        </p:spPr>
        <p:txBody>
          <a:bodyPr wrap="none" rtlCol="0">
            <a:spAutoFit/>
          </a:bodyPr>
          <a:lstStyle/>
          <a:p>
            <a:r>
              <a:rPr lang="en-US" sz="5400" b="1" dirty="0">
                <a:latin typeface="Times New Roman" panose="02020603050405020304" pitchFamily="18" charset="0"/>
                <a:cs typeface="Times New Roman" panose="02020603050405020304" pitchFamily="18" charset="0"/>
              </a:rPr>
              <a:t>Objectives</a:t>
            </a:r>
            <a:endParaRPr lang="en-I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898710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886200" y="73152"/>
            <a:ext cx="4343400" cy="411480"/>
          </a:xfrm>
          <a:prstGeom prst="rect">
            <a:avLst/>
          </a:prstGeom>
          <a:noFill/>
        </p:spPr>
        <p:txBody>
          <a:bodyPr wrap="none">
            <a:spAutoFit/>
          </a:bodyPr>
          <a:lstStyle/>
          <a:p>
            <a:pPr algn="ctr"/>
            <a:r>
              <a:rPr sz="3600" b="1">
                <a:solidFill>
                  <a:srgbClr val="000000"/>
                </a:solidFill>
                <a:latin typeface="Times New Roman"/>
              </a:rPr>
              <a:t>Literature Survey</a:t>
            </a:r>
          </a:p>
        </p:txBody>
      </p:sp>
      <p:graphicFrame>
        <p:nvGraphicFramePr>
          <p:cNvPr id="3" name="Table 2"/>
          <p:cNvGraphicFramePr>
            <a:graphicFrameLocks noGrp="1"/>
          </p:cNvGraphicFramePr>
          <p:nvPr>
            <p:extLst>
              <p:ext uri="{D42A27DB-BD31-4B8C-83A1-F6EECF244321}">
                <p14:modId xmlns:p14="http://schemas.microsoft.com/office/powerpoint/2010/main" val="3212942305"/>
              </p:ext>
            </p:extLst>
          </p:nvPr>
        </p:nvGraphicFramePr>
        <p:xfrm>
          <a:off x="311086" y="791852"/>
          <a:ext cx="11642102" cy="5882325"/>
        </p:xfrm>
        <a:graphic>
          <a:graphicData uri="http://schemas.openxmlformats.org/drawingml/2006/table">
            <a:tbl>
              <a:tblPr firstRow="1" bandRow="1">
                <a:tableStyleId>{5C22544A-7EE6-4342-B048-85BDC9FD1C3A}</a:tableStyleId>
              </a:tblPr>
              <a:tblGrid>
                <a:gridCol w="392746">
                  <a:extLst>
                    <a:ext uri="{9D8B030D-6E8A-4147-A177-3AD203B41FA5}">
                      <a16:colId xmlns:a16="http://schemas.microsoft.com/office/drawing/2014/main" val="20000"/>
                    </a:ext>
                  </a:extLst>
                </a:gridCol>
                <a:gridCol w="2478038">
                  <a:extLst>
                    <a:ext uri="{9D8B030D-6E8A-4147-A177-3AD203B41FA5}">
                      <a16:colId xmlns:a16="http://schemas.microsoft.com/office/drawing/2014/main" val="20001"/>
                    </a:ext>
                  </a:extLst>
                </a:gridCol>
                <a:gridCol w="1449418">
                  <a:extLst>
                    <a:ext uri="{9D8B030D-6E8A-4147-A177-3AD203B41FA5}">
                      <a16:colId xmlns:a16="http://schemas.microsoft.com/office/drawing/2014/main" val="20002"/>
                    </a:ext>
                  </a:extLst>
                </a:gridCol>
                <a:gridCol w="2384527">
                  <a:extLst>
                    <a:ext uri="{9D8B030D-6E8A-4147-A177-3AD203B41FA5}">
                      <a16:colId xmlns:a16="http://schemas.microsoft.com/office/drawing/2014/main" val="20003"/>
                    </a:ext>
                  </a:extLst>
                </a:gridCol>
                <a:gridCol w="2945592">
                  <a:extLst>
                    <a:ext uri="{9D8B030D-6E8A-4147-A177-3AD203B41FA5}">
                      <a16:colId xmlns:a16="http://schemas.microsoft.com/office/drawing/2014/main" val="20004"/>
                    </a:ext>
                  </a:extLst>
                </a:gridCol>
                <a:gridCol w="1991781">
                  <a:extLst>
                    <a:ext uri="{9D8B030D-6E8A-4147-A177-3AD203B41FA5}">
                      <a16:colId xmlns:a16="http://schemas.microsoft.com/office/drawing/2014/main" val="20005"/>
                    </a:ext>
                  </a:extLst>
                </a:gridCol>
              </a:tblGrid>
              <a:tr h="593015">
                <a:tc>
                  <a:txBody>
                    <a:bodyPr/>
                    <a:lstStyle/>
                    <a:p>
                      <a:pPr>
                        <a:buNone/>
                      </a:pPr>
                      <a:r>
                        <a:rPr lang="en-IN" sz="1200" dirty="0">
                          <a:solidFill>
                            <a:schemeClr val="tx1"/>
                          </a:solidFill>
                        </a:rPr>
                        <a:t>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buNone/>
                      </a:pPr>
                      <a:r>
                        <a:rPr lang="en-IN" sz="1200" dirty="0">
                          <a:solidFill>
                            <a:schemeClr val="tx1"/>
                          </a:solidFill>
                        </a:rPr>
                        <a:t>Paper Title &amp; Year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buNone/>
                      </a:pPr>
                      <a:r>
                        <a:rPr lang="en-IN" sz="1200" dirty="0">
                          <a:solidFill>
                            <a:schemeClr val="tx1"/>
                          </a:solidFill>
                        </a:rPr>
                        <a:t>Authors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buNone/>
                      </a:pPr>
                      <a:r>
                        <a:rPr lang="en-IN" sz="1200" dirty="0">
                          <a:solidFill>
                            <a:schemeClr val="tx1"/>
                          </a:solidFill>
                        </a:rPr>
                        <a:t>Drawbacks / Limitations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buNone/>
                      </a:pPr>
                      <a:r>
                        <a:rPr lang="en-IN" sz="1200" dirty="0">
                          <a:solidFill>
                            <a:schemeClr val="tx1"/>
                          </a:solidFill>
                        </a:rPr>
                        <a:t>What It Contributes to Our Project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buNone/>
                      </a:pPr>
                      <a:r>
                        <a:rPr lang="en-IN" sz="1200" dirty="0">
                          <a:solidFill>
                            <a:schemeClr val="tx1"/>
                          </a:solidFill>
                        </a:rPr>
                        <a:t>Link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10000"/>
                  </a:ext>
                </a:extLst>
              </a:tr>
              <a:tr h="1057862">
                <a:tc>
                  <a:txBody>
                    <a:bodyPr/>
                    <a:lstStyle/>
                    <a:p>
                      <a:pPr>
                        <a:buNone/>
                      </a:pPr>
                      <a:r>
                        <a:rPr lang="en-IN" sz="1200" b="1">
                          <a:solidFill>
                            <a:schemeClr val="tx1"/>
                          </a:solidFill>
                        </a:rPr>
                        <a:t>1</a:t>
                      </a:r>
                      <a:endParaRPr lang="en-IN"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b="1" dirty="0">
                          <a:solidFill>
                            <a:schemeClr val="tx1"/>
                          </a:solidFill>
                        </a:rPr>
                        <a:t>Outpatient Scheduling in Health Care: A Review of Literature – 2003</a:t>
                      </a:r>
                      <a:endParaRPr lang="en-IN"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b="1">
                          <a:solidFill>
                            <a:schemeClr val="tx1"/>
                          </a:solidFill>
                        </a:rPr>
                        <a:t>Cayirli &amp; Veral</a:t>
                      </a:r>
                      <a:endParaRPr lang="en-IN"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a:solidFill>
                            <a:schemeClr val="tx1"/>
                          </a:solidFill>
                        </a:rPr>
                        <a:t>Reviews many scheduling models, but most solutions are situation-specific and do not provide a practical data-processing pipeline.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a:solidFill>
                            <a:schemeClr val="tx1"/>
                          </a:solidFill>
                        </a:rPr>
                        <a:t>Helps identify important appointment factors such as </a:t>
                      </a:r>
                      <a:r>
                        <a:rPr lang="en-IN" sz="1200" b="1">
                          <a:solidFill>
                            <a:schemeClr val="tx1"/>
                          </a:solidFill>
                        </a:rPr>
                        <a:t>waiting time, demand, capacity and scheduling patterns</a:t>
                      </a:r>
                      <a:r>
                        <a:rPr lang="en-IN" sz="1200">
                          <a:solidFill>
                            <a:schemeClr val="tx1"/>
                          </a:solidFill>
                        </a:rPr>
                        <a:t> that our cleaned appointment data can be used to analyze.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dirty="0">
                          <a:hlinkClick r:id="rId2"/>
                        </a:rPr>
                        <a:t>https://doi.org/10.1111/j.1937-5956.2003.tb00218.x</a:t>
                      </a:r>
                      <a:r>
                        <a:rPr lang="en-IN" sz="1200" dirty="0"/>
                        <a:t> </a:t>
                      </a:r>
                      <a:endParaRPr lang="en-IN"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057862">
                <a:tc>
                  <a:txBody>
                    <a:bodyPr/>
                    <a:lstStyle/>
                    <a:p>
                      <a:pPr>
                        <a:buNone/>
                      </a:pPr>
                      <a:r>
                        <a:rPr lang="en-IN" sz="1200" b="1">
                          <a:solidFill>
                            <a:schemeClr val="tx1"/>
                          </a:solidFill>
                        </a:rPr>
                        <a:t>2</a:t>
                      </a:r>
                      <a:endParaRPr lang="en-IN"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b="1">
                          <a:solidFill>
                            <a:schemeClr val="tx1"/>
                          </a:solidFill>
                        </a:rPr>
                        <a:t>The Effectiveness of Outpatient Appointment Reminder Systems in Reducing No-Show Rates – 2010</a:t>
                      </a:r>
                      <a:endParaRPr lang="en-IN"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b="1">
                          <a:solidFill>
                            <a:schemeClr val="tx1"/>
                          </a:solidFill>
                        </a:rPr>
                        <a:t>Parikh et al.</a:t>
                      </a:r>
                      <a:endParaRPr lang="en-IN"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a:solidFill>
                            <a:schemeClr val="tx1"/>
                          </a:solidFill>
                        </a:rPr>
                        <a:t>Focuses mainly on reminder interventions and does not implement an automated data engineering workflow.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a:solidFill>
                            <a:schemeClr val="tx1"/>
                          </a:solidFill>
                        </a:rPr>
                        <a:t>Shows the importance of tracking </a:t>
                      </a:r>
                      <a:r>
                        <a:rPr lang="en-IN" sz="1200" b="1">
                          <a:solidFill>
                            <a:schemeClr val="tx1"/>
                          </a:solidFill>
                        </a:rPr>
                        <a:t>appointment status, waiting time and patient attendance</a:t>
                      </a:r>
                      <a:r>
                        <a:rPr lang="en-IN" sz="1200">
                          <a:solidFill>
                            <a:schemeClr val="tx1"/>
                          </a:solidFill>
                        </a:rPr>
                        <a:t>, which our pipeline organizes for analysis.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dirty="0">
                          <a:hlinkClick r:id="rId3"/>
                        </a:rPr>
                        <a:t>https://doi.org/10.1016/j.amjmed.2009.11.022</a:t>
                      </a:r>
                      <a:r>
                        <a:rPr lang="en-IN" sz="1200" dirty="0"/>
                        <a:t> </a:t>
                      </a:r>
                      <a:endParaRPr lang="en-IN"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057862">
                <a:tc>
                  <a:txBody>
                    <a:bodyPr/>
                    <a:lstStyle/>
                    <a:p>
                      <a:pPr>
                        <a:buNone/>
                      </a:pPr>
                      <a:r>
                        <a:rPr lang="en-IN" sz="1200" b="1">
                          <a:solidFill>
                            <a:schemeClr val="tx1"/>
                          </a:solidFill>
                        </a:rPr>
                        <a:t>3</a:t>
                      </a:r>
                      <a:endParaRPr lang="en-IN"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b="1">
                          <a:solidFill>
                            <a:schemeClr val="tx1"/>
                          </a:solidFill>
                        </a:rPr>
                        <a:t>Methods and Dimensions of Electronic Health Record Data Quality Assessment – 2013</a:t>
                      </a:r>
                      <a:endParaRPr lang="en-IN"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b="1">
                          <a:solidFill>
                            <a:schemeClr val="tx1"/>
                          </a:solidFill>
                        </a:rPr>
                        <a:t>Weiskopf &amp; Weng</a:t>
                      </a:r>
                      <a:endParaRPr lang="en-IN"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a:solidFill>
                            <a:schemeClr val="tx1"/>
                          </a:solidFill>
                        </a:rPr>
                        <a:t>Focuses on EHR data-quality assessment rather than appointment-specific ETL processing.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a:solidFill>
                            <a:schemeClr val="tx1"/>
                          </a:solidFill>
                        </a:rPr>
                        <a:t>Provides data-quality concepts such as </a:t>
                      </a:r>
                      <a:r>
                        <a:rPr lang="en-IN" sz="1200" b="1">
                          <a:solidFill>
                            <a:schemeClr val="tx1"/>
                          </a:solidFill>
                        </a:rPr>
                        <a:t>completeness, correctness, concordance, plausibility and currency</a:t>
                      </a:r>
                      <a:r>
                        <a:rPr lang="en-IN" sz="1200">
                          <a:solidFill>
                            <a:schemeClr val="tx1"/>
                          </a:solidFill>
                        </a:rPr>
                        <a:t>, supporting our cleaning and validation stage.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dirty="0">
                          <a:hlinkClick r:id="rId4"/>
                        </a:rPr>
                        <a:t>https://doi.org/10.1136/amiajnl-2011-000681</a:t>
                      </a:r>
                      <a:r>
                        <a:rPr lang="en-IN" sz="1200" dirty="0"/>
                        <a:t> </a:t>
                      </a:r>
                      <a:endParaRPr lang="en-IN"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1057862">
                <a:tc>
                  <a:txBody>
                    <a:bodyPr/>
                    <a:lstStyle/>
                    <a:p>
                      <a:pPr>
                        <a:buNone/>
                      </a:pPr>
                      <a:r>
                        <a:rPr lang="en-IN" sz="1200" b="1">
                          <a:solidFill>
                            <a:schemeClr val="tx1"/>
                          </a:solidFill>
                        </a:rPr>
                        <a:t>4</a:t>
                      </a:r>
                      <a:endParaRPr lang="en-IN"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b="1">
                          <a:solidFill>
                            <a:schemeClr val="tx1"/>
                          </a:solidFill>
                        </a:rPr>
                        <a:t>Outpatient Appointment Systems in Healthcare: A Review of Optimization Studies – 2017</a:t>
                      </a:r>
                      <a:endParaRPr lang="en-IN"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b="1">
                          <a:solidFill>
                            <a:schemeClr val="tx1"/>
                          </a:solidFill>
                        </a:rPr>
                        <a:t>Ahmadi-Javid, Jalali &amp; Klassen</a:t>
                      </a:r>
                      <a:endParaRPr lang="en-IN"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a:solidFill>
                            <a:schemeClr val="tx1"/>
                          </a:solidFill>
                        </a:rPr>
                        <a:t>Concentrates on optimization and decision-support models rather than implementation of a complete data pipeline.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a:solidFill>
                            <a:schemeClr val="tx1"/>
                          </a:solidFill>
                        </a:rPr>
                        <a:t>Helps identify </a:t>
                      </a:r>
                      <a:r>
                        <a:rPr lang="en-IN" sz="1200" b="1">
                          <a:solidFill>
                            <a:schemeClr val="tx1"/>
                          </a:solidFill>
                        </a:rPr>
                        <a:t>strategic, tactical and operational appointment factors</a:t>
                      </a:r>
                      <a:r>
                        <a:rPr lang="en-IN" sz="1200">
                          <a:solidFill>
                            <a:schemeClr val="tx1"/>
                          </a:solidFill>
                        </a:rPr>
                        <a:t> that can be derived from our processed hospital records.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dirty="0">
                          <a:hlinkClick r:id="rId5"/>
                        </a:rPr>
                        <a:t>https://doi.org/10.1016/j.ejor.2016.06.064</a:t>
                      </a:r>
                      <a:r>
                        <a:rPr lang="en-IN" sz="1200" dirty="0"/>
                        <a:t> </a:t>
                      </a:r>
                      <a:endParaRPr lang="en-IN"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1057862">
                <a:tc>
                  <a:txBody>
                    <a:bodyPr/>
                    <a:lstStyle/>
                    <a:p>
                      <a:pPr>
                        <a:buNone/>
                      </a:pPr>
                      <a:r>
                        <a:rPr lang="en-IN" sz="1200" b="1" dirty="0">
                          <a:solidFill>
                            <a:schemeClr val="tx1"/>
                          </a:solidFill>
                        </a:rPr>
                        <a:t>5</a:t>
                      </a:r>
                      <a:endParaRPr lang="en-IN"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b="1" dirty="0">
                          <a:solidFill>
                            <a:schemeClr val="tx1"/>
                          </a:solidFill>
                        </a:rPr>
                        <a:t>No-shows in Appointment Scheduling – A Systematic Literature Review – 2018</a:t>
                      </a:r>
                      <a:endParaRPr lang="en-IN"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b="1">
                          <a:solidFill>
                            <a:schemeClr val="tx1"/>
                          </a:solidFill>
                        </a:rPr>
                        <a:t>Dantas et al.</a:t>
                      </a:r>
                      <a:endParaRPr lang="en-IN"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a:solidFill>
                            <a:schemeClr val="tx1"/>
                          </a:solidFill>
                        </a:rPr>
                        <a:t>Reviews factors influencing no-shows but does not provide a reusable ETL/database solution for hospital appointment data.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a:solidFill>
                            <a:schemeClr val="tx1"/>
                          </a:solidFill>
                        </a:rPr>
                        <a:t>Supports analysis of </a:t>
                      </a:r>
                      <a:r>
                        <a:rPr lang="en-IN" sz="1200" b="1">
                          <a:solidFill>
                            <a:schemeClr val="tx1"/>
                          </a:solidFill>
                        </a:rPr>
                        <a:t>no-show patterns, lead time and previous appointment behavior</a:t>
                      </a:r>
                      <a:r>
                        <a:rPr lang="en-IN" sz="1200">
                          <a:solidFill>
                            <a:schemeClr val="tx1"/>
                          </a:solidFill>
                        </a:rPr>
                        <a:t> using structured appointment records.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dirty="0">
                          <a:hlinkClick r:id="rId6"/>
                        </a:rPr>
                        <a:t>https://doi.org/10.1016/j.healthpol.2018.02.002</a:t>
                      </a:r>
                      <a:r>
                        <a:rPr lang="en-IN" sz="1200" dirty="0"/>
                        <a:t> </a:t>
                      </a:r>
                      <a:endParaRPr lang="en-IN"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5569774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886200" y="73152"/>
            <a:ext cx="4343400" cy="411480"/>
          </a:xfrm>
          <a:prstGeom prst="rect">
            <a:avLst/>
          </a:prstGeom>
          <a:noFill/>
        </p:spPr>
        <p:txBody>
          <a:bodyPr wrap="none">
            <a:spAutoFit/>
          </a:bodyPr>
          <a:lstStyle/>
          <a:p>
            <a:pPr algn="ctr"/>
            <a:r>
              <a:rPr sz="3600" b="1">
                <a:solidFill>
                  <a:srgbClr val="000000"/>
                </a:solidFill>
                <a:latin typeface="Times New Roman"/>
              </a:rPr>
              <a:t>Literature Survey</a:t>
            </a:r>
          </a:p>
        </p:txBody>
      </p:sp>
      <p:graphicFrame>
        <p:nvGraphicFramePr>
          <p:cNvPr id="3" name="Table 2"/>
          <p:cNvGraphicFramePr>
            <a:graphicFrameLocks noGrp="1"/>
          </p:cNvGraphicFramePr>
          <p:nvPr>
            <p:extLst>
              <p:ext uri="{D42A27DB-BD31-4B8C-83A1-F6EECF244321}">
                <p14:modId xmlns:p14="http://schemas.microsoft.com/office/powerpoint/2010/main" val="3131890706"/>
              </p:ext>
            </p:extLst>
          </p:nvPr>
        </p:nvGraphicFramePr>
        <p:xfrm>
          <a:off x="365760" y="914400"/>
          <a:ext cx="11384280" cy="5623558"/>
        </p:xfrm>
        <a:graphic>
          <a:graphicData uri="http://schemas.openxmlformats.org/drawingml/2006/table">
            <a:tbl>
              <a:tblPr firstRow="1" bandRow="1">
                <a:tableStyleId>{5C22544A-7EE6-4342-B048-85BDC9FD1C3A}</a:tableStyleId>
              </a:tblPr>
              <a:tblGrid>
                <a:gridCol w="436932">
                  <a:extLst>
                    <a:ext uri="{9D8B030D-6E8A-4147-A177-3AD203B41FA5}">
                      <a16:colId xmlns:a16="http://schemas.microsoft.com/office/drawing/2014/main" val="20000"/>
                    </a:ext>
                  </a:extLst>
                </a:gridCol>
                <a:gridCol w="2370276">
                  <a:extLst>
                    <a:ext uri="{9D8B030D-6E8A-4147-A177-3AD203B41FA5}">
                      <a16:colId xmlns:a16="http://schemas.microsoft.com/office/drawing/2014/main" val="20001"/>
                    </a:ext>
                  </a:extLst>
                </a:gridCol>
                <a:gridCol w="1417320">
                  <a:extLst>
                    <a:ext uri="{9D8B030D-6E8A-4147-A177-3AD203B41FA5}">
                      <a16:colId xmlns:a16="http://schemas.microsoft.com/office/drawing/2014/main" val="20002"/>
                    </a:ext>
                  </a:extLst>
                </a:gridCol>
                <a:gridCol w="2331720">
                  <a:extLst>
                    <a:ext uri="{9D8B030D-6E8A-4147-A177-3AD203B41FA5}">
                      <a16:colId xmlns:a16="http://schemas.microsoft.com/office/drawing/2014/main" val="20003"/>
                    </a:ext>
                  </a:extLst>
                </a:gridCol>
                <a:gridCol w="2702759">
                  <a:extLst>
                    <a:ext uri="{9D8B030D-6E8A-4147-A177-3AD203B41FA5}">
                      <a16:colId xmlns:a16="http://schemas.microsoft.com/office/drawing/2014/main" val="20004"/>
                    </a:ext>
                  </a:extLst>
                </a:gridCol>
                <a:gridCol w="2125273">
                  <a:extLst>
                    <a:ext uri="{9D8B030D-6E8A-4147-A177-3AD203B41FA5}">
                      <a16:colId xmlns:a16="http://schemas.microsoft.com/office/drawing/2014/main" val="20005"/>
                    </a:ext>
                  </a:extLst>
                </a:gridCol>
              </a:tblGrid>
              <a:tr h="566928">
                <a:tc>
                  <a:txBody>
                    <a:bodyPr/>
                    <a:lstStyle/>
                    <a:p>
                      <a:pPr>
                        <a:buNone/>
                      </a:pPr>
                      <a:r>
                        <a:rPr lang="en-IN" sz="1200" dirty="0">
                          <a:solidFill>
                            <a:schemeClr val="tx1"/>
                          </a:solidFill>
                        </a:rPr>
                        <a:t>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buNone/>
                      </a:pPr>
                      <a:r>
                        <a:rPr lang="en-IN" sz="1200" dirty="0">
                          <a:solidFill>
                            <a:schemeClr val="tx1"/>
                          </a:solidFill>
                        </a:rPr>
                        <a:t>Paper Title &amp; Year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buNone/>
                      </a:pPr>
                      <a:r>
                        <a:rPr lang="en-IN" sz="1200" dirty="0">
                          <a:solidFill>
                            <a:schemeClr val="tx1"/>
                          </a:solidFill>
                        </a:rPr>
                        <a:t>Authors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buNone/>
                      </a:pPr>
                      <a:r>
                        <a:rPr lang="en-IN" sz="1200" dirty="0">
                          <a:solidFill>
                            <a:schemeClr val="tx1"/>
                          </a:solidFill>
                        </a:rPr>
                        <a:t>Drawbacks / Limitations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buNone/>
                      </a:pPr>
                      <a:r>
                        <a:rPr lang="en-IN" sz="1200" dirty="0">
                          <a:solidFill>
                            <a:schemeClr val="tx1"/>
                          </a:solidFill>
                        </a:rPr>
                        <a:t>What It Contributes to Our Project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buNone/>
                      </a:pPr>
                      <a:r>
                        <a:rPr lang="en-IN" sz="1200" dirty="0">
                          <a:solidFill>
                            <a:schemeClr val="tx1"/>
                          </a:solidFill>
                        </a:rPr>
                        <a:t>Link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10000"/>
                  </a:ext>
                </a:extLst>
              </a:tr>
              <a:tr h="1011326">
                <a:tc>
                  <a:txBody>
                    <a:bodyPr/>
                    <a:lstStyle/>
                    <a:p>
                      <a:pPr>
                        <a:buNone/>
                      </a:pPr>
                      <a:r>
                        <a:rPr lang="en-IN" sz="1200" b="1">
                          <a:solidFill>
                            <a:schemeClr val="tx1"/>
                          </a:solidFill>
                        </a:rPr>
                        <a:t>6</a:t>
                      </a:r>
                      <a:endParaRPr lang="en-IN"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b="1" dirty="0">
                          <a:solidFill>
                            <a:schemeClr val="tx1"/>
                          </a:solidFill>
                        </a:rPr>
                        <a:t>Patient No-Show Prediction: A Systematic Literature Review – 2020</a:t>
                      </a:r>
                      <a:endParaRPr lang="en-IN"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b="1" dirty="0">
                          <a:solidFill>
                            <a:schemeClr val="tx1"/>
                          </a:solidFill>
                        </a:rPr>
                        <a:t>Zapata et al.</a:t>
                      </a:r>
                      <a:endParaRPr lang="en-IN"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a:solidFill>
                            <a:schemeClr val="tx1"/>
                          </a:solidFill>
                        </a:rPr>
                        <a:t>Concentrates mainly on predictive modelling; data preparation and pipeline design are secondary aspects of the study.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a:solidFill>
                            <a:schemeClr val="tx1"/>
                          </a:solidFill>
                        </a:rPr>
                        <a:t>Supports the need for </a:t>
                      </a:r>
                      <a:r>
                        <a:rPr lang="en-IN" sz="1200" b="1">
                          <a:solidFill>
                            <a:schemeClr val="tx1"/>
                          </a:solidFill>
                        </a:rPr>
                        <a:t>structured appointment data, status-based analysis and properly prepared features</a:t>
                      </a:r>
                      <a:r>
                        <a:rPr lang="en-IN" sz="1200">
                          <a:solidFill>
                            <a:schemeClr val="tx1"/>
                          </a:solidFill>
                        </a:rPr>
                        <a:t> before applying prediction techniques.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dirty="0">
                          <a:hlinkClick r:id="rId2"/>
                        </a:rPr>
                        <a:t>https://doi.org/10.3390/e22060675</a:t>
                      </a:r>
                      <a:r>
                        <a:rPr lang="en-IN" sz="1200" dirty="0"/>
                        <a:t> </a:t>
                      </a:r>
                      <a:endParaRPr lang="en-IN"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011326">
                <a:tc>
                  <a:txBody>
                    <a:bodyPr/>
                    <a:lstStyle/>
                    <a:p>
                      <a:pPr>
                        <a:buNone/>
                      </a:pPr>
                      <a:r>
                        <a:rPr lang="en-IN" sz="1200" b="1">
                          <a:solidFill>
                            <a:schemeClr val="tx1"/>
                          </a:solidFill>
                        </a:rPr>
                        <a:t>7</a:t>
                      </a:r>
                      <a:endParaRPr lang="en-IN"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b="1" dirty="0">
                          <a:solidFill>
                            <a:schemeClr val="tx1"/>
                          </a:solidFill>
                        </a:rPr>
                        <a:t>A Harmonized Data Quality Assessment Terminology and Framework for the Secondary Use of EHR Data – 2016</a:t>
                      </a:r>
                      <a:endParaRPr lang="en-IN"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b="1">
                          <a:solidFill>
                            <a:schemeClr val="tx1"/>
                          </a:solidFill>
                        </a:rPr>
                        <a:t>Kahn et al.</a:t>
                      </a:r>
                      <a:endParaRPr lang="en-IN"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a:solidFill>
                            <a:schemeClr val="tx1"/>
                          </a:solidFill>
                        </a:rPr>
                        <a:t>Provides a general framework and requires adaptation to specific appointment datasets and workflows.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a:solidFill>
                            <a:schemeClr val="tx1"/>
                          </a:solidFill>
                        </a:rPr>
                        <a:t>Provides a systematic basis for checking </a:t>
                      </a:r>
                      <a:r>
                        <a:rPr lang="en-IN" sz="1200" b="1">
                          <a:solidFill>
                            <a:schemeClr val="tx1"/>
                          </a:solidFill>
                        </a:rPr>
                        <a:t>data completeness, conformance, plausibility and quality</a:t>
                      </a:r>
                      <a:r>
                        <a:rPr lang="en-IN" sz="1200">
                          <a:solidFill>
                            <a:schemeClr val="tx1"/>
                          </a:solidFill>
                        </a:rPr>
                        <a:t> during our ETL process.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dirty="0">
                          <a:hlinkClick r:id="rId3"/>
                        </a:rPr>
                        <a:t>https://doi.org/10.13063/2327-9214.1244</a:t>
                      </a:r>
                      <a:r>
                        <a:rPr lang="en-IN" sz="1200" dirty="0"/>
                        <a:t> </a:t>
                      </a:r>
                      <a:endParaRPr lang="en-IN"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011326">
                <a:tc>
                  <a:txBody>
                    <a:bodyPr/>
                    <a:lstStyle/>
                    <a:p>
                      <a:pPr>
                        <a:buNone/>
                      </a:pPr>
                      <a:r>
                        <a:rPr lang="en-IN" sz="1200" b="1">
                          <a:solidFill>
                            <a:schemeClr val="tx1"/>
                          </a:solidFill>
                        </a:rPr>
                        <a:t>8</a:t>
                      </a:r>
                      <a:endParaRPr lang="en-IN"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b="1">
                          <a:solidFill>
                            <a:schemeClr val="tx1"/>
                          </a:solidFill>
                        </a:rPr>
                        <a:t>ETL Processes for Integrating Healthcare Data – Tools and Architecture Patterns – 2022</a:t>
                      </a:r>
                      <a:endParaRPr lang="en-IN"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b="1">
                          <a:solidFill>
                            <a:schemeClr val="tx1"/>
                          </a:solidFill>
                        </a:rPr>
                        <a:t>Cheng et al.</a:t>
                      </a:r>
                      <a:endParaRPr lang="en-IN"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a:solidFill>
                            <a:schemeClr val="tx1"/>
                          </a:solidFill>
                        </a:rPr>
                        <a:t>Compares healthcare ETL tools and architecture patterns; the examples are broader than hospital appointment analytics.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a:solidFill>
                            <a:schemeClr val="tx1"/>
                          </a:solidFill>
                        </a:rPr>
                        <a:t>Directly supports our </a:t>
                      </a:r>
                      <a:r>
                        <a:rPr lang="en-IN" sz="1200" b="1">
                          <a:solidFill>
                            <a:schemeClr val="tx1"/>
                          </a:solidFill>
                        </a:rPr>
                        <a:t>Data Ingestion → Transformation → Storage</a:t>
                      </a:r>
                      <a:r>
                        <a:rPr lang="en-IN" sz="1200">
                          <a:solidFill>
                            <a:schemeClr val="tx1"/>
                          </a:solidFill>
                        </a:rPr>
                        <a:t> architecture for processing healthcare appointment data.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dirty="0">
                          <a:hlinkClick r:id="rId4"/>
                        </a:rPr>
                        <a:t>https://doi.org/10.3233/SHTI220974</a:t>
                      </a:r>
                      <a:r>
                        <a:rPr lang="en-IN" sz="1200" dirty="0"/>
                        <a:t> </a:t>
                      </a:r>
                      <a:endParaRPr lang="en-IN"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1011326">
                <a:tc>
                  <a:txBody>
                    <a:bodyPr/>
                    <a:lstStyle/>
                    <a:p>
                      <a:pPr>
                        <a:buNone/>
                      </a:pPr>
                      <a:r>
                        <a:rPr lang="en-IN" sz="1200" b="1">
                          <a:solidFill>
                            <a:schemeClr val="tx1"/>
                          </a:solidFill>
                        </a:rPr>
                        <a:t>9</a:t>
                      </a:r>
                      <a:endParaRPr lang="en-IN"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b="1">
                          <a:solidFill>
                            <a:schemeClr val="tx1"/>
                          </a:solidFill>
                        </a:rPr>
                        <a:t>No-Show in Medical Appointments with Machine Learning Techniques: A Systematic Literature Review – 2022</a:t>
                      </a:r>
                      <a:endParaRPr lang="en-IN"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b="1">
                          <a:solidFill>
                            <a:schemeClr val="tx1"/>
                          </a:solidFill>
                        </a:rPr>
                        <a:t>Salazar et al.</a:t>
                      </a:r>
                      <a:endParaRPr lang="en-IN"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a:solidFill>
                            <a:schemeClr val="tx1"/>
                          </a:solidFill>
                        </a:rPr>
                        <a:t>Focuses primarily on machine-learning-based no-show prediction; practical integration with hospital data systems remains limited.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a:solidFill>
                            <a:schemeClr val="tx1"/>
                          </a:solidFill>
                        </a:rPr>
                        <a:t>Identifies useful appointment attributes such as </a:t>
                      </a:r>
                      <a:r>
                        <a:rPr lang="en-IN" sz="1200" b="1">
                          <a:solidFill>
                            <a:schemeClr val="tx1"/>
                          </a:solidFill>
                        </a:rPr>
                        <a:t>patient age, previous no-shows and lead time</a:t>
                      </a:r>
                      <a:r>
                        <a:rPr lang="en-IN" sz="1200">
                          <a:solidFill>
                            <a:schemeClr val="tx1"/>
                          </a:solidFill>
                        </a:rPr>
                        <a:t>, which can be derived from our cleaned dataset.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dirty="0">
                          <a:hlinkClick r:id="rId5"/>
                        </a:rPr>
                        <a:t>https://doi.org/10.3390/info13110507</a:t>
                      </a:r>
                      <a:r>
                        <a:rPr lang="en-IN" sz="1200" dirty="0"/>
                        <a:t> </a:t>
                      </a:r>
                      <a:endParaRPr lang="en-IN"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1011326">
                <a:tc>
                  <a:txBody>
                    <a:bodyPr/>
                    <a:lstStyle/>
                    <a:p>
                      <a:pPr>
                        <a:buNone/>
                      </a:pPr>
                      <a:r>
                        <a:rPr lang="en-IN" sz="1200" b="1">
                          <a:solidFill>
                            <a:schemeClr val="tx1"/>
                          </a:solidFill>
                        </a:rPr>
                        <a:t>10</a:t>
                      </a:r>
                      <a:endParaRPr lang="en-IN"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b="1">
                          <a:solidFill>
                            <a:schemeClr val="tx1"/>
                          </a:solidFill>
                        </a:rPr>
                        <a:t>Predicting Patient No-Shows Using Machine Learning: A Comprehensive Review and Future Research Agenda – 2025</a:t>
                      </a:r>
                      <a:endParaRPr lang="en-IN"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b="1">
                          <a:solidFill>
                            <a:schemeClr val="tx1"/>
                          </a:solidFill>
                        </a:rPr>
                        <a:t>Toffaha et al.</a:t>
                      </a:r>
                      <a:endParaRPr lang="en-IN"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a:solidFill>
                            <a:schemeClr val="tx1"/>
                          </a:solidFill>
                        </a:rPr>
                        <a:t>Reviews machine-learning research and highlights gaps in data collection, preprocessing and real-world implementation.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a:solidFill>
                            <a:schemeClr val="tx1"/>
                          </a:solidFill>
                        </a:rPr>
                        <a:t>Reinforces the importance of </a:t>
                      </a:r>
                      <a:r>
                        <a:rPr lang="en-IN" sz="1200" b="1">
                          <a:solidFill>
                            <a:schemeClr val="tx1"/>
                          </a:solidFill>
                        </a:rPr>
                        <a:t>reliable data preparation, temporal features and implementation-ready datasets</a:t>
                      </a:r>
                      <a:r>
                        <a:rPr lang="en-IN" sz="1200">
                          <a:solidFill>
                            <a:schemeClr val="tx1"/>
                          </a:solidFill>
                        </a:rPr>
                        <a:t> for future predictive analytics.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sz="1200" dirty="0">
                          <a:hlinkClick r:id="rId6"/>
                        </a:rPr>
                        <a:t>https://doi.org/10.1016/j.ibmed.2025.100229</a:t>
                      </a:r>
                      <a:r>
                        <a:rPr lang="en-IN" sz="1200" dirty="0"/>
                        <a:t> </a:t>
                      </a:r>
                      <a:endParaRPr lang="en-IN"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9311289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94F9F2D-BDA4-8D8E-226C-627944DDFA1C}"/>
              </a:ext>
            </a:extLst>
          </p:cNvPr>
          <p:cNvSpPr txBox="1"/>
          <p:nvPr/>
        </p:nvSpPr>
        <p:spPr>
          <a:xfrm>
            <a:off x="748770" y="1012442"/>
            <a:ext cx="11188305" cy="5632311"/>
          </a:xfrm>
          <a:prstGeom prst="rect">
            <a:avLst/>
          </a:prstGeom>
          <a:noFill/>
        </p:spPr>
        <p:txBody>
          <a:bodyPr wrap="square" rtlCol="0">
            <a:spAutoFit/>
          </a:bodyPr>
          <a:lstStyle/>
          <a:p>
            <a:r>
              <a:rPr lang="en-IN" b="1" dirty="0"/>
              <a:t>1. Data Ingestion Layer (Raw Inputs)</a:t>
            </a:r>
          </a:p>
          <a:p>
            <a:pPr lvl="0"/>
            <a:r>
              <a:rPr lang="en-IN" b="1" dirty="0"/>
              <a:t>Source Data:</a:t>
            </a:r>
            <a:r>
              <a:rPr lang="en-IN" dirty="0"/>
              <a:t> Raw, unorganized hospital files (CSV/JSON format)</a:t>
            </a:r>
          </a:p>
          <a:p>
            <a:pPr lvl="0"/>
            <a:r>
              <a:rPr lang="en-IN" b="1" dirty="0"/>
              <a:t>Contents:</a:t>
            </a:r>
            <a:r>
              <a:rPr lang="en-IN" dirty="0"/>
              <a:t> Messy records of appointment bookings, patient details, and doctor schedules</a:t>
            </a:r>
          </a:p>
          <a:p>
            <a:pPr lvl="0"/>
            <a:endParaRPr lang="en-IN" dirty="0"/>
          </a:p>
          <a:p>
            <a:r>
              <a:rPr lang="en-IN" b="1" dirty="0"/>
              <a:t>2. Data Transformation Layer (The Processing Engine)</a:t>
            </a:r>
          </a:p>
          <a:p>
            <a:pPr lvl="0"/>
            <a:r>
              <a:rPr lang="en-IN" b="1" dirty="0"/>
              <a:t>Data Cleaning:</a:t>
            </a:r>
            <a:r>
              <a:rPr lang="en-IN" dirty="0"/>
              <a:t> Python/SQL scripts automatically drop duplicate records and handle missing (null) values</a:t>
            </a:r>
          </a:p>
          <a:p>
            <a:pPr lvl="0"/>
            <a:r>
              <a:rPr lang="en-IN" b="1" dirty="0"/>
              <a:t>Standardisation:</a:t>
            </a:r>
            <a:r>
              <a:rPr lang="en-IN" dirty="0"/>
              <a:t> Converts conflicting date/time formats into a single, uniform standard</a:t>
            </a:r>
          </a:p>
          <a:p>
            <a:pPr lvl="0"/>
            <a:r>
              <a:rPr lang="en-IN" b="1" dirty="0"/>
              <a:t>Feature Engineering:</a:t>
            </a:r>
            <a:r>
              <a:rPr lang="en-IN" dirty="0"/>
              <a:t> Automatically calculates the Lead Time (days between booking date and appointment date)</a:t>
            </a:r>
          </a:p>
          <a:p>
            <a:pPr lvl="0"/>
            <a:endParaRPr lang="en-IN" dirty="0"/>
          </a:p>
          <a:p>
            <a:r>
              <a:rPr lang="en-IN" b="1" dirty="0"/>
              <a:t>3. Storage Layer (The Clean Database) </a:t>
            </a:r>
          </a:p>
          <a:p>
            <a:pPr lvl="0"/>
            <a:r>
              <a:rPr lang="en-IN" b="1" dirty="0"/>
              <a:t>Structured Storage:</a:t>
            </a:r>
            <a:r>
              <a:rPr lang="en-IN" dirty="0"/>
              <a:t> Cleaned data is saved into a </a:t>
            </a:r>
            <a:r>
              <a:rPr lang="en-IN" b="1" dirty="0"/>
              <a:t>NoSQL database (MongoDB)</a:t>
            </a:r>
            <a:r>
              <a:rPr lang="en-IN" dirty="0"/>
              <a:t> instead of a relational store</a:t>
            </a:r>
          </a:p>
          <a:p>
            <a:pPr lvl="0"/>
            <a:r>
              <a:rPr lang="en-IN" b="1" dirty="0"/>
              <a:t>Schema Design:</a:t>
            </a:r>
            <a:r>
              <a:rPr lang="en-IN" dirty="0"/>
              <a:t> Data is organized into </a:t>
            </a:r>
            <a:r>
              <a:rPr lang="en-IN" b="1" dirty="0"/>
              <a:t>collections</a:t>
            </a:r>
            <a:r>
              <a:rPr lang="en-IN" dirty="0"/>
              <a:t> — </a:t>
            </a:r>
            <a:r>
              <a:rPr lang="en-IN" sz="1400" dirty="0"/>
              <a:t>Patients</a:t>
            </a:r>
            <a:r>
              <a:rPr lang="en-IN" dirty="0"/>
              <a:t>, </a:t>
            </a:r>
            <a:r>
              <a:rPr lang="en-IN" sz="1400" dirty="0"/>
              <a:t>Doctors</a:t>
            </a:r>
            <a:r>
              <a:rPr lang="en-IN" dirty="0"/>
              <a:t>, and </a:t>
            </a:r>
            <a:r>
              <a:rPr lang="en-IN" sz="1400" dirty="0"/>
              <a:t>Appointments</a:t>
            </a:r>
            <a:r>
              <a:rPr lang="en-IN" dirty="0"/>
              <a:t> — instead of relational tables, using embedded/document structures for fast, flexible querying (e.g., a Patient document can embed their recent appointment history directly, reducing joins)</a:t>
            </a:r>
          </a:p>
          <a:p>
            <a:pPr lvl="0"/>
            <a:endParaRPr lang="en-IN" dirty="0"/>
          </a:p>
          <a:p>
            <a:r>
              <a:rPr lang="en-IN" b="1" dirty="0"/>
              <a:t>4. Analytical Output Layer (The Final View)</a:t>
            </a:r>
          </a:p>
          <a:p>
            <a:pPr lvl="0"/>
            <a:r>
              <a:rPr lang="en-IN" b="1" dirty="0"/>
              <a:t>Status Classification:</a:t>
            </a:r>
            <a:r>
              <a:rPr lang="en-IN" dirty="0"/>
              <a:t> Organizes records into indexed status fields — </a:t>
            </a:r>
            <a:r>
              <a:rPr lang="en-IN" sz="1400" dirty="0"/>
              <a:t>Completed</a:t>
            </a:r>
            <a:r>
              <a:rPr lang="en-IN" dirty="0"/>
              <a:t>, </a:t>
            </a:r>
            <a:r>
              <a:rPr lang="en-IN" sz="1400" dirty="0"/>
              <a:t>Cancelled</a:t>
            </a:r>
            <a:r>
              <a:rPr lang="en-IN" dirty="0"/>
              <a:t>, </a:t>
            </a:r>
            <a:r>
              <a:rPr lang="en-IN" sz="1400" dirty="0"/>
              <a:t>No-Show</a:t>
            </a:r>
            <a:r>
              <a:rPr lang="en-IN" dirty="0"/>
              <a:t> (MongoDB supports single-field and compound indexes on these directly within documents)</a:t>
            </a:r>
          </a:p>
          <a:p>
            <a:pPr lvl="0"/>
            <a:r>
              <a:rPr lang="en-IN" b="1" dirty="0"/>
              <a:t>Business Intelligence Ready:</a:t>
            </a:r>
            <a:r>
              <a:rPr lang="en-IN" dirty="0"/>
              <a:t> Delivers clean, structured datasets ready for tracking monthly trends, department vacancies, and doctor cancellation rates</a:t>
            </a:r>
          </a:p>
        </p:txBody>
      </p:sp>
      <p:sp>
        <p:nvSpPr>
          <p:cNvPr id="3" name="TextBox 2">
            <a:extLst>
              <a:ext uri="{FF2B5EF4-FFF2-40B4-BE49-F238E27FC236}">
                <a16:creationId xmlns:a16="http://schemas.microsoft.com/office/drawing/2014/main" id="{57318D77-E13B-9C50-C10D-B5831FF5D497}"/>
              </a:ext>
            </a:extLst>
          </p:cNvPr>
          <p:cNvSpPr txBox="1"/>
          <p:nvPr/>
        </p:nvSpPr>
        <p:spPr>
          <a:xfrm>
            <a:off x="1284951" y="206476"/>
            <a:ext cx="9622095" cy="584775"/>
          </a:xfrm>
          <a:prstGeom prst="rect">
            <a:avLst/>
          </a:prstGeom>
          <a:noFill/>
        </p:spPr>
        <p:txBody>
          <a:bodyPr wrap="square" rtlCol="0">
            <a:spAutoFit/>
          </a:bodyPr>
          <a:lstStyle/>
          <a:p>
            <a:r>
              <a:rPr lang="en-IN" sz="3200" b="1" dirty="0">
                <a:latin typeface="Times New Roman" panose="02020603050405020304" pitchFamily="18" charset="0"/>
                <a:cs typeface="Times New Roman" panose="02020603050405020304" pitchFamily="18" charset="0"/>
              </a:rPr>
              <a:t>Hospital Appointment Data Pipeline Architecture</a:t>
            </a:r>
          </a:p>
        </p:txBody>
      </p:sp>
    </p:spTree>
    <p:extLst>
      <p:ext uri="{BB962C8B-B14F-4D97-AF65-F5344CB8AC3E}">
        <p14:creationId xmlns:p14="http://schemas.microsoft.com/office/powerpoint/2010/main" val="12455165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C075332-1D7A-82B8-C807-655AE434864E}"/>
              </a:ext>
            </a:extLst>
          </p:cNvPr>
          <p:cNvPicPr>
            <a:picLocks noChangeAspect="1"/>
          </p:cNvPicPr>
          <p:nvPr/>
        </p:nvPicPr>
        <p:blipFill>
          <a:blip r:embed="rId2"/>
          <a:stretch>
            <a:fillRect/>
          </a:stretch>
        </p:blipFill>
        <p:spPr>
          <a:xfrm>
            <a:off x="511230" y="0"/>
            <a:ext cx="11169540" cy="6858000"/>
          </a:xfrm>
          <a:prstGeom prst="rect">
            <a:avLst/>
          </a:prstGeom>
        </p:spPr>
      </p:pic>
    </p:spTree>
    <p:extLst>
      <p:ext uri="{BB962C8B-B14F-4D97-AF65-F5344CB8AC3E}">
        <p14:creationId xmlns:p14="http://schemas.microsoft.com/office/powerpoint/2010/main" val="36558709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768181-208F-D10F-C6C9-E4A5FDAE4075}"/>
              </a:ext>
            </a:extLst>
          </p:cNvPr>
          <p:cNvSpPr>
            <a:spLocks noGrp="1"/>
          </p:cNvSpPr>
          <p:nvPr>
            <p:ph type="title"/>
          </p:nvPr>
        </p:nvSpPr>
        <p:spPr/>
        <p:txBody>
          <a:bodyPr/>
          <a:lstStyle/>
          <a:p>
            <a:r>
              <a:rPr lang="en-IN" dirty="0"/>
              <a:t> </a:t>
            </a:r>
          </a:p>
        </p:txBody>
      </p:sp>
      <p:sp>
        <p:nvSpPr>
          <p:cNvPr id="3" name="Content Placeholder 2">
            <a:extLst>
              <a:ext uri="{FF2B5EF4-FFF2-40B4-BE49-F238E27FC236}">
                <a16:creationId xmlns:a16="http://schemas.microsoft.com/office/drawing/2014/main" id="{795480E9-A52E-1C84-BA76-B53A797ABBF1}"/>
              </a:ext>
            </a:extLst>
          </p:cNvPr>
          <p:cNvSpPr>
            <a:spLocks noGrp="1"/>
          </p:cNvSpPr>
          <p:nvPr>
            <p:ph idx="1"/>
          </p:nvPr>
        </p:nvSpPr>
        <p:spPr>
          <a:xfrm>
            <a:off x="1817914" y="2627312"/>
            <a:ext cx="9427029" cy="1603375"/>
          </a:xfrm>
        </p:spPr>
        <p:txBody>
          <a:bodyPr>
            <a:noAutofit/>
          </a:bodyPr>
          <a:lstStyle/>
          <a:p>
            <a:pPr marL="0" indent="0">
              <a:buNone/>
            </a:pPr>
            <a:r>
              <a:rPr lang="en-IN" sz="11000" dirty="0">
                <a:latin typeface="Times New Roman" panose="02020603050405020304" pitchFamily="18" charset="0"/>
                <a:cs typeface="Times New Roman" panose="02020603050405020304" pitchFamily="18" charset="0"/>
              </a:rPr>
              <a:t>THANK YOU</a:t>
            </a:r>
          </a:p>
        </p:txBody>
      </p:sp>
      <p:pic>
        <p:nvPicPr>
          <p:cNvPr id="5" name="Picture 4">
            <a:extLst>
              <a:ext uri="{FF2B5EF4-FFF2-40B4-BE49-F238E27FC236}">
                <a16:creationId xmlns:a16="http://schemas.microsoft.com/office/drawing/2014/main" id="{4AA8E39F-AD19-8583-8ADB-F2795A85A8D1}"/>
              </a:ext>
            </a:extLst>
          </p:cNvPr>
          <p:cNvPicPr>
            <a:picLocks noChangeAspect="1"/>
          </p:cNvPicPr>
          <p:nvPr/>
        </p:nvPicPr>
        <p:blipFill>
          <a:blip r:embed="rId2"/>
          <a:stretch>
            <a:fillRect/>
          </a:stretch>
        </p:blipFill>
        <p:spPr>
          <a:xfrm>
            <a:off x="58662" y="30536"/>
            <a:ext cx="2354338" cy="963138"/>
          </a:xfrm>
          <a:prstGeom prst="rect">
            <a:avLst/>
          </a:prstGeom>
        </p:spPr>
      </p:pic>
    </p:spTree>
    <p:extLst>
      <p:ext uri="{BB962C8B-B14F-4D97-AF65-F5344CB8AC3E}">
        <p14:creationId xmlns:p14="http://schemas.microsoft.com/office/powerpoint/2010/main" val="419142102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171</TotalTime>
  <Words>1284</Words>
  <Application>Microsoft Office PowerPoint</Application>
  <PresentationFormat>Widescreen</PresentationFormat>
  <Paragraphs>115</Paragraphs>
  <Slides>9</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Calibri Light</vt:lpstr>
      <vt:lpstr>Times New Roman</vt:lpstr>
      <vt:lpstr>Office Theme</vt:lpstr>
      <vt:lpstr>Hospital Appointment Data Pipeline</vt:lpstr>
      <vt:lpstr>Abstract</vt:lpstr>
      <vt:lpstr>Introduction</vt:lpstr>
      <vt:lpstr>PowerPoint Presentation</vt:lpstr>
      <vt:lpstr>PowerPoint Presentation</vt:lpstr>
      <vt:lpstr>PowerPoint Presentation</vt:lpstr>
      <vt:lpstr>PowerPoint Presentation</vt:lpstr>
      <vt:lpstr>PowerPoint Presentation</vt:lpstr>
      <vt:lpstr>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Ramyasri Madini</dc:creator>
  <cp:lastModifiedBy>sanjay bhaargav</cp:lastModifiedBy>
  <cp:revision>5</cp:revision>
  <dcterms:created xsi:type="dcterms:W3CDTF">2026-08-14T04:59:55Z</dcterms:created>
  <dcterms:modified xsi:type="dcterms:W3CDTF">2026-08-26T10:15:45Z</dcterms:modified>
</cp:coreProperties>
</file>